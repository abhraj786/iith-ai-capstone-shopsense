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53f09cb7bb4c1c" /><Relationship Type="http://schemas.openxmlformats.org/officeDocument/2006/relationships/extended-properties" Target="/docProps/app.xml" Id="R664950e0a5194bab" /><Relationship Type="http://schemas.openxmlformats.org/officeDocument/2006/relationships/officeDocument" Target="/ppt/presentation.xml" Id="R0289b4dee59d4f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dc24aaa5fe4077"/>
  </p:sldMasterIdLst>
  <p:notesMasterIdLst>
    <p:notesMasterId xmlns:r="http://schemas.openxmlformats.org/officeDocument/2006/relationships" r:id="R2f6e7802c5ba4681"/>
  </p:notesMasterIdLst>
  <p:sldIdLst>
    <p:sldId xmlns:r="http://schemas.openxmlformats.org/officeDocument/2006/relationships" id="256" r:id="R138afabbd39c466c"/>
    <p:sldId xmlns:r="http://schemas.openxmlformats.org/officeDocument/2006/relationships" id="257" r:id="R09f697a057f04910"/>
    <p:sldId xmlns:r="http://schemas.openxmlformats.org/officeDocument/2006/relationships" id="258" r:id="Rc4cab2731c894b6d"/>
    <p:sldId xmlns:r="http://schemas.openxmlformats.org/officeDocument/2006/relationships" id="259" r:id="Rb50483052d6c4726"/>
    <p:sldId xmlns:r="http://schemas.openxmlformats.org/officeDocument/2006/relationships" id="260" r:id="R66e89d3692614be2"/>
    <p:sldId xmlns:r="http://schemas.openxmlformats.org/officeDocument/2006/relationships" id="261" r:id="R76a01f1e462f4e3d"/>
    <p:sldId xmlns:r="http://schemas.openxmlformats.org/officeDocument/2006/relationships" id="262" r:id="Rdca18ab84c85415f"/>
    <p:sldId xmlns:r="http://schemas.openxmlformats.org/officeDocument/2006/relationships" id="263" r:id="R84f928899cff400c"/>
    <p:sldId xmlns:r="http://schemas.openxmlformats.org/officeDocument/2006/relationships" id="264" r:id="R8b8f5045777f4406"/>
    <p:sldId xmlns:r="http://schemas.openxmlformats.org/officeDocument/2006/relationships" id="265" r:id="Rbaa5689e0b774be4"/>
    <p:sldId xmlns:r="http://schemas.openxmlformats.org/officeDocument/2006/relationships" id="266" r:id="R2ad6d1d660cb4599"/>
    <p:sldId xmlns:r="http://schemas.openxmlformats.org/officeDocument/2006/relationships" id="267" r:id="R67176bd6a15a4c40"/>
    <p:sldId xmlns:r="http://schemas.openxmlformats.org/officeDocument/2006/relationships" id="268" r:id="R0a84d62153604ead"/>
    <p:sldId xmlns:r="http://schemas.openxmlformats.org/officeDocument/2006/relationships" id="269" r:id="Rb6a2259c5d904c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68d0f887894b75" /><Relationship Type="http://schemas.openxmlformats.org/officeDocument/2006/relationships/slideMaster" Target="/ppt/slideMasters/slideMaster1.xml" Id="R28dc24aaa5fe4077" /><Relationship Type="http://schemas.openxmlformats.org/officeDocument/2006/relationships/notesMaster" Target="/ppt/notesMasters/notesMaster1.xml" Id="R2f6e7802c5ba4681" /><Relationship Type="http://schemas.openxmlformats.org/officeDocument/2006/relationships/presProps" Target="/ppt/presProps.xml" Id="R31d6df7769c94d27" /><Relationship Type="http://schemas.openxmlformats.org/officeDocument/2006/relationships/tableStyles" Target="/ppt/tableStyles.xml" Id="R0266c8634a134211" /><Relationship Type="http://schemas.openxmlformats.org/officeDocument/2006/relationships/slide" Target="/ppt/slides/slide1.xml" Id="R138afabbd39c466c" /><Relationship Type="http://schemas.openxmlformats.org/officeDocument/2006/relationships/slide" Target="/ppt/slides/slide2.xml" Id="R09f697a057f04910" /><Relationship Type="http://schemas.openxmlformats.org/officeDocument/2006/relationships/slide" Target="/ppt/slides/slide3.xml" Id="Rc4cab2731c894b6d" /><Relationship Type="http://schemas.openxmlformats.org/officeDocument/2006/relationships/slide" Target="/ppt/slides/slide4.xml" Id="Rb50483052d6c4726" /><Relationship Type="http://schemas.openxmlformats.org/officeDocument/2006/relationships/slide" Target="/ppt/slides/slide5.xml" Id="R66e89d3692614be2" /><Relationship Type="http://schemas.openxmlformats.org/officeDocument/2006/relationships/slide" Target="/ppt/slides/slide6.xml" Id="R76a01f1e462f4e3d" /><Relationship Type="http://schemas.openxmlformats.org/officeDocument/2006/relationships/slide" Target="/ppt/slides/slide7.xml" Id="Rdca18ab84c85415f" /><Relationship Type="http://schemas.openxmlformats.org/officeDocument/2006/relationships/slide" Target="/ppt/slides/slide8.xml" Id="R84f928899cff400c" /><Relationship Type="http://schemas.openxmlformats.org/officeDocument/2006/relationships/slide" Target="/ppt/slides/slide9.xml" Id="R8b8f5045777f4406" /><Relationship Type="http://schemas.openxmlformats.org/officeDocument/2006/relationships/slide" Target="/ppt/slides/slide10.xml" Id="Rbaa5689e0b774be4" /><Relationship Type="http://schemas.openxmlformats.org/officeDocument/2006/relationships/slide" Target="/ppt/slides/slide11.xml" Id="R2ad6d1d660cb4599" /><Relationship Type="http://schemas.openxmlformats.org/officeDocument/2006/relationships/slide" Target="/ppt/slides/slide12.xml" Id="R67176bd6a15a4c40" /><Relationship Type="http://schemas.openxmlformats.org/officeDocument/2006/relationships/slide" Target="/ppt/slides/slide13.xml" Id="R0a84d62153604ead" /><Relationship Type="http://schemas.openxmlformats.org/officeDocument/2006/relationships/slide" Target="/ppt/slides/slide14.xml" Id="Rb6a2259c5d904c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8807630c2143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cbaa96b60f41ab" /><Relationship Type="http://schemas.openxmlformats.org/officeDocument/2006/relationships/notesMaster" Target="/ppt/notesMasters/notesMaster1.xml" Id="Re22e77f0db344f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15239fd1b64f2c" /><Relationship Type="http://schemas.openxmlformats.org/officeDocument/2006/relationships/notesMaster" Target="/ppt/notesMasters/notesMaster1.xml" Id="R67fd7cc000b44b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59d7018e024324" /><Relationship Type="http://schemas.openxmlformats.org/officeDocument/2006/relationships/notesMaster" Target="/ppt/notesMasters/notesMaster1.xml" Id="Rb7d093be1a7843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5ed1efa61d4c14" /><Relationship Type="http://schemas.openxmlformats.org/officeDocument/2006/relationships/notesMaster" Target="/ppt/notesMasters/notesMaster1.xml" Id="R215a1b472de348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9261e274014e8a" /><Relationship Type="http://schemas.openxmlformats.org/officeDocument/2006/relationships/notesMaster" Target="/ppt/notesMasters/notesMaster1.xml" Id="R5b242bf82aa545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349456f1214c68" /><Relationship Type="http://schemas.openxmlformats.org/officeDocument/2006/relationships/notesMaster" Target="/ppt/notesMasters/notesMaster1.xml" Id="R62cb981347f44b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7e3146c9e24ca2" /><Relationship Type="http://schemas.openxmlformats.org/officeDocument/2006/relationships/notesMaster" Target="/ppt/notesMasters/notesMaster1.xml" Id="Rf67d4d8890aa49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2c54be33d24157" /><Relationship Type="http://schemas.openxmlformats.org/officeDocument/2006/relationships/notesMaster" Target="/ppt/notesMasters/notesMaster1.xml" Id="R5cb2437efcf840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66261de4fe42a8" /><Relationship Type="http://schemas.openxmlformats.org/officeDocument/2006/relationships/notesMaster" Target="/ppt/notesMasters/notesMaster1.xml" Id="R02871ce086e44b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5035ff07c14a06" /><Relationship Type="http://schemas.openxmlformats.org/officeDocument/2006/relationships/notesMaster" Target="/ppt/notesMasters/notesMaster1.xml" Id="R607e4df2e02640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39d31a0e354343" /><Relationship Type="http://schemas.openxmlformats.org/officeDocument/2006/relationships/notesMaster" Target="/ppt/notesMasters/notesMaster1.xml" Id="Re7581b00a2244f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61871226ba4242" /><Relationship Type="http://schemas.openxmlformats.org/officeDocument/2006/relationships/notesMaster" Target="/ppt/notesMasters/notesMaster1.xml" Id="R9e0957aafbb84d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93470095804ba8" /><Relationship Type="http://schemas.openxmlformats.org/officeDocument/2006/relationships/notesMaster" Target="/ppt/notesMasters/notesMaster1.xml" Id="R737f988ec81e46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8eb4e0d9184dcb" /><Relationship Type="http://schemas.openxmlformats.org/officeDocument/2006/relationships/notesMaster" Target="/ppt/notesMasters/notesMaster1.xml" Id="R3d06280ee0c948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bfb7fa86946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b25102b8346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d86a158b24e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0ffc36e04c40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67d970b86947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8389958f446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10192C-3741-44D1-8939-88A7EC99C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BC26FF3-4E42-47A5-AD9A-C63367ABEE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CA2788-47A0-44DC-8B2E-0D66E8445A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6CD2AC-9017-4D59-B042-0A7C0CE362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A1ADC7-0A45-473A-95E3-AF4E267311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0B5B16-FA8C-4F6F-8486-B7637D461F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E33C96-B589-410D-8510-FAF6BFEFA4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331972-CBA8-4896-870F-CEC1D8147E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93235A-FD31-4218-889C-8D195AE9E4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28A2BC-CF34-459A-9705-D5ABC6A573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8e3b9b0a1b4fbb" /><Relationship Type="http://schemas.openxmlformats.org/officeDocument/2006/relationships/slideLayout" Target="/ppt/slideLayouts/slideLayout1.xml" Id="Rbcecb58b95004c47" /><Relationship Type="http://schemas.openxmlformats.org/officeDocument/2006/relationships/slideLayout" Target="/ppt/slideLayouts/slideLayout2.xml" Id="Rd4b1ed40219148ff" /><Relationship Type="http://schemas.openxmlformats.org/officeDocument/2006/relationships/slideLayout" Target="/ppt/slideLayouts/slideLayout3.xml" Id="R7ba0251046fa4546" /><Relationship Type="http://schemas.openxmlformats.org/officeDocument/2006/relationships/slideLayout" Target="/ppt/slideLayouts/slideLayout4.xml" Id="R95b02bd4afb040d6" /><Relationship Type="http://schemas.openxmlformats.org/officeDocument/2006/relationships/slideLayout" Target="/ppt/slideLayouts/slideLayout5.xml" Id="R3d20d4bfde3945f9" /><Relationship Type="http://schemas.openxmlformats.org/officeDocument/2006/relationships/slideLayout" Target="/ppt/slideLayouts/slideLayout6.xml" Id="R38f353e6273645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ecb58b95004c47"/>
    <p:sldLayoutId xmlns:r="http://schemas.openxmlformats.org/officeDocument/2006/relationships" id="2147483650" r:id="Rd4b1ed40219148ff"/>
    <p:sldLayoutId xmlns:r="http://schemas.openxmlformats.org/officeDocument/2006/relationships" id="2147483651" r:id="R7ba0251046fa4546"/>
    <p:sldLayoutId xmlns:r="http://schemas.openxmlformats.org/officeDocument/2006/relationships" id="2147483652" r:id="R95b02bd4afb040d6"/>
    <p:sldLayoutId xmlns:r="http://schemas.openxmlformats.org/officeDocument/2006/relationships" id="2147483653" r:id="R3d20d4bfde3945f9"/>
    <p:sldLayoutId xmlns:r="http://schemas.openxmlformats.org/officeDocument/2006/relationships" id="2147483654" r:id="R38f353e6273645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717769788a4776" /><Relationship Type="http://schemas.openxmlformats.org/officeDocument/2006/relationships/notesSlide" Target="/ppt/notesSlides/notesSlide1.xml" Id="R9c8fbe2240954a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87c28716a246eb" /><Relationship Type="http://schemas.openxmlformats.org/officeDocument/2006/relationships/notesSlide" Target="/ppt/notesSlides/notesSlide2.xml" Id="R218d72ae9a7f44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dc0f990a0a454e" /><Relationship Type="http://schemas.openxmlformats.org/officeDocument/2006/relationships/notesSlide" Target="/ppt/notesSlides/notesSlide3.xml" Id="R05062d81b1b04c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06102ec8bc40a7" /><Relationship Type="http://schemas.openxmlformats.org/officeDocument/2006/relationships/notesSlide" Target="/ppt/notesSlides/notesSlide4.xml" Id="Ra5a454925e5942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33101d1b3c4466" /><Relationship Type="http://schemas.openxmlformats.org/officeDocument/2006/relationships/notesSlide" Target="/ppt/notesSlides/notesSlide5.xml" Id="R3d0fa1f2dc1940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bb5f608c64248" /><Relationship Type="http://schemas.openxmlformats.org/officeDocument/2006/relationships/notesSlide" Target="/ppt/notesSlides/notesSlide6.xml" Id="R33bdd644fb1946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16b2fa8f94e84" /><Relationship Type="http://schemas.openxmlformats.org/officeDocument/2006/relationships/notesSlide" Target="/ppt/notesSlides/notesSlide7.xml" Id="R61019d4bb5274b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6b5fd107f4e65" /><Relationship Type="http://schemas.openxmlformats.org/officeDocument/2006/relationships/notesSlide" Target="/ppt/notesSlides/notesSlide8.xml" Id="R91c7ae1d00bd4b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3e6838c6e34877" /><Relationship Type="http://schemas.openxmlformats.org/officeDocument/2006/relationships/notesSlide" Target="/ppt/notesSlides/notesSlide9.xml" Id="R68cb8b1b5a3047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4a5447d9334688" /><Relationship Type="http://schemas.openxmlformats.org/officeDocument/2006/relationships/notesSlide" Target="/ppt/notesSlides/notesSlide10.xml" Id="Rc50adc1b875948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182093b1394681" /><Relationship Type="http://schemas.openxmlformats.org/officeDocument/2006/relationships/notesSlide" Target="/ppt/notesSlides/notesSlide11.xml" Id="Rdd033a66be3447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a871e71da43d8" /><Relationship Type="http://schemas.openxmlformats.org/officeDocument/2006/relationships/notesSlide" Target="/ppt/notesSlides/notesSlide12.xml" Id="R2bb225a8c3b54a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6bfd08347347fa" /><Relationship Type="http://schemas.openxmlformats.org/officeDocument/2006/relationships/notesSlide" Target="/ppt/notesSlides/notesSlide13.xml" Id="Rabb962987f2043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27dad566394418" /><Relationship Type="http://schemas.openxmlformats.org/officeDocument/2006/relationships/notesSlide" Target="/ppt/notesSlides/notesSlide14.xml" Id="Rc240ba281e994f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9D2AA-0381-4DE0-AFD5-30F51777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IITH AI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3FD95-D92D-451E-B58B-ADFCECA5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102A43"/>
                </a:solidFill>
              </a:defRPr>
            </a:pPr>
            <a:r>
              <a:rPr sz="4350" b="1">
                <a:solidFill>
                  <a:srgbClr val="102A43"/>
                </a:solidFill>
              </a:rPr>
              <a:t>ShopSense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F74E0-3B0E-43E6-8BAC-80FEC650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Customer care and order operations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D2C6D-E41C-4BD2-AE3B-BB2F8C56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6670"/>
                </a:solidFill>
              </a:defRPr>
            </a:pPr>
            <a:r>
              <a:rPr sz="1200" b="0">
                <a:solidFill>
                  <a:srgbClr val="5C6670"/>
                </a:solidFill>
              </a:rPr>
              <a:t>Modules completed: M1 to M4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362C5-9D33-4086-939B-9899ED42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66800"/>
            <a:ext cx="3333750" cy="3714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4F4DA-E091-4FEB-8D6E-8BE714E8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430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Current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27B88-9A93-41F3-9302-E34F1345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6215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2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D4ED8"/>
                </a:solidFill>
              </a:defRPr>
            </a:pPr>
            <a:r>
              <a:rPr sz="4200" b="1">
                <a:solidFill>
                  <a:srgbClr val="1D4ED8"/>
                </a:solidFill>
              </a:rPr>
              <a:t>M4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5B185-9C10-481F-B4BE-4342739B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813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Grounded policy RAG with citations and 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489BA-3A5C-4BFE-BAFB-F03AFADA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00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GitHub repo includes code, tests, reports, corpus and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D8714-F648-4E0E-97A9-63E04F65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01</a:t>
            </a:r>
          </a:p>
        </p:txBody>
      </p:sp>
    </p:spTree>
    <p:extLst>
      <p:ext uri="{BB962C8B-B14F-4D97-AF65-F5344CB8AC3E}">
        <p14:creationId xmlns:p14="http://schemas.microsoft.com/office/powerpoint/2010/main" val="4938624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B4BE9C-F6E4-452E-A0DF-935BB320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EEFC1-F10D-44A7-BC12-A0CD71A4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Problem and milestone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E4B06-9156-41B1-B179-9713C129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9100F-2DE6-467F-BE78-87B9D20B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762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F0E59-B333-4CFE-9823-12EA22CE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AF0E1-DD49-403B-8D07-EFEA9EEE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716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1D044-6A4F-459D-9C9C-A7D23659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Retail support receives refund, shipping, warranty and escalation tickets with messy customer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5ABCA-CB02-44BD-BEAA-9F68F818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762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4CC43-9FDA-4776-AFCA-535A46DB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F68E6-BF80-4BE7-B75D-1873AE0B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System goal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B1135-D07F-471E-BB9A-9E24EA8E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Parse tickets, choose safe actions, remember customer context and answer policy questions from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15985-F269-4BC4-9D5E-CAE87DCA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Milestone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7EC4A-746E-4589-8831-52BB6135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81BC0-2E5D-4671-8F7D-FE6A5814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F2828-3445-4116-9280-E0A55C0E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M1 intake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47497-3CE6-48FB-B90E-D99D82DD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03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Raw message to validated `SupportTicket`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A1F7E-9BE5-46F1-993C-097A9B86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E482F-88EE-42BA-80F4-BA732DF8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F24F5-7D6D-46CA-84D3-BEF472D3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146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M2 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0E220-E409-4244-B17F-158927AB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1945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Tool-backed safe action proposal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D1CE7-E7A2-4729-8C4A-4D083323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3A076A-6804-4648-AA59-1BA1CDAF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C2C63A-C901-4908-8D49-4EC436BE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M3 memory and index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66D5E7-B0DF-47C7-8C8D-B18B27EA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386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Customer history plus local Qdrant policy retrieval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6CD94F-A289-480C-899A-93A24D93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5E3CA0-05CA-428D-9FD4-8E27BCEA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53339A-F3BA-4EB3-8DF9-76598D3C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529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M4 grounded RAG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768043-4030-4F05-8F88-04CAAB01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5775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Hybrid retrieval, citations and groundedness checks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2AF24D-5517-4DA4-8C21-C3984CCA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02</a:t>
            </a:r>
          </a:p>
        </p:txBody>
      </p:sp>
    </p:spTree>
    <p:extLst>
      <p:ext uri="{BB962C8B-B14F-4D97-AF65-F5344CB8AC3E}">
        <p14:creationId xmlns:p14="http://schemas.microsoft.com/office/powerpoint/2010/main" val="5059924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BEBA4D-73C3-4B1D-A9A0-758D63C0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5A5F9-0AB5-4897-9E37-7EF1F755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End-to-end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D44AE-2C29-46C7-9323-521C8C32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7DB42-C35C-49D1-B575-9FA3D5C0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28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A2D26-A38F-4A7E-92A9-BE0D8F40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68C6F-E3BA-499D-A8BD-7A91C050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33550"/>
            <a:ext cx="986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Customer ticket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159AB-2F33-4889-AF23-7E442E4E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986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Order KW-O-000950 arrived 4 days late. The customer demands a 6,499 INR refund and mentions the National Consumer Helpline.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31B9F-BFD1-4014-8DBE-4559B9A7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EE93B-8651-4F82-88B7-DEE9BD5E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0E098-E1DF-45DB-8410-48D5A6A3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14650"/>
            <a:ext cx="849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M1 parses the message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6F2D2-8EB3-4DE0-8231-3298CD14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19450"/>
            <a:ext cx="849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Extracts refund request, order ID, angry sentiment, amount and escalation signals.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DEF3C-B711-47D2-BDF7-D82D6B7E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732BF-6772-4D73-AE4F-04E2A7B8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922A2-402B-40C8-8162-D6C096A4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71900"/>
            <a:ext cx="849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M2 chooses the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41113-B636-4A8E-B540-B2C610D2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849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Routes to human review using `legal_or_regulatory`; no automatic refund.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4822D-E0C2-4DC0-9727-EB6A5B06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01013-ED58-4A2E-9E95-E8191E68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E2B93-8589-406E-A668-A3A8C975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29150"/>
            <a:ext cx="849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M3 adds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91130-1914-4BFC-B565-F0E33FE7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33950"/>
            <a:ext cx="849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Stores the customer interaction and retrieves related refund and escalation policy chunks.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438F3-223D-4FEA-8743-695A49A1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589F9A-E976-4109-BEC8-18A76C8F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10FE94-28E2-48E7-AC08-E1DDF0DB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86400"/>
            <a:ext cx="849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M4 explains the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B9E211-610F-4088-80C7-553DC79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91200"/>
            <a:ext cx="849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Answers from evidence and cites the relevant policy documents.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B7021E-4581-4948-905C-AF2B2C9D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03</a:t>
            </a:r>
          </a:p>
        </p:txBody>
      </p:sp>
    </p:spTree>
    <p:extLst>
      <p:ext uri="{BB962C8B-B14F-4D97-AF65-F5344CB8AC3E}">
        <p14:creationId xmlns:p14="http://schemas.microsoft.com/office/powerpoint/2010/main" val="13677065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D0013-AF32-4945-B078-EA955FAA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975D2-6FE5-4E50-B42B-1217C138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M1 intake parsing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15C8D-7425-49C8-ACBE-A701F1BD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E9EA5-7DAB-4614-B51C-EAA7C42D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C12C8-F1AF-4164-9FA1-2F16F95B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63684-68ED-4C32-80D8-6338EC84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What M1 solves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57ED6-C014-47C4-B6DF-1C0EAB38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4343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Turns raw customer text into a validated Pydantic `SupportTicket` object.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B9311-B3E2-4F62-BDCC-8D25D1FD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5B442-5FD1-4D3B-8403-8E7FA43F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2CA40-4860-45BF-8548-7185B765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LLM involvement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52D3C-E93A-48C8-82D2-D62BAA23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4343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The LLM handles language understanding only. Python validates and repairs policy-sensitive fields.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7C179-4221-458B-9E5D-576E04D1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37147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04892-1D04-41D4-AB24-D208BAF0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66900"/>
            <a:ext cx="33718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E2E8F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issue_type: refund_request,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order_ref: KW-O-000950,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sentiment: angry,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claimed_amount_inr: 6499,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escalation_signals: [...]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B306D-EA5A-498C-B060-5027A0E0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3714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9D4C0-5C66-4E8A-9629-77B21B0A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B0DD5-0567-4497-B2BE-532A3840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81500"/>
            <a:ext cx="329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Validation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C78FE-A885-4EDC-88AB-A1009FB9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86300"/>
            <a:ext cx="3295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Order IDs must appear in the text. Refund-cap and repeat-contact signals are recomputed in code.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8712C-0E33-4851-8FF9-1CEE1CB9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04</a:t>
            </a:r>
          </a:p>
        </p:txBody>
      </p:sp>
    </p:spTree>
    <p:extLst>
      <p:ext uri="{BB962C8B-B14F-4D97-AF65-F5344CB8AC3E}">
        <p14:creationId xmlns:p14="http://schemas.microsoft.com/office/powerpoint/2010/main" val="792417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21165C-C627-4511-8EFF-E58887A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34A6E-FAC0-431F-830A-597333F8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M1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DAFEA-D12D-4A6B-83D9-45DA6D70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784D5-E09F-44C4-8161-BED474CD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59669"/>
                </a:solidFill>
              </a:defRPr>
            </a:pPr>
            <a:r>
              <a:rPr sz="2550" b="1">
                <a:solidFill>
                  <a:srgbClr val="059669"/>
                </a:solidFill>
              </a:rPr>
              <a:t>60/60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5CAB6-C377-4CF9-AFCA-E1DA221C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Parsed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E00EC-EE83-49DB-9B66-FA082607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670"/>
                </a:solidFill>
              </a:defRPr>
            </a:pPr>
            <a:r>
              <a:rPr sz="900" b="0">
                <a:solidFill>
                  <a:srgbClr val="5C6670"/>
                </a:solidFill>
              </a:rPr>
              <a:t>No parse failures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C2561-8BD0-4BA0-BF40-C00740BF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573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B4530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B45309"/>
                </a:solidFill>
              </a:defRPr>
            </a:pPr>
            <a:r>
              <a:rPr sz="2550" b="1">
                <a:solidFill>
                  <a:srgbClr val="B45309"/>
                </a:solidFill>
              </a:rPr>
              <a:t>0.717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04D27-B782-4662-BE04-3D3AA093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14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Intent 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ECFE9-65E4-42BF-B2CE-6606B0DE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0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670"/>
                </a:solidFill>
              </a:defRPr>
            </a:pPr>
            <a:r>
              <a:rPr sz="900" b="0">
                <a:solidFill>
                  <a:srgbClr val="5C6670"/>
                </a:solidFill>
              </a:rPr>
              <a:t>Main tuning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AC613-3D3C-4CBC-A787-E6D4532B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B4530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B45309"/>
                </a:solidFill>
              </a:defRPr>
            </a:pPr>
            <a:r>
              <a:rPr sz="2550" b="1">
                <a:solidFill>
                  <a:srgbClr val="B45309"/>
                </a:solidFill>
              </a:rPr>
              <a:t>0.783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0E4FE-17B3-47C3-8793-62CB5B7E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Sentiment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CBDA4-AFB3-4601-A5CF-49BC4DD4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670"/>
                </a:solidFill>
              </a:defRPr>
            </a:pPr>
            <a:r>
              <a:rPr sz="900" b="0">
                <a:solidFill>
                  <a:srgbClr val="5C6670"/>
                </a:solidFill>
              </a:rPr>
              <a:t>Useful but imperfect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4FB6A-137D-4BF4-AE41-D17AE574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573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59669"/>
                </a:solidFill>
              </a:defRPr>
            </a:pPr>
            <a:r>
              <a:rPr sz="2550" b="1">
                <a:solidFill>
                  <a:srgbClr val="059669"/>
                </a:solidFill>
              </a:rPr>
              <a:t>0.896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64410-3024-4CEC-AD4E-89217371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Escalation precision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A87D9-CF7D-433E-889A-260DE186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670"/>
                </a:solidFill>
              </a:defRPr>
            </a:pPr>
            <a:r>
              <a:rPr sz="900" b="0">
                <a:solidFill>
                  <a:srgbClr val="5C6670"/>
                </a:solidFill>
              </a:rPr>
              <a:t>Strong signal 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11474-E5A0-4B2F-A6B3-F10AE5FC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876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14374-DCA1-4505-AC63-572349F3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2AE7F-6499-4A49-BAA9-FD38D0E5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38600"/>
            <a:ext cx="834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Acceptance 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C16275-D5C0-443F-BA84-D665DEBA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434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M1 is functional and measured. The report is committed as `evaluation/reports/m1_holdout_n60_v4.json`.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52D9D-9165-4B6D-9810-9188AF21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05</a:t>
            </a:r>
          </a:p>
        </p:txBody>
      </p:sp>
    </p:spTree>
    <p:extLst>
      <p:ext uri="{BB962C8B-B14F-4D97-AF65-F5344CB8AC3E}">
        <p14:creationId xmlns:p14="http://schemas.microsoft.com/office/powerpoint/2010/main" val="18244756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FC1AC-81EB-4FEE-80C8-41D8B9B5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680A7-8DA4-402C-9CC0-ABBFDE8A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M2 action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26D4C-8B10-4D1E-B390-3ACF1C54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BC5C7-BE3F-44E6-ADE2-0159D9CD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762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677F0-1C66-49F2-9CAF-18FBBE65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2315C-473D-4671-9016-5370676A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716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What M2 solves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C69C8-0EB6-4554-8BE6-BDE122A1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4343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Converts the M1 ticket into a safe operational decision using local tools and policy tables.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70035-2C33-4250-9F82-6B69F6CE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762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F9641-70FA-497B-89BE-C28461D5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CE022-8F24-499C-B23D-050350E4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7E136-F8D5-4BCC-BD73-15609632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4343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Order lookup, shipment tracking, refund amount calculation, refund API, replacement API and human queue.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E0289-BF85-42EB-BE4D-7348E233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4762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43516-FA7C-44D0-9E1F-FD96D5E7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DF020-AF69-4187-A69A-0652FFEC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716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Guardrail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5BAC5-4312-411C-902C-733B6687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4343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Mutable actions are proposal-only unless `execute=True`. High-value refunds and legal issues route to humans.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97D7F-1B08-4CD1-BE2B-1CC1D1AB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4762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9AFA3-2AC0-4EAD-A569-E6D9DB67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25745-EE1A-4429-9934-8A9EEEA2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Legal priority fix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C03EE-D05C-456B-9BFD-F3D02071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4343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When multiple signals appear, `legal_or_regulatory` wins over angry tone and over-cap refund.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E0863-D49C-41F2-B441-79E34C59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06</a:t>
            </a:r>
          </a:p>
        </p:txBody>
      </p:sp>
    </p:spTree>
    <p:extLst>
      <p:ext uri="{BB962C8B-B14F-4D97-AF65-F5344CB8AC3E}">
        <p14:creationId xmlns:p14="http://schemas.microsoft.com/office/powerpoint/2010/main" val="13290862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007246-C770-49F1-A73F-F95F39A3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4CD72-835B-4E93-B6D1-0F5143FC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M2 decision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3259A-089E-4A73-A8E4-3452DD91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2FB57-1DED-4FD6-8F9C-8D923049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44767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358AB-BAD1-4892-8847-E007B757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66900"/>
            <a:ext cx="41338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E2E8F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recommended_action: human_review,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requires_human: true,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tool_name: flag_for_human,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tool_args: {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  trigger: legal_or_regulatory,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  order_ref: KW-O-000950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},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executed: false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BBB3D-D3B9-480F-8165-0D4FB085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Why this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324C4-F4C4-4625-8D6D-974AA7F5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670E7-E0CD-42D8-A599-F5159C12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DDBBE-F7EC-4D30-9BB1-1D8332B0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4790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No data leak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BFE15-ACDF-48AE-8A16-DB1DCC88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527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Order lookup is scoped to the customer reference.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3E8C1-C354-4570-A374-64CD40EA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F0273-A6A5-4CC9-BA0F-5380185B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2FB8D-1007-499D-ADB9-E16C2E03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No unsafe refund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0D2E3-0581-4584-9FF1-2B1B45CA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0995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6,499 INR exceeds the automated cap.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26A8F-68D3-4F4E-9074-6EC9608E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FB4E4-1F08-49D9-BF8D-33DB6F82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D0C1A-67FD-4776-8F21-AEE175B0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6240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Human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E29E1-67A4-4AB5-B0C2-2759A70E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Legal language sends the case to legal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1EEF07-BC3C-40BC-A3B1-D81EBC50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07</a:t>
            </a:r>
          </a:p>
        </p:txBody>
      </p:sp>
    </p:spTree>
    <p:extLst>
      <p:ext uri="{BB962C8B-B14F-4D97-AF65-F5344CB8AC3E}">
        <p14:creationId xmlns:p14="http://schemas.microsoft.com/office/powerpoint/2010/main" val="4833573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88783-902B-4E49-8F7F-BFECE11E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ABE93-EA3F-47D0-9273-903A3D77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M3 customer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DC804-BF2B-4EBA-928A-187696ED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B6B4D-765E-4BB8-BDF7-90A33D0A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762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712F4-CC8A-478D-BF0F-572EAE74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E47BC-6D1E-4E04-B245-835EEFE5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What M3 stores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090BE-71A5-499E-93ED-822F6E91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4343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One JSON file per customer: preferences, recent tickets, sentiment, escalation signals and recommended 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EB57E-5474-4AF0-A773-8BD488D0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4762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0D901-7B2B-45E5-BBFB-A3C9D1DD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18502-B91F-4876-A7D9-FF5615D4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Where it lives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311A5-25D8-4F1A-94DA-EDEC8D84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4343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`runtime/memory/customers/`</a:t>
            </a:r>
          </a:p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Runtime state is local and can be reset without changing seed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72BD8-0D3A-45F9-9C5D-5CDE0F75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52600"/>
            <a:ext cx="3714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894B9-1BB7-4F08-9E69-CE9A54B1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24050"/>
            <a:ext cx="33718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E2E8F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customer_ref: KW-C-00285,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ticket_count: 1,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recent_tickets: [{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  issue_type: refund_request,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  recommended_action: human_review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}]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B42D0-775A-48A7-986F-8077B82A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Later milestones can use this memory for repeat-contact context and customer preferences.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5F1E8-3D89-4458-ADD9-51D2E546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08</a:t>
            </a:r>
          </a:p>
        </p:txBody>
      </p:sp>
    </p:spTree>
    <p:extLst>
      <p:ext uri="{BB962C8B-B14F-4D97-AF65-F5344CB8AC3E}">
        <p14:creationId xmlns:p14="http://schemas.microsoft.com/office/powerpoint/2010/main" val="2666728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51E3F-A24E-462F-B43A-2C6415B9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7E217-0187-451A-BCDE-79D7EEB1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M3 policy 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07FBB-0D6F-428E-AB5B-677A21C5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E3BD6-B122-4D95-96AE-19703CF6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9530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85CF2-0612-4F87-B3D6-83B40153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1F51F-7974-44BD-B049-137ABAAF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716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Policy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D95B3-7D0F-4117-A890-91844BA7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4533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Returns, refund authority, shipping, warranty, escalation, fraud and category addenda are committed under `data/shopsense/corpus/`.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D0B33-4EEA-46EE-8179-920C4EBC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49530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D33D0-DE24-448C-98C9-56290E87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A5764-7CE2-4AD1-A388-93DAA917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Local Qdrant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C82B0-5281-4354-B4BF-F9EC765B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4533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`scripts/build_policy_index.py` creates a local vector index under `runtime/qdrant/`. No Qdrant Cloud is used.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8720D-573C-4CC0-B04F-BD45FBE4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0957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46291-7D87-4C50-BF49-0ABFDCCF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F9BF7-5BC0-4318-AE84-A30E37C8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716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Retrieval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4A14D-9027-4F1B-A13C-8BD1361A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3676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M3 returns policy chunks. It does not yet produce the final policy answer.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75DE15-C27F-47F5-82AB-9EA9C638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0957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94E32-025D-4D2A-B4B6-D428FEDD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4FBB22-017A-4263-8476-20ED2E38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9090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Test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8D72F-E07B-4C91-B19C-0E561706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95700"/>
            <a:ext cx="3676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Memory persistence, Qdrant build and policy retrieval are covered by unit tests.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8AEBB-25F2-45BC-9557-879029E5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09</a:t>
            </a:r>
          </a:p>
        </p:txBody>
      </p:sp>
    </p:spTree>
    <p:extLst>
      <p:ext uri="{BB962C8B-B14F-4D97-AF65-F5344CB8AC3E}">
        <p14:creationId xmlns:p14="http://schemas.microsoft.com/office/powerpoint/2010/main" val="11972440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26107-76DA-4DF9-AEDA-2CF9B5DF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0F9C8-DB91-45D6-877D-BC257BE2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M4 grounded policy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A0A60-664A-4559-9B5C-C50A1AD2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18398-6DBC-45C9-B7D6-4A50D6A4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588F5-191E-4AF3-8BC2-980A2C4D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FF84E-0356-4E79-BDFF-487F257A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35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What M4 solves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60EEB-13FD-4C19-BDEA-67418987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3835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Turns retrieved policy chunks into a grounded answer with citations and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3FBF5-1B8D-47BB-A302-C720B44F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B7181-F3A7-4B0C-8953-E9874801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9EB57-E675-4A5A-A57F-414A612E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Hybrid retrieval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EE096-7449-4CBB-8E94-B357075F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Combines Qdrant vector hits with deterministic keyword search and reranking.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37650-BA12-43DC-965E-774560C5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8115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4933A-C051-4399-B461-B8B9091D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811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E4AAB-AFA7-4C0B-B973-CB362520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335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Groundedness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569B2-AD11-4E93-ABD8-F50B34AE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3835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Numeric claims in the answer must appear in retrieved evidence. Unsupported numbers are flagged.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81B1B-8506-4551-BA95-7F30EF95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42D86-5918-46F5-A97C-43C0B972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F7FD5-9489-4915-ACF4-8D4ABC71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Evaluation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60F755-2DCC-491B-BFB6-08686793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0045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Five golden policy cases check return windows, refund cap, groceries and legal routing.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D28343-FED3-4BB1-AE67-32353150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10</a:t>
            </a:r>
          </a:p>
        </p:txBody>
      </p:sp>
    </p:spTree>
    <p:extLst>
      <p:ext uri="{BB962C8B-B14F-4D97-AF65-F5344CB8AC3E}">
        <p14:creationId xmlns:p14="http://schemas.microsoft.com/office/powerpoint/2010/main" val="14590999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08DE3-2DF1-4170-B0CB-F126237D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08F28-A9A9-42C5-9F5A-F6F0B178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M4 answer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97167-C940-43F5-93F2-C6506958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B9B8E-E7C9-40FA-B89F-3A9DC3BF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50AE3-2EF2-49EA-A107-5E2A5954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2121F-6D3A-476C-99EA-3BB28D4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996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FF229-563C-4373-8C65-FE706150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9963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Can a customer return an opened Beauty item after 11 days?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EF864-55D1-4687-879B-FF9D41CC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0382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3C8FC-D650-446E-B215-4C2DFD90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BC643-4308-4FF5-9B3F-CBD2A5C9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996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Grounded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F935F-C781-466B-8DD3-8A34A416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996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No. Beauty has a 10-day return window, and opened Beauty items cannot be returned for change of mind.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B5AC6-2683-4408-B79C-9B3AD7C0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755E3-33FD-4CD8-8809-7F898991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67514-8CAD-4A36-AA54-B264B99B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78F23-BA50-4238-8D4F-0F538668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Category Policy Addendum: Beauty, sections on return window and opened-item restrictions.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C33C8-173B-4EB6-A0A8-9BEC630B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38946-862D-4D6C-9341-4324F3E6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B9746F-609F-4FD1-B2EF-6DB4182A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Blocked hallucination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EEF35-CD4D-4113-9411-DE806FB4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00550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The answer must not invent a 30-day or 45-day Beauty return window.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75F67-A5C7-4DA1-903F-7EAB95D8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11</a:t>
            </a:r>
          </a:p>
        </p:txBody>
      </p:sp>
    </p:spTree>
    <p:extLst>
      <p:ext uri="{BB962C8B-B14F-4D97-AF65-F5344CB8AC3E}">
        <p14:creationId xmlns:p14="http://schemas.microsoft.com/office/powerpoint/2010/main" val="464371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D7BF3-D944-4401-AED5-A7899EC3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6BFD5-E553-4AE4-BB9E-7059076C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Verification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5E36E-47DA-4750-9CB5-67E41B01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B20ED-BE75-443D-A800-E94C4ECA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59669"/>
                </a:solidFill>
              </a:defRPr>
            </a:pPr>
            <a:r>
              <a:rPr sz="2550" b="1">
                <a:solidFill>
                  <a:srgbClr val="059669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7E850-5E43-4AEB-8B22-59D13DDD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Unit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7CA04-F425-4E8A-9AF5-00DEEB23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670"/>
                </a:solidFill>
              </a:defRPr>
            </a:pPr>
            <a:r>
              <a:rPr sz="900" b="0">
                <a:solidFill>
                  <a:srgbClr val="5C6670"/>
                </a:solidFill>
              </a:rPr>
              <a:t>All unit tests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514A3-6A95-4EF3-B0AF-006EE801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14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59669"/>
                </a:solidFill>
              </a:defRPr>
            </a:pPr>
            <a:r>
              <a:rPr sz="2550" b="1">
                <a:solidFill>
                  <a:srgbClr val="059669"/>
                </a:solidFill>
              </a:rPr>
              <a:t>5/5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707CA-67F1-48A1-9872-ECB7BE2A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71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M4 eval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FE26B-A8A5-471E-8279-E187F0BB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670"/>
                </a:solidFill>
              </a:defRPr>
            </a:pPr>
            <a:r>
              <a:rPr sz="900" b="0">
                <a:solidFill>
                  <a:srgbClr val="5C6670"/>
                </a:solidFill>
              </a:rPr>
              <a:t>Grounded policy eval passes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A8FF3-123D-4AD5-AE8F-946EE619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14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D4ED8"/>
                </a:solidFill>
              </a:defRPr>
            </a:pPr>
            <a:r>
              <a:rPr sz="2550" b="1">
                <a:solidFill>
                  <a:srgbClr val="1D4ED8"/>
                </a:solidFill>
              </a:rPr>
              <a:t>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A8D2E-1AD2-4B8D-AD31-53CF1B77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M1 holdout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CED71-4803-43ED-806B-CE6436E4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670"/>
                </a:solidFill>
              </a:defRPr>
            </a:pPr>
            <a:r>
              <a:rPr sz="900" b="0">
                <a:solidFill>
                  <a:srgbClr val="5C6670"/>
                </a:solidFill>
              </a:rPr>
              <a:t>Parsed tickets in latest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D9DE5-7A90-408E-959F-69410A71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14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5B21B6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5B21B6"/>
                </a:solidFill>
              </a:defRPr>
            </a:pPr>
            <a:r>
              <a:rPr sz="2550" b="1">
                <a:solidFill>
                  <a:srgbClr val="5B21B6"/>
                </a:solidFill>
              </a:rPr>
              <a:t>84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F82C5-0D55-486E-8AC8-124E8A39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71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Policy chunks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674B6-5EF4-4766-B51A-DED06B41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57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670"/>
                </a:solidFill>
              </a:defRPr>
            </a:pPr>
            <a:r>
              <a:rPr sz="900" b="0">
                <a:solidFill>
                  <a:srgbClr val="5C6670"/>
                </a:solidFill>
              </a:rPr>
              <a:t>Indexed into local Qdrant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13631-ACFD-437D-8057-055E653C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8191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45D76-E5D4-4884-8FE8-212AC34C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3888D-593C-4117-AE8C-3B6977B1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91000"/>
            <a:ext cx="777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Run commands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7C634-C088-45B5-A991-FBC215CC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95800"/>
            <a:ext cx="7772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python -m pytest tests/unit</a:t>
            </a:r>
          </a:p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python scripts/build_policy_index.py</a:t>
            </a:r>
          </a:p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python scripts/run_policy_eval.py</a:t>
            </a:r>
          </a:p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python -m capstone.workbench.app --port 8765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6C65CE-A7F8-413B-96B3-895D327B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12</a:t>
            </a:r>
          </a:p>
        </p:txBody>
      </p:sp>
    </p:spTree>
    <p:extLst>
      <p:ext uri="{BB962C8B-B14F-4D97-AF65-F5344CB8AC3E}">
        <p14:creationId xmlns:p14="http://schemas.microsoft.com/office/powerpoint/2010/main" val="17864292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3E6D37-8765-4AAA-9168-03C8F1CD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2689D-5206-4D07-B70D-FFD93950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Repository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A0DF5-4756-4DAA-A800-E2FFAABF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D1884-A723-4C6A-8E98-0B3A0790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B0E63-0472-4527-93BF-1A2CBEB4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4C420-61A8-44C8-9E74-88130FB1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716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AB81D-2223-454F-B540-1E5B3795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764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`intake_agent.py`, `action_agent.py`, `policy_agent.py`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7DECA-10ED-4B34-A7E5-B0B3A049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C971A-FB30-47D6-8E6F-B44D327F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A67A8-ADB2-4C47-89CD-60B4D895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337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Tools and schemas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47CAA-2DD5-4E14-AC2A-434A6194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Deterministic order/refund/shipping tools plus Pydantic models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03328-B774-491A-B258-06D504CE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6EB7F-59E3-42B1-8737-E1F46A37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06C8D-0212-439B-BCA4-D3537092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Memory and 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3F138-11BE-4F57-B0DE-F43004B5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`memory/store.py`, `rag/policy_index.py`, `rag/hybrid.py`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9B803-9337-4136-8C5F-556C33BC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EDDB4-856B-44FE-8550-C2FBFA51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B9F9A-1BE5-44DD-B3BE-2713FEEB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716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4544C-1215-40DB-81EE-B7A7AC19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764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Committed corpus, M1 report, M4 report and unit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65EEE-E4D9-4D28-9FA0-1562EE5D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1EF4F9-C488-450C-B83C-C47AEBEA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A162D9-217B-4D9F-89DF-B87BF200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3370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Workbench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DE7C7-D666-4C08-9842-9E6B5432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385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Browser UI displays M1, M2, M3 and M4 outputs in one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7BBF16-BE9D-40C9-A21C-CE4641DE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9D541C-C85E-4885-87EF-B200DCB4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E250AC-CBDC-43B4-B526-FBC4127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957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Remote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DECF5E-C3A1-4EBA-BFE4-DCC037EB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005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github.com/abhraj786/iith-ai-capstone-shopsense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D0353-BCFE-444D-B063-14BA6274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13</a:t>
            </a:r>
          </a:p>
        </p:txBody>
      </p:sp>
    </p:spTree>
    <p:extLst>
      <p:ext uri="{BB962C8B-B14F-4D97-AF65-F5344CB8AC3E}">
        <p14:creationId xmlns:p14="http://schemas.microsoft.com/office/powerpoint/2010/main" val="21460119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22267-06F0-48C5-B4AD-CF7873EE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513E6-1A00-4129-BECA-3F283FD9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Next milestone: M5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75ABE-CE69-4787-8EF3-346918D3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9FE0C-5E6F-46E8-8D52-8CAFDB62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9E1F9-A0E1-466A-BD49-27024C70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5A5FB-AD5F-4BEA-A97D-8E642BA0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Expected M5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5C3CC-43A5-4ABA-BB3D-CD40B508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14550"/>
            <a:ext cx="453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LangGraph workflow: triage, policy check, action execution, conditional routing and checkpointing.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A89B3-D90A-40C4-A877-320B8E83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F0105-2A68-4A97-8B8F-D6579F18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12D96-3C3E-4373-B3EA-ED3E30AA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What we can reuse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4E7CE-F390-4C53-9B14-D571B6EF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453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M1 parser, M2 tools, M3 memory/index and M4 grounded policy answers already expose clean module boundaries.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C6484-567F-419F-BE85-384CFF2E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6215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M5 should connect the modules into one resumable workflow with human approval interrupts for risky cases.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0D539-2609-44E8-A3D4-D73957F4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The legal refund example should pause for human approval instead of auto-resolving.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9F590-5455-4DB5-B699-F2F80401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14</a:t>
            </a:r>
          </a:p>
        </p:txBody>
      </p:sp>
    </p:spTree>
    <p:extLst>
      <p:ext uri="{BB962C8B-B14F-4D97-AF65-F5344CB8AC3E}">
        <p14:creationId xmlns:p14="http://schemas.microsoft.com/office/powerpoint/2010/main" val="1348199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2026-10-11T11:15:02.8600000Z</dcterms:created>
  <dcterms:modified xsi:type="dcterms:W3CDTF">2026-10-11T11:15:02.8600000Z</dcterms:modified>
</coreProperties>
</file>