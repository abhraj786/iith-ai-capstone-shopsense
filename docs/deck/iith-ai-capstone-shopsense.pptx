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13,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M6 complete, M7 and M8 in progress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Python or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a window or amount cannot be invented. The order's category picks the right rulebook.</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Hostile ticket</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Two other live tickets</a:t>
            </a:r>
          </a:p>
          <a:p>
            <a:pPr>
              <a:spcAft>
                <a:spcPts val="200"/>
              </a:spcAft>
            </a:pPr>
            <a:r>
              <a:rPr sz="1000" b="0">
                <a:solidFill>
                  <a:srgbClr val="222B38"/>
                </a:solidFill>
                <a:latin typeface="Calibri"/>
              </a:rPr>
              <a:t>Plain tracking: fast_track, policy skipped.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57800"/>
            <a:ext cx="4709160" cy="502920"/>
          </a:xfrm>
          <a:prstGeom prst="rect">
            <a:avLst/>
          </a:prstGeom>
          <a:noFill/>
        </p:spPr>
        <p:txBody>
          <a:bodyPr wrap="square" lIns="45720" rIns="45720">
            <a:spAutoFit/>
          </a:bodyPr>
          <a:lstStyle/>
          <a:p>
            <a:pPr>
              <a:spcAft>
                <a:spcPts val="600"/>
              </a:spcAft>
            </a:pPr>
            <a:r>
              <a:rPr sz="1100" b="1">
                <a:solidFill>
                  <a:srgbClr val="142B4D"/>
                </a:solidFill>
                <a:latin typeface="Calibri"/>
              </a:rPr>
              <a:t>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IN PROGRESS, TO BE CHECKED AGAINST THE LABS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first version built, being finished next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2487168"/>
        </p:xfrm>
        <a:graphic>
          <a:graphicData uri="http://schemas.openxmlformats.org/drawingml/2006/table">
            <a:tbl>
              <a:tblPr firstRow="1" bandRow="1">
                <a:tableStyleId>{5C22544A-7EE6-4342-B048-85BDC9FD1C3A}</a:tableStyleId>
              </a:tblPr>
              <a:tblGrid>
                <a:gridCol w="2743200"/>
                <a:gridCol w="1463040"/>
              </a:tblGrid>
              <a:tr h="310896">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87 passed</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100" b="0">
                          <a:solidFill>
                            <a:srgbClr val="222B38"/>
                          </a:solidFill>
                          <a:latin typeface="Calibri"/>
                        </a:rPr>
                        <a:t>20 / 20</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100" b="0">
                          <a:solidFill>
                            <a:srgbClr val="222B38"/>
                          </a:solidFill>
                          <a:latin typeface="Calibri"/>
                        </a:rPr>
                        <a:t>24 / 24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100" b="0">
                          <a:solidFill>
                            <a:srgbClr val="222B38"/>
                          </a:solidFill>
                          <a:latin typeface="Calibri"/>
                        </a:rPr>
                        <a:t>0.82</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1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828800"/>
          </a:xfrm>
          <a:prstGeom prst="rect">
            <a:avLst/>
          </a:prstGeom>
          <a:noFill/>
        </p:spPr>
        <p:txBody>
          <a:bodyPr wrap="square" lIns="45720" rIns="45720">
            <a:spAutoFit/>
          </a:bodyPr>
          <a:lstStyle/>
          <a:p>
            <a:pPr>
              <a:spcAft>
                <a:spcPts val="300"/>
              </a:spcAft>
            </a:pPr>
            <a:r>
              <a:rPr sz="1100" b="0">
                <a:solidFill>
                  <a:srgbClr val="222B38"/>
                </a:solidFill>
                <a:latin typeface="Calibri"/>
              </a:rPr>
              <a:t>•  Hash 'embeddings': Gemini + BM25 (recall@3 1.0)</a:t>
            </a:r>
          </a:p>
          <a:p>
            <a:pPr>
              <a:spcAft>
                <a:spcPts val="300"/>
              </a:spcAft>
            </a:pPr>
            <a:r>
              <a:rPr sz="1100" b="0">
                <a:solidFill>
                  <a:srgbClr val="222B38"/>
                </a:solidFill>
                <a:latin typeface="Calibri"/>
              </a:rPr>
              <a:t>•  Wrong category's window: category filter (22 to 24 of 24)</a:t>
            </a:r>
          </a:p>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2194560"/>
          </a:xfrm>
          <a:prstGeom prst="rect">
            <a:avLst/>
          </a:prstGeom>
          <a:noFill/>
        </p:spPr>
        <p:txBody>
          <a:bodyPr wrap="square" lIns="45720" rIns="45720">
            <a:spAutoFit/>
          </a:bodyPr>
          <a:lstStyle/>
          <a:p>
            <a:pPr>
              <a:spcAft>
                <a:spcPts val="300"/>
              </a:spcAft>
            </a:pPr>
            <a:r>
              <a:rPr sz="1100" b="0">
                <a:solidFill>
                  <a:srgbClr val="222B38"/>
                </a:solidFill>
                <a:latin typeface="Calibri"/>
              </a:rPr>
              <a:t>•  No PII redaction in traces; no auth on /chat</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Small corpus: retrieval numbers optimistic</a:t>
            </a:r>
          </a:p>
          <a:p>
            <a:pPr>
              <a:spcAft>
                <a:spcPts val="300"/>
              </a:spcAft>
            </a:pPr>
            <a:r>
              <a:rPr sz="1100" b="0">
                <a:solidFill>
                  <a:srgbClr val="222B38"/>
                </a:solidFill>
                <a:latin typeface="Calibri"/>
              </a:rPr>
              <a:t>•  Supervisor has a menu, not the lab's free star</a:t>
            </a:r>
          </a:p>
          <a:p>
            <a:pPr>
              <a:spcAft>
                <a:spcPts val="300"/>
              </a:spcAft>
            </a:pPr>
            <a:r>
              <a:rPr sz="1100" b="0">
                <a:solidFill>
                  <a:srgbClr val="222B38"/>
                </a:solidFill>
                <a:latin typeface="Calibri"/>
              </a:rPr>
              <a:t>•  Docker not exercised</a:t>
            </a:r>
          </a:p>
        </p:txBody>
      </p:sp>
      <p:graphicFrame>
        <p:nvGraphicFramePr>
          <p:cNvPr id="12" name="Table 11"/>
          <p:cNvGraphicFramePr>
            <a:graphicFrameLocks noGrp="1"/>
          </p:cNvGraphicFramePr>
          <p:nvPr/>
        </p:nvGraphicFramePr>
        <p:xfrm>
          <a:off x="548640" y="3977639"/>
          <a:ext cx="11109960" cy="1371600"/>
        </p:xfrm>
        <a:graphic>
          <a:graphicData uri="http://schemas.openxmlformats.org/drawingml/2006/table">
            <a:tbl>
              <a:tblPr firstRow="1" bandRow="1">
                <a:tableStyleId>{5C22544A-7EE6-4342-B048-85BDC9FD1C3A}</a:tableStyleId>
              </a:tblPr>
              <a:tblGrid>
                <a:gridCol w="1645920"/>
                <a:gridCol w="512064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87 passed</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2  Milestones</a:t>
                      </a:r>
                    </a:p>
                  </a:txBody>
                  <a:tcPr marT="36576" marB="36576">
                    <a:solidFill>
                      <a:srgbClr val="FFFFFF"/>
                    </a:solidFill>
                  </a:tcPr>
                </a:tc>
                <a:tc>
                  <a:txBody>
                    <a:bodyPr wrap="square"/>
                    <a:lstStyle/>
                    <a:p>
                      <a:pPr>
                        <a:spcAft>
                          <a:spcPts val="0"/>
                        </a:spcAft>
                      </a:pPr>
                      <a:r>
                        <a:rPr sz="105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050" b="0">
                          <a:solidFill>
                            <a:srgbClr val="222B38"/>
                          </a:solidFill>
                          <a:latin typeface="Calibri"/>
                        </a:rPr>
                        <a:t>M1 to M8 on live LLM, Qdrant Cloud, LangFuse</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3  Golden eval</a:t>
                      </a:r>
                    </a:p>
                  </a:txBody>
                  <a:tcPr marT="36576" marB="36576">
                    <a:solidFill>
                      <a:srgbClr val="EEF3F8"/>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4  API</a:t>
                      </a:r>
                    </a:p>
                  </a:txBody>
                  <a:tcPr marT="36576" marB="36576">
                    <a:solidFill>
                      <a:srgbClr val="FFFFFF"/>
                    </a:solidFill>
                  </a:tcPr>
                </a:tc>
                <a:tc>
                  <a:txBody>
                    <a:bodyPr wrap="square"/>
                    <a:lstStyle/>
                    <a:p>
                      <a:pPr>
                        <a:spcAft>
                          <a:spcPts val="0"/>
                        </a:spcAft>
                      </a:pPr>
                      <a:r>
                        <a:rPr sz="105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050" b="0">
                          <a:solidFill>
                            <a:srgbClr val="222B38"/>
                          </a:solidFill>
                          <a:latin typeface="Calibri"/>
                        </a:rPr>
                        <a:t>/chat decisions for 7 cases</a:t>
                      </a:r>
                    </a:p>
                  </a:txBody>
                  <a:tcPr marT="36576" marB="36576">
                    <a:solidFill>
                      <a:srgbClr val="FFFFFF"/>
                    </a:solidFill>
                  </a:tcPr>
                </a:tc>
              </a:tr>
            </a:tbl>
          </a:graphicData>
        </a:graphic>
      </p:graphicFrame>
      <p:sp>
        <p:nvSpPr>
          <p:cNvPr id="13" name="Rounded Rectangle 12"/>
          <p:cNvSpPr/>
          <p:nvPr/>
        </p:nvSpPr>
        <p:spPr>
          <a:xfrm>
            <a:off x="548640" y="54864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5138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87 tests, 20 golden cases.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