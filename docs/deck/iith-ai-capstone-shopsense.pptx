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The query is built from the M1 ticket and the category comes from the order, not from the LLM. Step 2 is the key one: the category addenda contradict each other (apparel 45 days, Home &amp; Kitchen 30), so other categories are excluded before searching. Without the category the same question returned apparel, furniture and groceries; with it, the answer says 30 days. Search is dense Gemini similarity with a small BM25 boost for exact policy terms; dense alone has the best hit@1 but hybrid reaches recall@3 of 1.0. The answer step uses no LLM: it quotes policy sentences, drops fragments that repeat another sentence, and cites the chunk each sentence came from. A guardrail blocks any answer whose numbers are not in the evidence. Honest limit: because the answer is extractive, that number check passes almost by construction;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no repeats</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SAMPLE, REAL OUTPUT</a:t>
            </a:r>
          </a:p>
        </p:txBody>
      </p:sp>
      <p:sp>
        <p:nvSpPr>
          <p:cNvPr id="32" name="Rounded Rectangle 31"/>
          <p:cNvSpPr/>
          <p:nvPr/>
        </p:nvSpPr>
        <p:spPr>
          <a:xfrm>
            <a:off x="6263640" y="1691640"/>
            <a:ext cx="5394960" cy="14630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37360"/>
            <a:ext cx="5212080" cy="1371600"/>
          </a:xfrm>
          <a:prstGeom prst="rect">
            <a:avLst/>
          </a:prstGeom>
          <a:noFill/>
        </p:spPr>
        <p:txBody>
          <a:bodyPr wrap="square" lIns="45720" rIns="45720">
            <a:spAutoFit/>
          </a:bodyPr>
          <a:lstStyle/>
          <a:p>
            <a:pPr>
              <a:spcAft>
                <a:spcPts val="300"/>
              </a:spcAft>
            </a:pPr>
            <a:r>
              <a:rPr sz="1100" b="1">
                <a:solidFill>
                  <a:srgbClr val="222B38"/>
                </a:solidFill>
                <a:latin typeface="Calibri"/>
              </a:rPr>
              <a:t>Query: damaged_delivery Damaged order, demands refund.</a:t>
            </a:r>
          </a:p>
          <a:p>
            <a:pPr>
              <a:spcAft>
                <a:spcPts val="300"/>
              </a:spcAft>
            </a:pPr>
            <a:r>
              <a:rPr sz="1100" b="0">
                <a:solidFill>
                  <a:srgbClr val="222B38"/>
                </a:solidFill>
                <a:latin typeface="Calibri"/>
              </a:rPr>
              <a:t>Category: Home &amp; Kitchen (from the order's product)</a:t>
            </a:r>
          </a:p>
          <a:p>
            <a:pPr>
              <a:spcAft>
                <a:spcPts val="300"/>
              </a:spcAft>
            </a:pPr>
            <a:r>
              <a:rPr sz="1100" b="0">
                <a:solidFill>
                  <a:srgbClr val="222B38"/>
                </a:solidFill>
                <a:latin typeface="Calibri"/>
              </a:rPr>
              <a:t>Answer: damaged items must be reported within 30 days of delivery; later reports go to the manufacturer warranty.</a:t>
            </a:r>
          </a:p>
          <a:p>
            <a:pPr>
              <a:spcAft>
                <a:spcPts val="300"/>
              </a:spcAft>
            </a:pPr>
            <a:r>
              <a:rPr sz="1100" b="1">
                <a:solidFill>
                  <a:srgbClr val="2E7D32"/>
                </a:solidFill>
                <a:latin typeface="Calibri"/>
              </a:rPr>
              <a:t>Cited: category-home-kitchen chunk 1  |  grounded: true</a:t>
            </a:r>
          </a:p>
        </p:txBody>
      </p:sp>
      <p:graphicFrame>
        <p:nvGraphicFramePr>
          <p:cNvPr id="34" name="Table 33"/>
          <p:cNvGraphicFramePr>
            <a:graphicFrameLocks noGrp="1"/>
          </p:cNvGraphicFramePr>
          <p:nvPr/>
        </p:nvGraphicFramePr>
        <p:xfrm>
          <a:off x="6263640" y="3337560"/>
          <a:ext cx="5394960" cy="1554480"/>
        </p:xfrm>
        <a:graphic>
          <a:graphicData uri="http://schemas.openxmlformats.org/drawingml/2006/table">
            <a:tbl>
              <a:tblPr firstRow="1" bandRow="1">
                <a:tableStyleId>{5C22544A-7EE6-4342-B048-85BDC9FD1C3A}</a:tableStyleId>
              </a:tblPr>
              <a:tblGrid>
                <a:gridCol w="2286000"/>
                <a:gridCol w="914400"/>
                <a:gridCol w="1005840"/>
                <a:gridCol w="1188720"/>
              </a:tblGrid>
              <a:tr h="310896">
                <a:tc>
                  <a:txBody>
                    <a:bodyPr wrap="square"/>
                    <a:lstStyle/>
                    <a:p>
                      <a:pPr>
                        <a:spcAft>
                          <a:spcPts val="0"/>
                        </a:spcAft>
                      </a:pPr>
                      <a:r>
                        <a:rPr sz="1100" b="1">
                          <a:solidFill>
                            <a:srgbClr val="FFFFFF"/>
                          </a:solidFill>
                          <a:latin typeface="Calibri"/>
                        </a:rPr>
                        <a:t>24 questions</a:t>
                      </a:r>
                    </a:p>
                  </a:txBody>
                  <a:tcPr marT="36576" marB="36576">
                    <a:solidFill>
                      <a:srgbClr val="142B4D"/>
                    </a:solidFill>
                  </a:tcPr>
                </a:tc>
                <a:tc>
                  <a:txBody>
                    <a:bodyPr wrap="square"/>
                    <a:lstStyle/>
                    <a:p>
                      <a:pPr>
                        <a:spcAft>
                          <a:spcPts val="0"/>
                        </a:spcAft>
                      </a:pPr>
                      <a:r>
                        <a:rPr sz="1100" b="1">
                          <a:solidFill>
                            <a:srgbClr val="FFFFFF"/>
                          </a:solidFill>
                          <a:latin typeface="Calibri"/>
                        </a:rPr>
                        <a:t>hit@1</a:t>
                      </a:r>
                    </a:p>
                  </a:txBody>
                  <a:tcPr marT="36576" marB="36576">
                    <a:solidFill>
                      <a:srgbClr val="142B4D"/>
                    </a:solidFill>
                  </a:tcPr>
                </a:tc>
                <a:tc>
                  <a:txBody>
                    <a:bodyPr wrap="square"/>
                    <a:lstStyle/>
                    <a:p>
                      <a:pPr>
                        <a:spcAft>
                          <a:spcPts val="0"/>
                        </a:spcAft>
                      </a:pPr>
                      <a:r>
                        <a:rPr sz="1100" b="1">
                          <a:solidFill>
                            <a:srgbClr val="FFFFFF"/>
                          </a:solidFill>
                          <a:latin typeface="Calibri"/>
                        </a:rPr>
                        <a:t>recall@3</a:t>
                      </a:r>
                    </a:p>
                  </a:txBody>
                  <a:tcPr marT="36576" marB="36576">
                    <a:solidFill>
                      <a:srgbClr val="142B4D"/>
                    </a:solidFill>
                  </a:tcPr>
                </a:tc>
                <a:tc>
                  <a:txBody>
                    <a:bodyPr wrap="square"/>
                    <a:lstStyle/>
                    <a:p>
                      <a:pPr>
                        <a:spcAft>
                          <a:spcPts val="0"/>
                        </a:spcAft>
                      </a:pPr>
                      <a:r>
                        <a:rPr sz="1100" b="1">
                          <a:solidFill>
                            <a:srgbClr val="FFFFFF"/>
                          </a:solidFill>
                          <a:latin typeface="Calibri"/>
                        </a:rPr>
                        <a:t>Answers right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Dense only</a:t>
                      </a:r>
                    </a:p>
                  </a:txBody>
                  <a:tcPr marT="36576" marB="36576">
                    <a:solidFill>
                      <a:srgbClr val="EEF3F8"/>
                    </a:solidFill>
                  </a:tcPr>
                </a:tc>
                <a:tc>
                  <a:txBody>
                    <a:bodyPr wrap="square"/>
                    <a:lstStyle/>
                    <a:p>
                      <a:pPr>
                        <a:spcAft>
                          <a:spcPts val="0"/>
                        </a:spcAft>
                      </a:pPr>
                      <a:r>
                        <a:rPr sz="1100" b="0">
                          <a:solidFill>
                            <a:srgbClr val="222B38"/>
                          </a:solidFill>
                          <a:latin typeface="Calibri"/>
                        </a:rPr>
                        <a:t>0.917</a:t>
                      </a:r>
                    </a:p>
                  </a:txBody>
                  <a:tcPr marT="36576" marB="36576">
                    <a:solidFill>
                      <a:srgbClr val="EEF3F8"/>
                    </a:solidFill>
                  </a:tcPr>
                </a:tc>
                <a:tc>
                  <a:txBody>
                    <a:bodyPr wrap="square"/>
                    <a:lstStyle/>
                    <a:p>
                      <a:pPr>
                        <a:spcAft>
                          <a:spcPts val="0"/>
                        </a:spcAft>
                      </a:pPr>
                      <a:r>
                        <a:rPr sz="1100" b="0">
                          <a:solidFill>
                            <a:srgbClr val="222B38"/>
                          </a:solidFill>
                          <a:latin typeface="Calibri"/>
                        </a:rPr>
                        <a:t>0.979</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Hybrid fused</a:t>
                      </a:r>
                    </a:p>
                  </a:txBody>
                  <a:tcPr marT="36576" marB="36576">
                    <a:solidFill>
                      <a:srgbClr val="FFFFFF"/>
                    </a:solidFill>
                  </a:tcPr>
                </a:tc>
                <a:tc>
                  <a:txBody>
                    <a:bodyPr wrap="square"/>
                    <a:lstStyle/>
                    <a:p>
                      <a:pPr>
                        <a:spcAft>
                          <a:spcPts val="0"/>
                        </a:spcAft>
                      </a:pPr>
                      <a:r>
                        <a:rPr sz="1100" b="0">
                          <a:solidFill>
                            <a:srgbClr val="222B38"/>
                          </a:solidFill>
                          <a:latin typeface="Calibri"/>
                        </a:rPr>
                        <a:t>0.875</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Hybrid, no category</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22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Hybrid + order category</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c>
                  <a:txBody>
                    <a:bodyPr wrap="square"/>
                    <a:lstStyle/>
                    <a:p>
                      <a:pPr>
                        <a:spcAft>
                          <a:spcPts val="0"/>
                        </a:spcAft>
                      </a:pPr>
                      <a:r>
                        <a:rPr sz="1100" b="0">
                          <a:solidFill>
                            <a:srgbClr val="222B38"/>
                          </a:solidFill>
                          <a:latin typeface="Calibri"/>
                        </a:rPr>
                        <a:t>24 / 24</a:t>
                      </a:r>
                    </a:p>
                  </a:txBody>
                  <a:tcPr marT="36576" marB="36576">
                    <a:solidFill>
                      <a:srgbClr val="FFFFFF"/>
                    </a:solidFill>
                  </a:tcPr>
                </a:tc>
              </a:tr>
            </a:tbl>
          </a:graphicData>
        </a:graphic>
      </p:graphicFrame>
      <p:sp>
        <p:nvSpPr>
          <p:cNvPr id="35" name="TextBox 34"/>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Without the category: the 45-day apparel window.</a:t>
            </a:r>
          </a:p>
        </p:txBody>
      </p:sp>
      <p:sp>
        <p:nvSpPr>
          <p:cNvPr id="36" name="Rounded Rectangle 35"/>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67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67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67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