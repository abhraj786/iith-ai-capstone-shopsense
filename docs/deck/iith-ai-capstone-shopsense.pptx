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20, M7 8, M8 3.</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with ticket B: the same ticket now leaves a trace. Open Langfuse: seven spans, Triage and Supervisor shown as generations with model, tokens and cost (about 0.05 cents for the ticket).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1.5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M7 complete,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 B (PLAIN TRACKING)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TICKET B, LIVE (GEMINI, MCP DEFAULT)</a:t>
            </a:r>
          </a:p>
        </p:txBody>
      </p:sp>
      <p:sp>
        <p:nvSpPr>
          <p:cNvPr id="34" name="Rounded Rectangle 33"/>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What the run showed</a:t>
            </a:r>
          </a:p>
          <a:p>
            <a:pPr>
              <a:spcAft>
                <a:spcPts val="200"/>
              </a:spcAft>
            </a:pPr>
            <a:r>
              <a:rPr sz="1000" b="0">
                <a:solidFill>
                  <a:srgbClr val="222B38"/>
                </a:solidFill>
                <a:latin typeface="Calibri"/>
              </a:rPr>
              <a:t>7 spans reached Langfuse. Triage and Supervisor are generations: 730 / 128 tokens ($0.00054) and 287 / 46 ($0.00020).</a:t>
            </a:r>
          </a:p>
          <a:p>
            <a:pPr>
              <a:spcAft>
                <a:spcPts val="200"/>
              </a:spcAft>
            </a:pPr>
            <a:r>
              <a:rPr sz="1000" b="0">
                <a:solidFill>
                  <a:srgbClr val="222B38"/>
                </a:solidFill>
                <a:latin typeface="Calibri"/>
              </a:rPr>
              <a:t>MCP unreachable: the ticket still resolved, the result says failover. LLM unavailable: /chat answered 200 and queued the case (KW-HQ-00003).</a:t>
            </a:r>
          </a:p>
          <a:p>
            <a:pPr>
              <a:spcAft>
                <a:spcPts val="200"/>
              </a:spcAft>
            </a:pPr>
            <a:r>
              <a:rPr sz="1000" b="0">
                <a:solidFill>
                  <a:srgbClr val="222B38"/>
                </a:solidFill>
                <a:latin typeface="Calibri"/>
              </a:rPr>
              <a:t>Tickets A and C already end at a person (over the cap, legal threat), so an outage changes nothing for them. With the model down, /chat queues any ticket, B included.</a:t>
            </a:r>
          </a:p>
        </p:txBody>
      </p:sp>
      <p:sp>
        <p:nvSpPr>
          <p:cNvPr id="36" name="TextBox 35"/>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7" name="Table 36"/>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240280"/>
                <a:gridCol w="246888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1000" b="0">
                          <a:solidFill>
                            <a:srgbClr val="222B38"/>
                          </a:solidFill>
                          <a:latin typeface="Calibri"/>
                        </a:rPr>
                        <a:t>backoff; malformed goes to a human</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Breaker</a:t>
                      </a:r>
                    </a:p>
                  </a:txBody>
                  <a:tcPr marT="36576" marB="36576">
                    <a:solidFill>
                      <a:srgbClr val="FFFFFF"/>
                    </a:solidFill>
                  </a:tcPr>
                </a:tc>
                <a:tc>
                  <a:txBody>
                    <a:bodyPr wrap="square"/>
                    <a:lstStyle/>
                    <a:p>
                      <a:pPr>
                        <a:spcAft>
                          <a:spcPts val="0"/>
                        </a:spcAft>
                      </a:pPr>
                      <a:r>
                        <a:rPr sz="1000" b="0">
                          <a:solidFill>
                            <a:srgbClr val="222B38"/>
                          </a:solidFill>
                          <a:latin typeface="Calibri"/>
                        </a:rPr>
                        <a:t>half-open: one trial call</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200 seeded calls</a:t>
                      </a:r>
                    </a:p>
                  </a:txBody>
                  <a:tcPr marT="36576" marB="36576">
                    <a:solidFill>
                      <a:srgbClr val="EEF3F8"/>
                    </a:solidFill>
                  </a:tcPr>
                </a:tc>
                <a:tc>
                  <a:txBody>
                    <a:bodyPr wrap="square"/>
                    <a:lstStyle/>
                    <a:p>
                      <a:pPr>
                        <a:spcAft>
                          <a:spcPts val="0"/>
                        </a:spcAft>
                      </a:pPr>
                      <a:r>
                        <a:rPr sz="1000" b="0">
                          <a:solidFill>
                            <a:srgbClr val="222B38"/>
                          </a:solidFill>
                          <a:latin typeface="Calibri"/>
                        </a:rPr>
                        <a:t>57% clean, then 179 + 21 to a human</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Dead tool</a:t>
                      </a:r>
                    </a:p>
                  </a:txBody>
                  <a:tcPr marT="36576" marB="36576">
                    <a:solidFill>
                      <a:srgbClr val="FFFFFF"/>
                    </a:solidFill>
                  </a:tcPr>
                </a:tc>
                <a:tc>
                  <a:txBody>
                    <a:bodyPr wrap="square"/>
                    <a:lstStyle/>
                    <a:p>
                      <a:pPr>
                        <a:spcAft>
                          <a:spcPts val="0"/>
                        </a:spcAft>
                      </a:pPr>
                      <a:r>
                        <a:rPr sz="1000" b="0">
                          <a:solidFill>
                            <a:srgbClr val="222B38"/>
                          </a:solidFill>
                          <a:latin typeface="Calibri"/>
                        </a:rPr>
                        <a:t>3 real calls, 7 short-circuited</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Tracing cost</a:t>
                      </a:r>
                    </a:p>
                  </a:txBody>
                  <a:tcPr marT="36576" marB="36576">
                    <a:solidFill>
                      <a:srgbClr val="EEF3F8"/>
                    </a:solidFill>
                  </a:tcPr>
                </a:tc>
                <a:tc>
                  <a:txBody>
                    <a:bodyPr wrap="square"/>
                    <a:lstStyle/>
                    <a:p>
                      <a:pPr>
                        <a:spcAft>
                          <a:spcPts val="0"/>
                        </a:spcAft>
                      </a:pPr>
                      <a:r>
                        <a:rPr sz="1000" b="0">
                          <a:solidFill>
                            <a:srgbClr val="222B38"/>
                          </a:solidFill>
                          <a:latin typeface="Calibri"/>
                        </a:rPr>
                        <a:t>+1.3 ms per ticket</a:t>
                      </a:r>
                    </a:p>
                  </a:txBody>
                  <a:tcPr marT="36576" marB="36576">
                    <a:solidFill>
                      <a:srgbClr val="EEF3F8"/>
                    </a:solidFill>
                  </a:tcPr>
                </a:tc>
              </a:tr>
            </a:tbl>
          </a:graphicData>
        </a:graphic>
      </p:graphicFrame>
      <p:sp>
        <p:nvSpPr>
          <p:cNvPr id="38" name="TextBox 37"/>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Found by measuring: a Langfuse flush per ticket cost 200 ms. Now batched.</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93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sp>
        <p:nvSpPr>
          <p:cNvPr id="12" name="Rounded Rectangle 11"/>
          <p:cNvSpPr/>
          <p:nvPr/>
        </p:nvSpPr>
        <p:spPr>
          <a:xfrm>
            <a:off x="4983480" y="3063240"/>
            <a:ext cx="6675120" cy="7772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3090672"/>
            <a:ext cx="6492240" cy="731520"/>
          </a:xfrm>
          <a:prstGeom prst="rect">
            <a:avLst/>
          </a:prstGeom>
          <a:noFill/>
        </p:spPr>
        <p:txBody>
          <a:bodyPr wrap="square" lIns="45720" rIns="45720">
            <a:spAutoFit/>
          </a:bodyPr>
          <a:lstStyle/>
          <a:p>
            <a:pPr>
              <a:spcAft>
                <a:spcPts val="100"/>
              </a:spcAft>
            </a:pPr>
            <a:r>
              <a:rPr sz="1000" b="1">
                <a:solidFill>
                  <a:srgbClr val="0F8B8D"/>
                </a:solidFill>
                <a:latin typeface="Calibri"/>
              </a:rPr>
              <a:t>M8 package (first version, still being checked against its lab)</a:t>
            </a:r>
          </a:p>
          <a:p>
            <a:pPr>
              <a:spcAft>
                <a:spcPts val="100"/>
              </a:spcAft>
            </a:pPr>
            <a:r>
              <a:rPr sz="1000" b="0">
                <a:solidFill>
                  <a:srgbClr val="222B38"/>
                </a:solidFill>
                <a:latin typeface="Calibri"/>
              </a:rPr>
              <a:t>FastAPI /chat and /health; 20-case golden set, 20 of 20 stored and live. Blocked tickets return 200 plus human review.</a:t>
            </a:r>
          </a:p>
        </p:txBody>
      </p:sp>
      <p:graphicFrame>
        <p:nvGraphicFramePr>
          <p:cNvPr id="14" name="Table 13"/>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93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5" name="Rounded Rectangle 14"/>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93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