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d1dc05750b483c" /><Relationship Type="http://schemas.openxmlformats.org/officeDocument/2006/relationships/extended-properties" Target="/docProps/app.xml" Id="R1f27c201712f4199" /><Relationship Type="http://schemas.openxmlformats.org/officeDocument/2006/relationships/officeDocument" Target="/ppt/presentation.xml" Id="R2ee8a6a94d7d47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d8edf41c4c487d"/>
  </p:sldMasterIdLst>
  <p:notesMasterIdLst>
    <p:notesMasterId xmlns:r="http://schemas.openxmlformats.org/officeDocument/2006/relationships" r:id="R95906886ac084bad"/>
  </p:notesMasterIdLst>
  <p:sldIdLst>
    <p:sldId xmlns:r="http://schemas.openxmlformats.org/officeDocument/2006/relationships" id="256" r:id="R614fda9ab0cf4829"/>
    <p:sldId xmlns:r="http://schemas.openxmlformats.org/officeDocument/2006/relationships" id="257" r:id="R2c6d348c793d4a62"/>
    <p:sldId xmlns:r="http://schemas.openxmlformats.org/officeDocument/2006/relationships" id="258" r:id="R810e6a7ccd0740b0"/>
    <p:sldId xmlns:r="http://schemas.openxmlformats.org/officeDocument/2006/relationships" id="259" r:id="R1c22ed91964f46bc"/>
    <p:sldId xmlns:r="http://schemas.openxmlformats.org/officeDocument/2006/relationships" id="260" r:id="Rc372bb3d4bd34f06"/>
    <p:sldId xmlns:r="http://schemas.openxmlformats.org/officeDocument/2006/relationships" id="261" r:id="R4c9646a5ad244cfb"/>
    <p:sldId xmlns:r="http://schemas.openxmlformats.org/officeDocument/2006/relationships" id="262" r:id="R812fa3c9098444bf"/>
    <p:sldId xmlns:r="http://schemas.openxmlformats.org/officeDocument/2006/relationships" id="263" r:id="R08680531ed544979"/>
    <p:sldId xmlns:r="http://schemas.openxmlformats.org/officeDocument/2006/relationships" id="264" r:id="Reffe9121f66c4246"/>
    <p:sldId xmlns:r="http://schemas.openxmlformats.org/officeDocument/2006/relationships" id="265" r:id="Rdfa2d047824d4d54"/>
    <p:sldId xmlns:r="http://schemas.openxmlformats.org/officeDocument/2006/relationships" id="266" r:id="R90912a88857d4b06"/>
    <p:sldId xmlns:r="http://schemas.openxmlformats.org/officeDocument/2006/relationships" id="267" r:id="Rb62b1c8bb3444fb5"/>
    <p:sldId xmlns:r="http://schemas.openxmlformats.org/officeDocument/2006/relationships" id="268" r:id="Rf9e8a4a35da545e8"/>
    <p:sldId xmlns:r="http://schemas.openxmlformats.org/officeDocument/2006/relationships" id="269" r:id="Rcfdaa4acc7d24213"/>
    <p:sldId xmlns:r="http://schemas.openxmlformats.org/officeDocument/2006/relationships" id="270" r:id="Ra783968f660149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b32f87974e4f8e" /><Relationship Type="http://schemas.openxmlformats.org/officeDocument/2006/relationships/slideMaster" Target="/ppt/slideMasters/slideMaster1.xml" Id="R1ad8edf41c4c487d" /><Relationship Type="http://schemas.openxmlformats.org/officeDocument/2006/relationships/notesMaster" Target="/ppt/notesMasters/notesMaster1.xml" Id="R95906886ac084bad" /><Relationship Type="http://schemas.openxmlformats.org/officeDocument/2006/relationships/presProps" Target="/ppt/presProps.xml" Id="R3313a37f117c4298" /><Relationship Type="http://schemas.openxmlformats.org/officeDocument/2006/relationships/tableStyles" Target="/ppt/tableStyles.xml" Id="R410cfe634c2a47c6" /><Relationship Type="http://schemas.openxmlformats.org/officeDocument/2006/relationships/slide" Target="/ppt/slides/slide1.xml" Id="R614fda9ab0cf4829" /><Relationship Type="http://schemas.openxmlformats.org/officeDocument/2006/relationships/slide" Target="/ppt/slides/slide2.xml" Id="R2c6d348c793d4a62" /><Relationship Type="http://schemas.openxmlformats.org/officeDocument/2006/relationships/slide" Target="/ppt/slides/slide3.xml" Id="R810e6a7ccd0740b0" /><Relationship Type="http://schemas.openxmlformats.org/officeDocument/2006/relationships/slide" Target="/ppt/slides/slide4.xml" Id="R1c22ed91964f46bc" /><Relationship Type="http://schemas.openxmlformats.org/officeDocument/2006/relationships/slide" Target="/ppt/slides/slide5.xml" Id="Rc372bb3d4bd34f06" /><Relationship Type="http://schemas.openxmlformats.org/officeDocument/2006/relationships/slide" Target="/ppt/slides/slide6.xml" Id="R4c9646a5ad244cfb" /><Relationship Type="http://schemas.openxmlformats.org/officeDocument/2006/relationships/slide" Target="/ppt/slides/slide7.xml" Id="R812fa3c9098444bf" /><Relationship Type="http://schemas.openxmlformats.org/officeDocument/2006/relationships/slide" Target="/ppt/slides/slide8.xml" Id="R08680531ed544979" /><Relationship Type="http://schemas.openxmlformats.org/officeDocument/2006/relationships/slide" Target="/ppt/slides/slide9.xml" Id="Reffe9121f66c4246" /><Relationship Type="http://schemas.openxmlformats.org/officeDocument/2006/relationships/slide" Target="/ppt/slides/slide10.xml" Id="Rdfa2d047824d4d54" /><Relationship Type="http://schemas.openxmlformats.org/officeDocument/2006/relationships/slide" Target="/ppt/slides/slide11.xml" Id="R90912a88857d4b06" /><Relationship Type="http://schemas.openxmlformats.org/officeDocument/2006/relationships/slide" Target="/ppt/slides/slide12.xml" Id="Rb62b1c8bb3444fb5" /><Relationship Type="http://schemas.openxmlformats.org/officeDocument/2006/relationships/slide" Target="/ppt/slides/slide13.xml" Id="Rf9e8a4a35da545e8" /><Relationship Type="http://schemas.openxmlformats.org/officeDocument/2006/relationships/slide" Target="/ppt/slides/slide14.xml" Id="Rcfdaa4acc7d24213" /><Relationship Type="http://schemas.openxmlformats.org/officeDocument/2006/relationships/slide" Target="/ppt/slides/slide15.xml" Id="Ra783968f660149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20b94dbce34f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7246f237834e57" /><Relationship Type="http://schemas.openxmlformats.org/officeDocument/2006/relationships/notesMaster" Target="/ppt/notesMasters/notesMaster1.xml" Id="R30da5e0f193f48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d13b1b91604620" /><Relationship Type="http://schemas.openxmlformats.org/officeDocument/2006/relationships/notesMaster" Target="/ppt/notesMasters/notesMaster1.xml" Id="Rd8c72c8477344e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9412d3e0044265" /><Relationship Type="http://schemas.openxmlformats.org/officeDocument/2006/relationships/notesMaster" Target="/ppt/notesMasters/notesMaster1.xml" Id="R01b68cb6aff04c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6d06e532cf4e13" /><Relationship Type="http://schemas.openxmlformats.org/officeDocument/2006/relationships/notesMaster" Target="/ppt/notesMasters/notesMaster1.xml" Id="Re471181472f948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a6a67964aea4597" /><Relationship Type="http://schemas.openxmlformats.org/officeDocument/2006/relationships/notesMaster" Target="/ppt/notesMasters/notesMaster1.xml" Id="R8db5081be0a74e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e73e8333ef475c" /><Relationship Type="http://schemas.openxmlformats.org/officeDocument/2006/relationships/notesMaster" Target="/ppt/notesMasters/notesMaster1.xml" Id="R0d999282ce2e486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86e5857b834f94" /><Relationship Type="http://schemas.openxmlformats.org/officeDocument/2006/relationships/notesMaster" Target="/ppt/notesMasters/notesMaster1.xml" Id="R99108b3d60a14d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23b789d72da4633" /><Relationship Type="http://schemas.openxmlformats.org/officeDocument/2006/relationships/notesMaster" Target="/ppt/notesMasters/notesMaster1.xml" Id="Rd199bd4f4046447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0f6704964e4ce3" /><Relationship Type="http://schemas.openxmlformats.org/officeDocument/2006/relationships/notesMaster" Target="/ppt/notesMasters/notesMaster1.xml" Id="R1634fefa195c43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d25844725b4b19" /><Relationship Type="http://schemas.openxmlformats.org/officeDocument/2006/relationships/notesMaster" Target="/ppt/notesMasters/notesMaster1.xml" Id="R3d10de2baa754ae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0adaf2c74f45d4" /><Relationship Type="http://schemas.openxmlformats.org/officeDocument/2006/relationships/notesMaster" Target="/ppt/notesMasters/notesMaster1.xml" Id="R0a207e5e2b4b46e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329f44f74744001" /><Relationship Type="http://schemas.openxmlformats.org/officeDocument/2006/relationships/notesMaster" Target="/ppt/notesMasters/notesMaster1.xml" Id="R99b9b1ce62ea46c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73ab57a86e4db5" /><Relationship Type="http://schemas.openxmlformats.org/officeDocument/2006/relationships/notesMaster" Target="/ppt/notesMasters/notesMaster1.xml" Id="R2ae3212834864c2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a043f8030514588" /><Relationship Type="http://schemas.openxmlformats.org/officeDocument/2006/relationships/notesMaster" Target="/ppt/notesMasters/notesMaster1.xml" Id="R5568dfc59c9c47b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a8021b22efb41a9" /><Relationship Type="http://schemas.openxmlformats.org/officeDocument/2006/relationships/notesMaster" Target="/ppt/notesMasters/notesMaster1.xml" Id="Rd09c868c8f3446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5582bfcd064e9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1d0399911646f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c5a92f2dd148e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0bf6e618494ac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4d92fa3c274ed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8b801ff4ba49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F0239D-4632-48E7-8D46-46C2D85D92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3C9E75A-C168-4CAC-9531-163CD45ED2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641D82B-D73F-44CE-9308-6CF6095BDE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D12FFFC-0DB3-4712-A112-549BFB1916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0735ACD-E409-4EA8-8DCF-70E57450B4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7D93146-9FC1-4789-86DE-25F57C4261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75C927D-EC7D-48C6-BE3B-323E270582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5AAB493-1A4C-4F89-91D9-49A960B869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58835D-694E-4D30-B372-EAF03AE580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382C699-54B5-4708-8641-2B7C5F8C709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e263a376054725" /><Relationship Type="http://schemas.openxmlformats.org/officeDocument/2006/relationships/slideLayout" Target="/ppt/slideLayouts/slideLayout1.xml" Id="R32ebd9a552d14e53" /><Relationship Type="http://schemas.openxmlformats.org/officeDocument/2006/relationships/slideLayout" Target="/ppt/slideLayouts/slideLayout2.xml" Id="Rc8772467c37f416f" /><Relationship Type="http://schemas.openxmlformats.org/officeDocument/2006/relationships/slideLayout" Target="/ppt/slideLayouts/slideLayout3.xml" Id="R0c553d86d2624626" /><Relationship Type="http://schemas.openxmlformats.org/officeDocument/2006/relationships/slideLayout" Target="/ppt/slideLayouts/slideLayout4.xml" Id="Rdc615099dc6a4160" /><Relationship Type="http://schemas.openxmlformats.org/officeDocument/2006/relationships/slideLayout" Target="/ppt/slideLayouts/slideLayout5.xml" Id="Rf4366980a92f4384" /><Relationship Type="http://schemas.openxmlformats.org/officeDocument/2006/relationships/slideLayout" Target="/ppt/slideLayouts/slideLayout6.xml" Id="R3f916d73339f44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ebd9a552d14e53"/>
    <p:sldLayoutId xmlns:r="http://schemas.openxmlformats.org/officeDocument/2006/relationships" id="2147483650" r:id="Rc8772467c37f416f"/>
    <p:sldLayoutId xmlns:r="http://schemas.openxmlformats.org/officeDocument/2006/relationships" id="2147483651" r:id="R0c553d86d2624626"/>
    <p:sldLayoutId xmlns:r="http://schemas.openxmlformats.org/officeDocument/2006/relationships" id="2147483652" r:id="Rdc615099dc6a4160"/>
    <p:sldLayoutId xmlns:r="http://schemas.openxmlformats.org/officeDocument/2006/relationships" id="2147483653" r:id="Rf4366980a92f4384"/>
    <p:sldLayoutId xmlns:r="http://schemas.openxmlformats.org/officeDocument/2006/relationships" id="2147483654" r:id="R3f916d73339f44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0083f2f07e4eb4" /><Relationship Type="http://schemas.openxmlformats.org/officeDocument/2006/relationships/notesSlide" Target="/ppt/notesSlides/notesSlide1.xml" Id="Ra6e2e6f2f27540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3064ce71ed42d8" /><Relationship Type="http://schemas.openxmlformats.org/officeDocument/2006/relationships/notesSlide" Target="/ppt/notesSlides/notesSlide2.xml" Id="R2b058e54f4274b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740e6fb3bd4e9d" /><Relationship Type="http://schemas.openxmlformats.org/officeDocument/2006/relationships/notesSlide" Target="/ppt/notesSlides/notesSlide3.xml" Id="R94b13d60598f48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7e3cd18654442e" /><Relationship Type="http://schemas.openxmlformats.org/officeDocument/2006/relationships/notesSlide" Target="/ppt/notesSlides/notesSlide4.xml" Id="R78e324697c4349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6d5b7fa0ff4972" /><Relationship Type="http://schemas.openxmlformats.org/officeDocument/2006/relationships/notesSlide" Target="/ppt/notesSlides/notesSlide5.xml" Id="Rd19f2a34fc7a4f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124423b1924fab" /><Relationship Type="http://schemas.openxmlformats.org/officeDocument/2006/relationships/notesSlide" Target="/ppt/notesSlides/notesSlide6.xml" Id="R0565144abf1e41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cbd6a641444bcd" /><Relationship Type="http://schemas.openxmlformats.org/officeDocument/2006/relationships/notesSlide" Target="/ppt/notesSlides/notesSlide7.xml" Id="R91afc57615304d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561d4b703c4e01" /><Relationship Type="http://schemas.openxmlformats.org/officeDocument/2006/relationships/notesSlide" Target="/ppt/notesSlides/notesSlide8.xml" Id="R95002587008c4de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23503a40b64a60" /><Relationship Type="http://schemas.openxmlformats.org/officeDocument/2006/relationships/notesSlide" Target="/ppt/notesSlides/notesSlide9.xml" Id="R9c591c9a92c741c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16ed8d0d794a8c" /><Relationship Type="http://schemas.openxmlformats.org/officeDocument/2006/relationships/notesSlide" Target="/ppt/notesSlides/notesSlide10.xml" Id="Re6046ea4ef6e48b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cd25a4f01146a7" /><Relationship Type="http://schemas.openxmlformats.org/officeDocument/2006/relationships/notesSlide" Target="/ppt/notesSlides/notesSlide11.xml" Id="R47fe75d4dca34d2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d2b9bb299a4100" /><Relationship Type="http://schemas.openxmlformats.org/officeDocument/2006/relationships/notesSlide" Target="/ppt/notesSlides/notesSlide12.xml" Id="R99f9853e0184429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177c91cdaa4c7e" /><Relationship Type="http://schemas.openxmlformats.org/officeDocument/2006/relationships/notesSlide" Target="/ppt/notesSlides/notesSlide13.xml" Id="R986f61a550a54af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5ea7e8adb149b4" /><Relationship Type="http://schemas.openxmlformats.org/officeDocument/2006/relationships/notesSlide" Target="/ppt/notesSlides/notesSlide14.xml" Id="R1756ad23bee5403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c7d35273fe47cc" /><Relationship Type="http://schemas.openxmlformats.org/officeDocument/2006/relationships/notesSlide" Target="/ppt/notesSlides/notesSlide15.xml" Id="R62ce00a872fe486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232516-CEA9-4FB9-B185-4B40F4ED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4ED8"/>
                </a:solidFill>
              </a:defRPr>
            </a:pPr>
            <a:r>
              <a:rPr sz="1500" b="1">
                <a:solidFill>
                  <a:srgbClr val="1D4ED8"/>
                </a:solidFill>
              </a:rPr>
              <a:t>IITH AI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729802-CEB6-48A7-B58B-393BBE4A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02A43"/>
                </a:solidFill>
              </a:defRPr>
            </a:pPr>
            <a:r>
              <a:rPr sz="4350" b="1">
                <a:solidFill>
                  <a:srgbClr val="102A43"/>
                </a:solidFill>
              </a:rPr>
              <a:t>ShopSense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A2DC9-790A-4FC5-AC84-97C521BB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Customer care and order operations assistant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58C53-0105-4ADD-AE2B-3D2BEC6E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C6670"/>
                </a:solidFill>
              </a:defRPr>
            </a:pPr>
            <a:r>
              <a:rPr sz="1200" b="0">
                <a:solidFill>
                  <a:srgbClr val="5C6670"/>
                </a:solidFill>
              </a:rPr>
              <a:t>Modules completed: M1 to M5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744277-4D42-40ED-9A4E-D261FA5B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066800"/>
            <a:ext cx="3333750" cy="3714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0EA5E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0AECC4-3383-4F87-B8E6-59FE1B14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430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Current 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42305-0EBC-4EAA-9CE8-08F8ADF3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6215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2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D4ED8"/>
                </a:solidFill>
              </a:defRPr>
            </a:pPr>
            <a:r>
              <a:rPr sz="4200" b="1">
                <a:solidFill>
                  <a:srgbClr val="1D4ED8"/>
                </a:solidFill>
              </a:rPr>
              <a:t>M5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463A5-5660-48DE-8190-AF7BF9BD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LangGraph workflow with checkpointing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6B4E6-1791-46D1-A1D1-35E0279C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00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GitHub repo includes code, tests, reports, corpus and deck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D02248-DBBE-4833-AC7A-ED7353C3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01</a:t>
            </a:r>
          </a:p>
        </p:txBody>
      </p:sp>
    </p:spTree>
    <p:extLst>
      <p:ext uri="{BB962C8B-B14F-4D97-AF65-F5344CB8AC3E}">
        <p14:creationId xmlns:p14="http://schemas.microsoft.com/office/powerpoint/2010/main" val="5202151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E38137-365A-44C0-8D64-5697EE30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F1A62-14E3-4D21-A686-4B28757C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Problem and milestone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DF7791-8BC9-4312-AA62-1748AF50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7C51A-CA88-4805-AEC2-F7004596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D14E24-AC86-4E14-866B-1D9BDA4D4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10287E-5970-4F4E-A5F3-5FF47B0D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094CAE-1C36-4B81-B48E-C1E7DBF2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Retail support receives refund, shipping, warranty and escalation tickets with messy customer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CE0DF-749D-44E1-92D2-D1E7E058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F5018B-C32D-425E-82AD-C42B32D9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630F35-3AAA-4720-A696-C496F0AB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861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System goal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80715A-3A83-4A6A-9C71-1A877B87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Parse tickets, choose safe actions, remember customer context and answer policy questions from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71A904-7B9F-4140-A2F5-D3B14F8E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00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Milestone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10864D-9BC8-44B2-9835-2406C609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186719-8DC7-47F1-95E9-450580C2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52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74E8C8-64A4-4FF5-B46D-1C3E755D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955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intake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DC0D26-BC5A-405E-A156-619304B6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Raw message to validated `SupportTicket`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89B3F9-A238-4D29-A769-DD85399C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14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B3F5CE-235D-4241-A0C8-17DABD20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71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192F26-479E-4C3E-8307-FBDD63E0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146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3D85DC-118D-47BC-8E83-16F101AF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194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Tool-backed safe action proposal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4B4BC9-30F3-4D16-BC63-360ABCE1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33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3A78E5-59B8-4A3A-904B-594A7B6A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90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E1D279-3B6A-402A-A169-37D728B1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memory and index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B47377-2923-47A8-9E57-7756DCD9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386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Customer history plus Qdrant policy retrieval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54079-13CB-4DB3-A5B5-CA65A1EC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52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DDFD2C-C91B-498A-9F8F-CE109042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CF1835-A9EE-49BF-A965-B3F515AC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5529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M4 grounded RAG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4588F3-3356-440E-A70C-E8B1BDAA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577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Hybrid retrieval, citations and groundedness checks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7213CD-9E68-4555-A840-D263E57E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02</a:t>
            </a:r>
          </a:p>
        </p:txBody>
      </p:sp>
    </p:spTree>
    <p:extLst>
      <p:ext uri="{BB962C8B-B14F-4D97-AF65-F5344CB8AC3E}">
        <p14:creationId xmlns:p14="http://schemas.microsoft.com/office/powerpoint/2010/main" val="16957464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06A2CA-46DA-41E1-94C5-6D9005F4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081C81-155B-49C2-96B0-B366FDBA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End-to-end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53BDE9-5129-4395-9D03-8884B5E90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827222-3492-4B2F-AFDA-B0DB5CAF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10287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ADE29-686F-4BB9-BCE5-5B2C5274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37E30-11E3-4743-9596-934AB58B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986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Customer ticket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DEDED-D483-4152-9810-A0C2D87A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986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KW-O-000950 arrived 4 days late. The customer demands a 6,499 INR refund and mentions the National Consumer Helpline.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14A1B5-7527-44B4-BD86-C6BEB403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1459C-3C3E-4845-BD77-F243CFAE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489504-B22E-45C0-84EA-690BF771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1465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parses the message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D5EDC1-5EF7-44B6-85C6-5415B387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1945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Extracts refund request, order ID, angry sentiment, amount and escalation signals.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0C419F-9C37-46B9-A790-1DFF41B7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71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F2E761-D513-435E-A912-ADB1C2B1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29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235FF5-726E-46E3-8D4A-8BE3DDEA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719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chooses the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699D36-A89B-4CA5-8714-39FE173E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767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Routes to human review using `legal_or_regulatory`; no automatic refund.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4FE031-506D-4A5D-AAFD-D70F867A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921E38-FCEF-43B7-B9A2-D3D30272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7D8183-03B3-425C-BE23-65E5BAC2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2915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adds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F678C1-DC3D-4B66-B428-DE735FA2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3395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Stores the customer interaction and retrieves related refund and escalation policy chunks.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FF0A4A-9B82-4824-8A02-D19642E3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86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F21579-83FE-4D7E-8374-2DF21226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BB0874-E083-4A1A-9D86-B264FAF8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86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M4 explains the 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361105-812C-4C7A-9B79-B183B5AE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791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Answers from evidence and cites the relevant policy documents.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0EE0B7-3DE1-4178-8133-388C4671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03</a:t>
            </a:r>
          </a:p>
        </p:txBody>
      </p:sp>
    </p:spTree>
    <p:extLst>
      <p:ext uri="{BB962C8B-B14F-4D97-AF65-F5344CB8AC3E}">
        <p14:creationId xmlns:p14="http://schemas.microsoft.com/office/powerpoint/2010/main" val="9781137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CA0A6B-C878-464D-866F-16ABEC11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18471-CC1D-404F-836E-B9DDC19A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intake parsing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11C300-C031-4357-A732-58C426BA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EA504-072B-425B-8606-D6C7DB75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A6AF9-256D-475D-B4C3-C93C9B3A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8594F-1DC9-452C-BAFF-86F241FA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M1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9F7D43-B8E1-4088-BD09-E6DE0D55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95500"/>
            <a:ext cx="4343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raw customer text into a validated Pydantic `SupportTicket` object.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26277-3F27-4970-9AF3-6A074609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65454A-3253-4A36-B5EB-77C943EF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EAC167-CE17-4DE5-8A60-3A8AFE21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909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LLM involvement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623B75-1875-4038-BADE-61C4CB06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95700"/>
            <a:ext cx="4343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LLM handles language understanding only. Python validates and repairs policy-sensitive fields.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F4C170-AF7C-4459-977F-6AEB0274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371475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C1BBB0-56C6-4823-8C44-4D8F93C6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66900"/>
            <a:ext cx="33718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order_ref: KW-O-000950,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sentiment: angry,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claimed_amount_inr: 6499,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escalation_signals: [...]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0FE9ED-7480-4167-A1D6-0F06E6C9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3714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58F622-F7EA-4ADA-942D-9CEA2D282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E272CC-A996-4211-A672-51DCA01C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81500"/>
            <a:ext cx="3295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Validation rules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691D82-B59B-4CEC-9B21-B99DFC7D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86300"/>
            <a:ext cx="329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IDs must appear in the text. Refund-cap and repeat-contact signals are recomputed in code.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F83DC-FAF3-4364-8242-CB247368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04</a:t>
            </a:r>
          </a:p>
        </p:txBody>
      </p:sp>
    </p:spTree>
    <p:extLst>
      <p:ext uri="{BB962C8B-B14F-4D97-AF65-F5344CB8AC3E}">
        <p14:creationId xmlns:p14="http://schemas.microsoft.com/office/powerpoint/2010/main" val="15672219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B961A9-A559-4D66-8E7A-1BEBB88E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0818EE-4850-4059-9B57-5E72D0E1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12F01A-941C-43B5-8D7E-2401660D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25F452-FF18-4471-AD12-EAFDA269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60/60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3ADB3C-593A-4270-9929-5F453ABA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Parsed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E32F2F-AC9D-4DC9-AE52-2CDE1639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No parse failures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CBD24A-4155-4C1A-8F35-460266155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FE24CF-3708-4356-AA3D-0149BF92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Intent accuracy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7F0798-BF56-4D89-94CD-D3E91F14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Main tuning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F57408-8752-4085-ADA5-FF917B99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0.783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D754FD-2EAD-4ED6-8A1B-6AC0C7E2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Sentiment 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42DEE3-286F-4A99-956C-1C32F3F3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Useful but imperfect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651420-67F3-47D6-819B-DEBB6948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0.896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A0A1EB-37AC-430E-882E-4FFF55EA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Escalation precision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CC49FA-E9F0-46C1-A6D0-372B5D2F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Strong signal quality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D0290A-266A-41E2-A7A2-291EA63E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876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5AF304-F74B-4F7E-AFDE-DD8CBFF2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81FC40-691D-4D46-AAA7-F7E56C47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Acceptance 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356A9F-0FE0-4692-BECA-57CB1D04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43400"/>
            <a:ext cx="834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M1 is functional and measured. The report is committed as `evaluation/reports/m1_holdout_n60_v4.json`.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BA19EF-366E-4DCC-9760-9372CD95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05</a:t>
            </a:r>
          </a:p>
        </p:txBody>
      </p:sp>
    </p:spTree>
    <p:extLst>
      <p:ext uri="{BB962C8B-B14F-4D97-AF65-F5344CB8AC3E}">
        <p14:creationId xmlns:p14="http://schemas.microsoft.com/office/powerpoint/2010/main" val="19883546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D0E29F-0294-4082-A609-050C5FB2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76956-1908-4165-864C-73E2BD63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action planning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C014DC-5A05-41DF-AA00-ACDA34EF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78CCCE-1047-442E-B91D-68942A0B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3820FA-F095-4968-8C43-86975C54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3ADA4-D868-4857-83E6-F36DF504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M2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54C427-C4DA-42FD-8B52-92F8D6C7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Converts the M1 ticket into a safe operational decision using local tools and policy tables.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59E00D-1C4D-4DC9-9D9C-9A256FB7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2A8A02-8A89-475B-A152-6F5B0333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A09894-BDC7-4569-829F-0241DA23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718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3223A-3DD6-4AF0-BE24-43A40C6A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766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lookup, shipment tracking, refund amount calculation, refund API, replacement API and human queue.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36DA76-8728-44B7-810B-F91901EA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192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4B9F28-7409-47F0-AC01-75FD2D3D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255EC1-5258-4CFB-999A-A2BB7635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Guardrail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DA0CDD-869E-45F9-B4F8-331167E0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764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Mutable actions are proposal-only unless `execute=True`. High-value refunds and legal issues route to humans.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65D387-F111-4128-8984-3C08A371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76F088-57C4-417D-9941-1F1ACE01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B99BEA-9ED0-43BA-8417-970211FE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718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Legal priority fix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3B2C9C-26D7-4A2F-815D-BEFDF5A3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766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When multiple signals appear, `legal_or_regulatory` wins over angry tone and over-cap refund.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0C9ACA-41DA-44BD-B9AF-6F57F3CC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06</a:t>
            </a:r>
          </a:p>
        </p:txBody>
      </p:sp>
    </p:spTree>
    <p:extLst>
      <p:ext uri="{BB962C8B-B14F-4D97-AF65-F5344CB8AC3E}">
        <p14:creationId xmlns:p14="http://schemas.microsoft.com/office/powerpoint/2010/main" val="4197844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4BF408-AC8A-4CBD-A1DC-DEE48D27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78458D-8CA3-4350-B474-14D090BC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decision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DB0C3-E93B-4DE2-B408-5F5C2814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D26BE-9449-4A88-A5DC-C0B35135E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447675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BC13F-9C29-46A9-AAD8-D6343541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66900"/>
            <a:ext cx="41338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recommended_action: human_review,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requires_human: true,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tool_name: flag_for_human,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tool_args: 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trigger: legal_or_regulatory,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order_ref: KW-O-000950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executed: false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500EF4-FCE4-4C03-9B9B-BD05ACD1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Why this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8339A-AB9E-46D4-B3BF-B8831A38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47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B0938A-DCA7-4C62-B4DC-35DEF453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05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843E1F-08F9-406B-BD81-FE0D3106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No data leak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5B48DD-CEEE-47E4-BF33-52F6FE32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527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 is scoped to the customer reference.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A27E3-51DC-475A-BADA-2E262B77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05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B90C2D-6DE4-4929-A8A3-BECC55BB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623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01CFB3-BBA0-4E70-A919-06D83E20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051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No unsafe refund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91C48-7C1E-4953-8D02-D3C4F3D6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099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6,499 INR exceeds the automated cap.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2A9D3D-7488-48C6-8595-CBD05EE9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62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2A64E-9AF3-4D12-AE27-F6FB299C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3776ED-50AA-46DD-AD7A-ACA013B5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624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Human 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F26D11-7963-4764-ACB9-A095ADAE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672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Legal language sends the case to legal review.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2C2F24-1259-4AA9-A202-D18494D7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07</a:t>
            </a:r>
          </a:p>
        </p:txBody>
      </p:sp>
    </p:spTree>
    <p:extLst>
      <p:ext uri="{BB962C8B-B14F-4D97-AF65-F5344CB8AC3E}">
        <p14:creationId xmlns:p14="http://schemas.microsoft.com/office/powerpoint/2010/main" val="14262832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0DB0E9-38D9-40B6-ADEB-523DEFF8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017FE7-ABFC-4B88-B788-953F3CD7E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customer memory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9F389-CFAD-439E-9F9C-04837141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95A715-865A-45A6-8303-DE8143EB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762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0DA224-5170-474A-8613-F2214C34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01A1F6-0A44-40BE-A4F4-9B7AB4CD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M3 stores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89373A-6F7A-49A7-958D-B288F05A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14550"/>
            <a:ext cx="4343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One JSON file per customer: preferences, recent tickets, sentiment, escalation signals and recommended actions.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37CEF2-0781-4EAE-AC17-6B16943B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4762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990FF7-9EB9-48B4-A600-C700090E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4235F-8B6C-493B-9CD8-660BF8E9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Where it lives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5C645C-C0BB-4899-99CD-7211F269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343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`runtime/memory/customers/`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Runtime state is local and can be reset without changing seed data.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EC2C9C-A83C-43AE-B131-6A6C9C05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52600"/>
            <a:ext cx="37147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1123C2-51D4-40C6-8A67-E9546840B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24050"/>
            <a:ext cx="33718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customer_ref: KW-C-00285,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ticket_count: 1,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recent_tickets: [{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recommended_action: human_review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79103E-CDF7-4A5B-9494-AEC26217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Later milestones can use this memory for repeat-contact context and customer preferences.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FBD417-5BDA-4A97-8027-30DBD27B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08</a:t>
            </a:r>
          </a:p>
        </p:txBody>
      </p:sp>
    </p:spTree>
    <p:extLst>
      <p:ext uri="{BB962C8B-B14F-4D97-AF65-F5344CB8AC3E}">
        <p14:creationId xmlns:p14="http://schemas.microsoft.com/office/powerpoint/2010/main" val="10534558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446E59-4449-4D18-BCE4-43F02686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00E163-A3E6-4CA0-BA32-220453CC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policy index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084B71-C8A4-43F6-AB44-486B7EEB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1D97C5-1D42-4490-91E2-8EEBE02C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E52DF4-8492-459A-943B-0367474B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0AB21-0600-4A0F-8D18-5D011F31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Policy corpus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81A447-61A5-45B0-8905-67CEE51A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Returns, refund authority, shipping, warranty, escalation, fraud and category addenda are committed under `data/shopsense/corpus/`.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2E42B9-6D45-48B5-9F10-F67A3513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4B81E9-BFD0-4D52-9EDE-EC4B2A33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DF83DB-B5A8-49CE-B8A7-E9122200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Local Qdrant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CC9390-05FC-42EB-99D6-BE181FED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9570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`scripts/build_policy_index.py` creates a local vector index under `runtime/qdrant/`. No Qdrant Cloud is used.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5FF2DC-E76A-434E-B7F7-16450D7B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4095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0DEB21-AA5C-493A-B0BC-5F07B286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5D404F-1F91-4590-BC44-EC39D96F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Retrieval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179041-64F3-44DC-B545-8D839DC7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76450"/>
            <a:ext cx="3676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M3 returns policy chunks. It does not yet produce the final policy answer.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AB279-AA6B-4B78-A679-3FB9BEB6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095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3C3A4C-1A9F-48AC-96DB-1FCED4C7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2EFBDA-EAF3-4248-9CBC-6A0EE8F5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9090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Test coverage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C99B2B-25B1-4E6C-865D-B7BB231F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95700"/>
            <a:ext cx="3676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Memory persistence, Qdrant build and policy retrieval are covered by unit tests.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E6E42E-FE12-4079-8409-2DC04F31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09</a:t>
            </a:r>
          </a:p>
        </p:txBody>
      </p:sp>
    </p:spTree>
    <p:extLst>
      <p:ext uri="{BB962C8B-B14F-4D97-AF65-F5344CB8AC3E}">
        <p14:creationId xmlns:p14="http://schemas.microsoft.com/office/powerpoint/2010/main" val="3801468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BF0FAC-4582-426B-A7E4-D97CAA8A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0E454D-B2B4-4DD7-B146-81442EF7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grounded policy RAG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48305A-702F-4951-978F-C916C004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28E39-AC1E-476A-89F0-C2B52117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35CC9C-A835-45F1-9F9A-5C9D6217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DA2D8D-94A4-40B4-AF71-5DE79788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M4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0CE8BC-B27F-4B26-B840-3F660D88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retrieved policy chunks into a grounded answer with citations and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B0046-1DDC-450A-89C6-42C47E4F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63DFB8-A2D8-4BAC-B5C2-E2B6A36CB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9A1D0A-B16F-4805-ADC8-A5D16B86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95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Hybrid retrieval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D5737A-95B5-4325-9155-328483B1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004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Combines Qdrant vector hits with deterministic keyword search and reranking.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EC7803-6DE6-4440-8600-73F1F1BD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979EB0-48F0-4586-9916-7DB17D52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90C9F4-BD56-4E9F-8265-C202B5C5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Groundedness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78F16D-ACA1-44F2-ACFB-75B2A438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Numeric claims in the answer must appear in retrieved evidence. Unsupported numbers are flagged.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F160E-9766-4744-BF1C-70E2AC79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EDF657-3BEA-4CEA-B193-DF63444C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818216-2CF0-432A-A354-28DE3328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EEB463-F889-4F41-87A7-1F79333A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004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Five golden policy cases check return windows, refund cap, groceries and legal routing.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13B37B-BA52-46AF-8E20-C41FAFA5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10</a:t>
            </a:r>
          </a:p>
        </p:txBody>
      </p:sp>
    </p:spTree>
    <p:extLst>
      <p:ext uri="{BB962C8B-B14F-4D97-AF65-F5344CB8AC3E}">
        <p14:creationId xmlns:p14="http://schemas.microsoft.com/office/powerpoint/2010/main" val="17492497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76F059-34AB-489B-8B56-F2DFEEEB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A07B36-889B-4E24-944B-3E887442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answer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6021D-DAA1-4008-B5EA-2D8D6754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3F8E6B-80C4-4C03-95F5-3407B31E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CA1BD1-110E-48CA-A0BC-A256A5E4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DA15E8-8E79-476B-AD41-F7692D0C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996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E1F312-67F6-4C86-A32F-E0CCDBA58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57400"/>
            <a:ext cx="9963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Can a customer return an opened Beauty item after 11 days?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C3D979-12ED-4503-9F62-B2E86D3A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8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EC6FA0-4608-41DA-BA27-6221134A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92E19-CEAB-47B4-8489-233ADD63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996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17E791-9150-4B8E-84F3-A9986695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96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No. Beauty has a 10-day return window, and opened Beauty items cannot be returned for change of mind.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DCCEF-4465-4E95-87BB-2BD77A0E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4EACEF-B093-4B8C-BB5F-97F4CC03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4B624-1411-4DC6-A9F6-E3B605A7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0CEBE5-98F6-44B7-B962-7CB33A40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453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Category Policy Addendum: Beauty, sections on return window and opened-item restrictions.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549E52-12B1-4111-8921-34340169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C11CC8-D2DD-4A98-BB78-791E5A58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87C653-B54E-427D-934F-25F4029C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Blocked hallucination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C10D37-94FD-4F2D-92C1-068A31EA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00550"/>
            <a:ext cx="453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answer must not invent a 30-day or 45-day Beauty return window.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D0FC85-2F05-4540-8B65-DFAD4EC4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11</a:t>
            </a:r>
          </a:p>
        </p:txBody>
      </p:sp>
    </p:spTree>
    <p:extLst>
      <p:ext uri="{BB962C8B-B14F-4D97-AF65-F5344CB8AC3E}">
        <p14:creationId xmlns:p14="http://schemas.microsoft.com/office/powerpoint/2010/main" val="5404727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EA4C49-1B9E-445E-84DC-C5BBCB29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8F4B82-996D-4D62-9B16-2D042978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Verification status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B86C61-0164-4951-9A41-ED85D0DA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483BA-7939-4BA3-9655-463BF958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43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AD783C-6719-4949-B6C2-4119135B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Unit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73CC9C-8284-44E6-A951-CEED623A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All unit tests 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8DF03D-777D-423C-AE99-EFC9DC11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5/5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7A8B23-DDAF-413C-A8E9-E95D7161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M4 eval cases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79748-258C-4A80-A987-1270794C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Grounded policy eval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E4A401-7A9E-4B13-A954-AFFB1A70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D4ED8"/>
                </a:solidFill>
              </a:defRPr>
            </a:pPr>
            <a:r>
              <a:rPr sz="2550" b="1">
                <a:solidFill>
                  <a:srgbClr val="1D4ED8"/>
                </a:solidFill>
              </a:rPr>
              <a:t>60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EA6434-BDFF-4D25-8795-AB618D4B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M1 holdout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7CE6DD-B93D-4402-863A-78AEABF9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Parsed tickets in latest report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3703C2-2E2E-412D-9A44-5E2F0FBC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5B21B6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5B21B6"/>
                </a:solidFill>
              </a:defRPr>
            </a:pPr>
            <a:r>
              <a:rPr sz="2550" b="1">
                <a:solidFill>
                  <a:srgbClr val="5B21B6"/>
                </a:solidFill>
              </a:rPr>
              <a:t>84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33D19B-C288-47F3-96C9-A460DFE2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Policy chunks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F5FB9F-2CB0-4E03-8FF2-BFB0B4EC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Indexed into Qdrant Cloud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3330CD-4CA1-4775-8D7D-4C6E2F9C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38600"/>
            <a:ext cx="8191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FA2E31-1F70-4406-B1AD-4E450E1F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3860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EA3382-7A0C-491B-AE43-F18DF48D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191000"/>
            <a:ext cx="7772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Run commands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C322A1-7A21-4392-A6E0-844823CA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495800"/>
            <a:ext cx="7772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pytest tests/unit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scripts/build_policy_index.py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scripts/run_policy_eval.py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capstone.workbench.app --port 8765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E33B5C-3B1B-4E94-AE01-7F48E29D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12</a:t>
            </a:r>
          </a:p>
        </p:txBody>
      </p:sp>
    </p:spTree>
    <p:extLst>
      <p:ext uri="{BB962C8B-B14F-4D97-AF65-F5344CB8AC3E}">
        <p14:creationId xmlns:p14="http://schemas.microsoft.com/office/powerpoint/2010/main" val="20950664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511326-4FF0-4D40-9806-FC210444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0DA50C-D45D-41DB-B4B9-35430B5A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Repository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29CC5-0CB5-423D-B040-06BEFC22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7F7702-148E-43A5-9EA5-22A01EA3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A83CB2-F58F-4726-8166-D0741F24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BD72CB-476F-4E11-917A-DCEA234A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6438CF-446D-48C5-B58D-A8464CFB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7645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`intake_agent.py`, `action_agent.py`, `policy_agent.py`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90941C-8A39-419C-AA42-E0595E39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51DDF4-5097-46A9-8434-FBEAC172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FAFB7F-C27D-4FF3-96B4-80E38C10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337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 and schemas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70D171-D469-4EBC-A770-9E21E5DB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Deterministic order/refund/shipping tools plus Pydantic models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C03FF1-F6C3-40D9-99D4-D8B5A983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37912E-2261-4406-A9C3-3595CC4E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90C83C-0066-442A-85D1-37256CAC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957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Memory and RAG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9BE03E-9CC3-4A59-8F16-B8741FC8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`memory/store.py`, `rag/policy_index.py`, `rag/hybrid.py`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CDE246-1FED-41D4-A6E7-F84153B0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F9E909-C433-4FED-9272-075222EA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46E8DC-7B13-4DFD-8064-D622BBA2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14E11E-464A-4505-9A3C-2D5968AC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Committed corpus, M1 report, M4 report, workflow checkpoints and tests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FF09B5-4A03-49DC-9E81-83746196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DFF0CD-803E-4AAE-856F-013F34B1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A6DEE5-4B31-4A06-9A31-B6A32B7F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93370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Workbench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7D0D22-ED66-4A9D-A51C-6442FB2B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3850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Browser UI displays M1, M2, M3 and M4 outputs; M5 workflow has SQLite checkpoints and interrupts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484DBE-E669-4B03-8642-1CE76A3D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433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D4A0CE-527E-45E8-A91F-28B22183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433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F5C836-6DF2-49F2-944E-88A76DE4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957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Remote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549E24-0EAA-4155-9798-B33187FA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005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github.com/abhraj786/iith-ai-capstone-shopsense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3D89BA-C843-4587-995B-FD0F903B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13</a:t>
            </a:r>
          </a:p>
        </p:txBody>
      </p:sp>
    </p:spTree>
    <p:extLst>
      <p:ext uri="{BB962C8B-B14F-4D97-AF65-F5344CB8AC3E}">
        <p14:creationId xmlns:p14="http://schemas.microsoft.com/office/powerpoint/2010/main" val="1246888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5EC358-14D0-4EAB-A9FC-9F73F74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83BB17-F932-4819-B634-855A502D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M5 LangGraph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BF12D5-22D6-4DE4-ADB8-2759B7D4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89CC5-A6A3-41DB-B574-086551F6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953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ABB520-4897-4CDE-942B-77393EDA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B5F6DA-AEBF-47CC-872D-9292EC9D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Workflow path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64C46-E045-4C05-996F-D1B073627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 -&gt; memory -&gt; policy-check -&gt; action-plan -&gt; conditional route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DF7A1-DD73-42F9-A852-8EA599C1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23DB48-4FEC-45CE-9DA3-DF2E759C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6F196-7975-4BD8-B7E6-0475A8D3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432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Checkpointing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0C793-AADB-43C6-B48A-D7EFC6F0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480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LangGraph state is durably checkpointed in SQLite; JSON snapshots make each node inspectable.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7256E9-BA63-456B-BA80-785C74EA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4095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317214-15F6-457B-A329-2D4476DF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CE429A-6C0C-47CD-8E05-CB7E7B30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Auto route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B9CD6E-2990-4164-BC3D-7389D1A0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38350"/>
            <a:ext cx="3676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Low-risk cases can execute deterministic tools when `execute_actions=True`.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7DEA10-00AE-436E-8D09-C4D4304E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40957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14253B-657F-4241-9D44-77C18B36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8F3F5C-BA77-41CD-AA3D-0AACAA96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432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Human interrupt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26884B-A364-4BA5-B667-7E8C5BED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48050"/>
            <a:ext cx="3676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Angry, distressed, critical, legal, safety or over-cap cases pause with interrupt() and resume via Command.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200C58-61F8-4D55-9B97-6836801E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62500"/>
            <a:ext cx="6858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39560C-D217-479F-854B-D97E7629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33950"/>
            <a:ext cx="6515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status: human_approval_required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route: human_interrupt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trigger: legal_or_regulatory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D401D0-DEBE-4D58-84C1-CFC85F7F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14</a:t>
            </a:r>
          </a:p>
        </p:txBody>
      </p:sp>
    </p:spTree>
    <p:extLst>
      <p:ext uri="{BB962C8B-B14F-4D97-AF65-F5344CB8AC3E}">
        <p14:creationId xmlns:p14="http://schemas.microsoft.com/office/powerpoint/2010/main" val="17286989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B3C6E5-0549-49C2-8414-02FD3551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FA2CB7-8172-4256-BEE3-8363AA96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Next milestone: M6 multi-agent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D1D970-91FD-4117-97AB-58E57ED6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8ADCA4-BCDC-450E-B157-B305FB1A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5A637C-1E13-441C-B66A-0B25000A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6335D-367C-4B1C-9BD8-AB55E36D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Expected M6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637E6C-A399-4713-97C9-7328CB3B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Split the workflow into Triage, Policy RAG, Order-Actions and Escalation Reviewer agents.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161727-160E-4D6D-9BA4-53CD751E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780240-8028-4206-8D94-64186616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C995E5-21A6-4885-87B9-FF80CD82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 server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CDA318-5291-4B09-A06B-AC279AF5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Expose order/refund/shipping mock APIs through MCP so the same tools can serve chat and email channels.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F91328-2ABD-48E3-A26B-95DCA8C5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M5 gives us the orchestration spine. M6 turns the nodes into a team with shared tools and clearer ownership.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4144B1-1EAA-4408-AB88-55166E17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7147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The current M2 tools are already clean boundaries for MCP packaging.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397EAC-4FA5-4873-B55E-5D6EE475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15</a:t>
            </a:r>
          </a:p>
        </p:txBody>
      </p:sp>
    </p:spTree>
    <p:extLst>
      <p:ext uri="{BB962C8B-B14F-4D97-AF65-F5344CB8AC3E}">
        <p14:creationId xmlns:p14="http://schemas.microsoft.com/office/powerpoint/2010/main" val="16618880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2026-10-11T12:50:40.1280000Z</dcterms:created>
  <dcterms:modified xsi:type="dcterms:W3CDTF">2026-10-11T12:50:40.1280000Z</dcterms:modified>
</coreProperties>
</file>