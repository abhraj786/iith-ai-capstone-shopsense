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eec46253e4948c5" /><Relationship Type="http://schemas.openxmlformats.org/officeDocument/2006/relationships/extended-properties" Target="/docProps/app.xml" Id="R88044a62a7a746e2" /><Relationship Type="http://schemas.openxmlformats.org/officeDocument/2006/relationships/officeDocument" Target="/ppt/presentation.xml" Id="R3c29883b3db144a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1e9cffb148934fe1"/>
  </p:sldMasterIdLst>
  <p:notesMasterIdLst>
    <p:notesMasterId xmlns:r="http://schemas.openxmlformats.org/officeDocument/2006/relationships" r:id="R15b48af06e2548cb"/>
  </p:notesMasterIdLst>
  <p:sldIdLst>
    <p:sldId xmlns:r="http://schemas.openxmlformats.org/officeDocument/2006/relationships" id="256" r:id="R63571c4c70484384"/>
    <p:sldId xmlns:r="http://schemas.openxmlformats.org/officeDocument/2006/relationships" id="257" r:id="Rc681203e36444bfa"/>
    <p:sldId xmlns:r="http://schemas.openxmlformats.org/officeDocument/2006/relationships" id="258" r:id="Ree58408b51174678"/>
    <p:sldId xmlns:r="http://schemas.openxmlformats.org/officeDocument/2006/relationships" id="259" r:id="Rf333d94bf8d84f1f"/>
    <p:sldId xmlns:r="http://schemas.openxmlformats.org/officeDocument/2006/relationships" id="260" r:id="Rfcb2de003f8044b6"/>
    <p:sldId xmlns:r="http://schemas.openxmlformats.org/officeDocument/2006/relationships" id="261" r:id="Re0a3f6c7b4aa4590"/>
    <p:sldId xmlns:r="http://schemas.openxmlformats.org/officeDocument/2006/relationships" id="262" r:id="R90360090c1de4f37"/>
    <p:sldId xmlns:r="http://schemas.openxmlformats.org/officeDocument/2006/relationships" id="263" r:id="R14cf0693d3a1481f"/>
    <p:sldId xmlns:r="http://schemas.openxmlformats.org/officeDocument/2006/relationships" id="264" r:id="R7e3dcc2c0f1a4e48"/>
    <p:sldId xmlns:r="http://schemas.openxmlformats.org/officeDocument/2006/relationships" id="265" r:id="Rf01d53f76da94527"/>
    <p:sldId xmlns:r="http://schemas.openxmlformats.org/officeDocument/2006/relationships" id="266" r:id="R118c65088ffc42c7"/>
    <p:sldId xmlns:r="http://schemas.openxmlformats.org/officeDocument/2006/relationships" id="267" r:id="R848289d21c7c4e98"/>
    <p:sldId xmlns:r="http://schemas.openxmlformats.org/officeDocument/2006/relationships" id="268" r:id="R0d3a7e5535224bb4"/>
    <p:sldId xmlns:r="http://schemas.openxmlformats.org/officeDocument/2006/relationships" id="269" r:id="R868a34bc777f4a39"/>
    <p:sldId xmlns:r="http://schemas.openxmlformats.org/officeDocument/2006/relationships" id="270" r:id="R4a9213a006cc498a"/>
    <p:sldId xmlns:r="http://schemas.openxmlformats.org/officeDocument/2006/relationships" id="271" r:id="Re797a5129af84650"/>
    <p:sldId xmlns:r="http://schemas.openxmlformats.org/officeDocument/2006/relationships" id="272" r:id="R493f28381c384a1e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bb1d53e4241349ff" /><Relationship Type="http://schemas.openxmlformats.org/officeDocument/2006/relationships/slideMaster" Target="/ppt/slideMasters/slideMaster1.xml" Id="R1e9cffb148934fe1" /><Relationship Type="http://schemas.openxmlformats.org/officeDocument/2006/relationships/notesMaster" Target="/ppt/notesMasters/notesMaster1.xml" Id="R15b48af06e2548cb" /><Relationship Type="http://schemas.openxmlformats.org/officeDocument/2006/relationships/presProps" Target="/ppt/presProps.xml" Id="R6ae11d02fca044ad" /><Relationship Type="http://schemas.openxmlformats.org/officeDocument/2006/relationships/tableStyles" Target="/ppt/tableStyles.xml" Id="Rd44702c10f9c47c1" /><Relationship Type="http://schemas.openxmlformats.org/officeDocument/2006/relationships/slide" Target="/ppt/slides/slide1.xml" Id="R63571c4c70484384" /><Relationship Type="http://schemas.openxmlformats.org/officeDocument/2006/relationships/slide" Target="/ppt/slides/slide2.xml" Id="Rc681203e36444bfa" /><Relationship Type="http://schemas.openxmlformats.org/officeDocument/2006/relationships/slide" Target="/ppt/slides/slide3.xml" Id="Ree58408b51174678" /><Relationship Type="http://schemas.openxmlformats.org/officeDocument/2006/relationships/slide" Target="/ppt/slides/slide4.xml" Id="Rf333d94bf8d84f1f" /><Relationship Type="http://schemas.openxmlformats.org/officeDocument/2006/relationships/slide" Target="/ppt/slides/slide5.xml" Id="Rfcb2de003f8044b6" /><Relationship Type="http://schemas.openxmlformats.org/officeDocument/2006/relationships/slide" Target="/ppt/slides/slide6.xml" Id="Re0a3f6c7b4aa4590" /><Relationship Type="http://schemas.openxmlformats.org/officeDocument/2006/relationships/slide" Target="/ppt/slides/slide7.xml" Id="R90360090c1de4f37" /><Relationship Type="http://schemas.openxmlformats.org/officeDocument/2006/relationships/slide" Target="/ppt/slides/slide8.xml" Id="R14cf0693d3a1481f" /><Relationship Type="http://schemas.openxmlformats.org/officeDocument/2006/relationships/slide" Target="/ppt/slides/slide9.xml" Id="R7e3dcc2c0f1a4e48" /><Relationship Type="http://schemas.openxmlformats.org/officeDocument/2006/relationships/slide" Target="/ppt/slides/slide10.xml" Id="Rf01d53f76da94527" /><Relationship Type="http://schemas.openxmlformats.org/officeDocument/2006/relationships/slide" Target="/ppt/slides/slide11.xml" Id="R118c65088ffc42c7" /><Relationship Type="http://schemas.openxmlformats.org/officeDocument/2006/relationships/slide" Target="/ppt/slides/slide12.xml" Id="R848289d21c7c4e98" /><Relationship Type="http://schemas.openxmlformats.org/officeDocument/2006/relationships/slide" Target="/ppt/slides/slide13.xml" Id="R0d3a7e5535224bb4" /><Relationship Type="http://schemas.openxmlformats.org/officeDocument/2006/relationships/slide" Target="/ppt/slides/slide14.xml" Id="R868a34bc777f4a39" /><Relationship Type="http://schemas.openxmlformats.org/officeDocument/2006/relationships/slide" Target="/ppt/slides/slide15.xml" Id="R4a9213a006cc498a" /><Relationship Type="http://schemas.openxmlformats.org/officeDocument/2006/relationships/slide" Target="/ppt/slides/slide16.xml" Id="Re797a5129af84650" /><Relationship Type="http://schemas.openxmlformats.org/officeDocument/2006/relationships/slide" Target="/ppt/slides/slide17.xml" Id="R493f28381c384a1e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aaeee71623cd426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a15bd30ef0154531" /><Relationship Type="http://schemas.openxmlformats.org/officeDocument/2006/relationships/notesMaster" Target="/ppt/notesMasters/notesMaster1.xml" Id="R97e7ab6b734e4247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93932138df34e8d" /><Relationship Type="http://schemas.openxmlformats.org/officeDocument/2006/relationships/notesMaster" Target="/ppt/notesMasters/notesMaster1.xml" Id="R63e65e20f5c747e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f55f6ae8bb34c5e" /><Relationship Type="http://schemas.openxmlformats.org/officeDocument/2006/relationships/notesMaster" Target="/ppt/notesMasters/notesMaster1.xml" Id="Rab960c3daaca4e0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2feb27ddd564293" /><Relationship Type="http://schemas.openxmlformats.org/officeDocument/2006/relationships/notesMaster" Target="/ppt/notesMasters/notesMaster1.xml" Id="R1c2acd9d3ae64d8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7e871474ec78471a" /><Relationship Type="http://schemas.openxmlformats.org/officeDocument/2006/relationships/notesMaster" Target="/ppt/notesMasters/notesMaster1.xml" Id="R844b7d0d614242a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7875a1433fd7431d" /><Relationship Type="http://schemas.openxmlformats.org/officeDocument/2006/relationships/notesMaster" Target="/ppt/notesMasters/notesMaster1.xml" Id="R18f4a2bf1e9e4c3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5a3dba5bcd74240" /><Relationship Type="http://schemas.openxmlformats.org/officeDocument/2006/relationships/notesMaster" Target="/ppt/notesMasters/notesMaster1.xml" Id="R86ce7f24404d4a97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ed7268197a849a4" /><Relationship Type="http://schemas.openxmlformats.org/officeDocument/2006/relationships/notesMaster" Target="/ppt/notesMasters/notesMaster1.xml" Id="Re97a36422abc4b7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d56595bc0b6d4337" /><Relationship Type="http://schemas.openxmlformats.org/officeDocument/2006/relationships/notesMaster" Target="/ppt/notesMasters/notesMaster1.xml" Id="R9e82c879fa0045f2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07793f3d584c48c1" /><Relationship Type="http://schemas.openxmlformats.org/officeDocument/2006/relationships/notesMaster" Target="/ppt/notesMasters/notesMaster1.xml" Id="R1ed6ba0b4c6c466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f77b76f14764590" /><Relationship Type="http://schemas.openxmlformats.org/officeDocument/2006/relationships/notesMaster" Target="/ppt/notesMasters/notesMaster1.xml" Id="R4184a43c09574991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6f124a9f9a9c4866" /><Relationship Type="http://schemas.openxmlformats.org/officeDocument/2006/relationships/notesMaster" Target="/ppt/notesMasters/notesMaster1.xml" Id="R05578bee8cf04c63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2b9b7229f9674558" /><Relationship Type="http://schemas.openxmlformats.org/officeDocument/2006/relationships/notesMaster" Target="/ppt/notesMasters/notesMaster1.xml" Id="Rd8e61690145f454c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90493c00ec644fd4" /><Relationship Type="http://schemas.openxmlformats.org/officeDocument/2006/relationships/notesMaster" Target="/ppt/notesMasters/notesMaster1.xml" Id="Rdd95bdfe8ff84e8f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d9a53db8d7c4b98" /><Relationship Type="http://schemas.openxmlformats.org/officeDocument/2006/relationships/notesMaster" Target="/ppt/notesMasters/notesMaster1.xml" Id="Rdb573b8363424292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9cd13324acff47bd" /><Relationship Type="http://schemas.openxmlformats.org/officeDocument/2006/relationships/notesMaster" Target="/ppt/notesMasters/notesMaster1.xml" Id="Rc811b27f07ab481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0150ba59244e4d9e" /><Relationship Type="http://schemas.openxmlformats.org/officeDocument/2006/relationships/notesMaster" Target="/ppt/notesMasters/notesMaster1.xml" Id="Ra17f0e9d928c4804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3648bbcad60495b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8ff0a6b50f4a3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a69d58126834797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4c312ac24824592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3639e84afee445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6882191558e4aac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AC210A16-48D9-4AF8-937B-8F406D8B025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56EF7AD0-3AE2-4C6E-908C-021285F7F4B3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995B69B1-F812-4D25-B748-005AF41385B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CDFE1547-CDBF-4E1E-BBFE-E27ED495AF4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14AFE7F0-98F8-472F-8EFC-27FE35D0C91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0B9BF0E-5F6C-4D17-BCF2-F0BB3D2F255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E2E3E3F7-848F-4D83-9C3C-8AF2DA496FE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E8CDD9B2-5207-4F2F-98C7-DE83D5B936C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49FC8C4-D276-4E38-B3B0-2C9EE6335BF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1pPr>
            <a:lvl2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2pPr>
            <a:lvl3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3pPr>
            <a:lvl4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4pPr>
            <a:lvl5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5pPr>
            <a:lvl6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6pPr>
            <a:lvl7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7pPr>
            <a:lvl8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8pPr>
            <a:lvl9pPr marL="0" indent="0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3E8F65E4-6BB3-4524-96C8-6FDFAAE35CF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1pPr>
            <a:lvl2pPr marL="533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2pPr>
            <a:lvl3pPr marL="838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3pPr>
            <a:lvl4pPr marL="1143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4pPr>
            <a:lvl5pPr marL="14478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5pPr>
            <a:lvl6pPr marL="17526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6pPr>
            <a:lvl7pPr marL="20574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7pPr>
            <a:lvl8pPr marL="23622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8pPr>
            <a:lvl9pPr marL="2667000" indent="-228600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4eb52a321b69436d" /><Relationship Type="http://schemas.openxmlformats.org/officeDocument/2006/relationships/slideLayout" Target="/ppt/slideLayouts/slideLayout1.xml" Id="R8947b9efc36b4599" /><Relationship Type="http://schemas.openxmlformats.org/officeDocument/2006/relationships/slideLayout" Target="/ppt/slideLayouts/slideLayout2.xml" Id="Ra0ebe775bfb54ddc" /><Relationship Type="http://schemas.openxmlformats.org/officeDocument/2006/relationships/slideLayout" Target="/ppt/slideLayouts/slideLayout3.xml" Id="R62adc137c49e4676" /><Relationship Type="http://schemas.openxmlformats.org/officeDocument/2006/relationships/slideLayout" Target="/ppt/slideLayouts/slideLayout4.xml" Id="Rf13d8520e06345b8" /><Relationship Type="http://schemas.openxmlformats.org/officeDocument/2006/relationships/slideLayout" Target="/ppt/slideLayouts/slideLayout5.xml" Id="Rb7607f50df784f3f" /><Relationship Type="http://schemas.openxmlformats.org/officeDocument/2006/relationships/slideLayout" Target="/ppt/slideLayouts/slideLayout6.xml" Id="R0d6ddf8f5b694b41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947b9efc36b4599"/>
    <p:sldLayoutId xmlns:r="http://schemas.openxmlformats.org/officeDocument/2006/relationships" id="2147483650" r:id="Ra0ebe775bfb54ddc"/>
    <p:sldLayoutId xmlns:r="http://schemas.openxmlformats.org/officeDocument/2006/relationships" id="2147483651" r:id="R62adc137c49e4676"/>
    <p:sldLayoutId xmlns:r="http://schemas.openxmlformats.org/officeDocument/2006/relationships" id="2147483652" r:id="Rf13d8520e06345b8"/>
    <p:sldLayoutId xmlns:r="http://schemas.openxmlformats.org/officeDocument/2006/relationships" id="2147483653" r:id="Rb7607f50df784f3f"/>
    <p:sldLayoutId xmlns:r="http://schemas.openxmlformats.org/officeDocument/2006/relationships" id="2147483654" r:id="R0d6ddf8f5b694b41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fd12cc7a9e04fbf" /><Relationship Type="http://schemas.openxmlformats.org/officeDocument/2006/relationships/notesSlide" Target="/ppt/notesSlides/notesSlide1.xml" Id="R6a0f6271ad524b9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3e0909225e24ca4" /><Relationship Type="http://schemas.openxmlformats.org/officeDocument/2006/relationships/notesSlide" Target="/ppt/notesSlides/notesSlide2.xml" Id="R53192c09e3104481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d541ccd93a44d70" /><Relationship Type="http://schemas.openxmlformats.org/officeDocument/2006/relationships/notesSlide" Target="/ppt/notesSlides/notesSlide3.xml" Id="R444495254d15489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919d15186524dcd" /><Relationship Type="http://schemas.openxmlformats.org/officeDocument/2006/relationships/notesSlide" Target="/ppt/notesSlides/notesSlide4.xml" Id="R69645075bab2422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040a3c83a9040c0" /><Relationship Type="http://schemas.openxmlformats.org/officeDocument/2006/relationships/notesSlide" Target="/ppt/notesSlides/notesSlide5.xml" Id="R502c3ea7483144f7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1af3c25951b42fd" /><Relationship Type="http://schemas.openxmlformats.org/officeDocument/2006/relationships/notesSlide" Target="/ppt/notesSlides/notesSlide6.xml" Id="Rf278bea7779a4b9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940c18825c24759" /><Relationship Type="http://schemas.openxmlformats.org/officeDocument/2006/relationships/notesSlide" Target="/ppt/notesSlides/notesSlide7.xml" Id="Re7849bf022ab4bb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127c5b6db724c35" /><Relationship Type="http://schemas.openxmlformats.org/officeDocument/2006/relationships/notesSlide" Target="/ppt/notesSlides/notesSlide8.xml" Id="Re8aa1d01433d43b2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1d7913151343a4" /><Relationship Type="http://schemas.openxmlformats.org/officeDocument/2006/relationships/notesSlide" Target="/ppt/notesSlides/notesSlide9.xml" Id="R2b1489513395490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62bde8572aa4c87" /><Relationship Type="http://schemas.openxmlformats.org/officeDocument/2006/relationships/notesSlide" Target="/ppt/notesSlides/notesSlide10.xml" Id="R66a4b00d71e841af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521dc7d0aa44867" /><Relationship Type="http://schemas.openxmlformats.org/officeDocument/2006/relationships/notesSlide" Target="/ppt/notesSlides/notesSlide11.xml" Id="R57da49400b8f4dd4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04e3e8e160274115" /><Relationship Type="http://schemas.openxmlformats.org/officeDocument/2006/relationships/notesSlide" Target="/ppt/notesSlides/notesSlide12.xml" Id="Rd702ce2650a241d4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4ab5e81aa0450b" /><Relationship Type="http://schemas.openxmlformats.org/officeDocument/2006/relationships/notesSlide" Target="/ppt/notesSlides/notesSlide13.xml" Id="Rf1435c6a34db403d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079f48932f54915" /><Relationship Type="http://schemas.openxmlformats.org/officeDocument/2006/relationships/notesSlide" Target="/ppt/notesSlides/notesSlide14.xml" Id="Rd605a58ffe424fa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b1c9c290a544d40" /><Relationship Type="http://schemas.openxmlformats.org/officeDocument/2006/relationships/notesSlide" Target="/ppt/notesSlides/notesSlide15.xml" Id="R77ee9e2a7d464cb5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e35bcd7f9a14d32" /><Relationship Type="http://schemas.openxmlformats.org/officeDocument/2006/relationships/notesSlide" Target="/ppt/notesSlides/notesSlide16.xml" Id="Rcf9131f71fba491e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5c045d63480d4d03" /><Relationship Type="http://schemas.openxmlformats.org/officeDocument/2006/relationships/notesSlide" Target="/ppt/notesSlides/notesSlide17.xml" Id="R2872de3248734e5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8FAFC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E87192-51F6-4DDD-9E45-4B1492F6C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7048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5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1500" b="1">
                <a:solidFill>
                  <a:srgbClr val="1D4ED8"/>
                </a:solidFill>
              </a:defRPr>
            </a:pPr>
            <a:r>
              <a:rPr sz="1500" b="1">
                <a:solidFill>
                  <a:srgbClr val="1D4ED8"/>
                </a:solidFill>
              </a:rPr>
              <a:t>IITH AI Capstone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94A4351-79A5-4F92-B646-3B936BC766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57300"/>
            <a:ext cx="59055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4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4350" b="1">
                <a:solidFill>
                  <a:srgbClr val="102A43"/>
                </a:solidFill>
              </a:defRPr>
            </a:pPr>
            <a:r>
              <a:rPr sz="4350" b="1">
                <a:solidFill>
                  <a:srgbClr val="102A43"/>
                </a:solidFill>
              </a:rPr>
              <a:t>ShopSense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8020A6-62F9-45D0-A663-F864FD5001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07645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80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800" b="0">
                <a:solidFill>
                  <a:srgbClr val="1F2933"/>
                </a:solidFill>
              </a:defRPr>
            </a:pPr>
            <a:r>
              <a:rPr sz="1800" b="0">
                <a:solidFill>
                  <a:srgbClr val="1F2933"/>
                </a:solidFill>
              </a:rPr>
              <a:t>Customer care and order operations assistant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FC5F939-4988-4ED3-987C-3700D6A64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838450"/>
            <a:ext cx="342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200" b="0">
                <a:solidFill>
                  <a:srgbClr val="5C6670"/>
                </a:solidFill>
              </a:defRPr>
            </a:pPr>
            <a:r>
              <a:rPr sz="1200" b="0">
                <a:solidFill>
                  <a:srgbClr val="5C6670"/>
                </a:solidFill>
              </a:rPr>
              <a:t>Modules completed: M1 to M8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1E97D79-453A-4DB1-A45B-9B6EFA710A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066800"/>
            <a:ext cx="3333750" cy="3714750"/>
          </a:xfrm>
          <a:prstGeom xmlns:a="http://schemas.openxmlformats.org/drawingml/2006/main" prst="roundRect">
            <a:avLst>
              <a:gd name="adj" fmla="val 2286"/>
            </a:avLst>
          </a:prstGeom>
          <a:solidFill xmlns:a="http://schemas.openxmlformats.org/drawingml/2006/main">
            <a:srgbClr val="E0F2FE"/>
          </a:solidFill>
          <a:ln xmlns:a="http://schemas.openxmlformats.org/drawingml/2006/main" w="9525">
            <a:solidFill>
              <a:srgbClr val="0EA5E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E279DDB-E528-4396-99A2-424790C28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543050"/>
            <a:ext cx="2190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0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00" b="1">
                <a:solidFill>
                  <a:srgbClr val="102A43"/>
                </a:solidFill>
              </a:defRPr>
            </a:pPr>
            <a:r>
              <a:rPr sz="1200" b="1">
                <a:solidFill>
                  <a:srgbClr val="102A43"/>
                </a:solidFill>
              </a:rPr>
              <a:t>Current status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85EECC9-E793-45A5-AAD4-A92CF1BF1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1962150"/>
            <a:ext cx="15240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42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4200" b="1">
                <a:solidFill>
                  <a:srgbClr val="1D4ED8"/>
                </a:solidFill>
              </a:defRPr>
            </a:pPr>
            <a:r>
              <a:rPr sz="4200" b="1">
                <a:solidFill>
                  <a:srgbClr val="1D4ED8"/>
                </a:solidFill>
              </a:rPr>
              <a:t>M8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7F6C33-51F9-4A54-8D80-1155D879A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2781300"/>
            <a:ext cx="23812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650" b="0">
                <a:solidFill>
                  <a:srgbClr val="1F2933"/>
                </a:solidFill>
              </a:defRPr>
            </a:pPr>
            <a:r>
              <a:rPr sz="1650" b="0">
                <a:solidFill>
                  <a:srgbClr val="1F2933"/>
                </a:solidFill>
              </a:rPr>
              <a:t>Golden eval and FastAPI packaging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BC9B24-658D-43AB-AE87-5520D1BBCF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29550" y="4000500"/>
            <a:ext cx="2381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GitHub repo includes code, tests, reports, corpus and deck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F964CFA-9CCC-4850-A6B1-4ED643B1E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01</a:t>
            </a:r>
          </a:p>
        </p:txBody>
      </p:sp>
    </p:spTree>
    <p:extLst>
      <p:ext uri="{BB962C8B-B14F-4D97-AF65-F5344CB8AC3E}">
        <p14:creationId xmlns:p14="http://schemas.microsoft.com/office/powerpoint/2010/main" val="5496551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F8C9F5F-ED27-4298-B5E7-54A33DD0C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5A43A2-34DD-409F-BBB2-CC7C760C1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Problem and milestone path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F6F1BD7-104C-4295-AE6A-A6266E767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1462533-9DA9-4F34-8BEE-8E6E8EE00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4762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691690-2EED-4195-AE27-7C0F24A47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4B4E28-D821-45B4-9818-B98A6165E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Problem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AB038D2-2FC7-49DC-894D-80DDC6E050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76450"/>
            <a:ext cx="4343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Retail support receives refund, shipping, warranty and escalation tickets with messy customer language.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AA101B-9841-4713-8FF8-50E36AF92B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4762500" cy="1352550"/>
          </a:xfrm>
          <a:prstGeom xmlns:a="http://schemas.openxmlformats.org/drawingml/2006/main" prst="roundRect">
            <a:avLst>
              <a:gd name="adj" fmla="val 5634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8DD2528-9663-4FB6-99A1-5434B6495F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333750"/>
            <a:ext cx="66675" cy="1352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19323BE-CEA5-4F78-A63E-7CB1A9F0C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861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System goal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D1C033D-CCB8-47BE-A461-43D085368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90950"/>
            <a:ext cx="4343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Parse tickets, choose safe actions, remember customer context and answer policy questions from evidence.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1A3822F-DE1D-4899-BD95-3571D23F3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002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6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650" b="1">
                <a:solidFill>
                  <a:srgbClr val="102A43"/>
                </a:solidFill>
              </a:defRPr>
            </a:pPr>
            <a:r>
              <a:rPr sz="1650" b="1">
                <a:solidFill>
                  <a:srgbClr val="102A43"/>
                </a:solidFill>
              </a:rPr>
              <a:t>Milestone map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7727D8D-194A-4586-82E2-0137BEF2A6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0955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D8ECE9A-F310-41B5-BDBF-8106897A53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1526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545454-2BA1-4BF6-BD73-0085A9087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0955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M1 intake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E7C879-9E04-4F74-BA9A-5909195D8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4003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Raw message to validated `SupportTicket`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C43E475-DF7E-40E7-94E0-8F119356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14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0426F9F-3712-4A97-A427-D11F008302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29718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8246DF-C92E-42A4-B958-799032B61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29146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M2 actions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9A6BBA1-CC1A-40F8-ABEC-DA3F2FBB7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21945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Tool-backed safe action proposal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951FA40-D7F0-408D-B59D-CBC5FA1EA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338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683B8D-866E-4C80-A36A-F3DB7B910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37909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69220C4-DC75-4958-855E-1C41A8248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37338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M3 memory and index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C130B7C-2697-4A32-9E1C-5CB8F7001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0386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Customer history plus Qdrant policy retrieval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B71F417-CA5A-4450-BA80-CA8C9BCF45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5529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998E2A-D85B-4F7A-9B73-8ECFDDB2AD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6101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4E463CE-236D-4C3C-93DC-7268EB3D75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5529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M4 grounded RAG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80105A0-65B2-45F6-9064-17EF3FAC3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24700" y="485775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Hybrid retrieval, citations and groundedness checks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28E1ACF4-9326-4C55-AE34-398AB19A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02</a:t>
            </a:r>
          </a:p>
        </p:txBody>
      </p:sp>
    </p:spTree>
    <p:extLst>
      <p:ext uri="{BB962C8B-B14F-4D97-AF65-F5344CB8AC3E}">
        <p14:creationId xmlns:p14="http://schemas.microsoft.com/office/powerpoint/2010/main" val="317320233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B64B398-B9D0-4450-8F56-CAEEAF182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FB4A1A1-946D-4E03-8370-4C8050398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End-to-end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0C49B59-BDF1-4F55-A2A3-F286CF256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ABAA9B3-48F5-4434-ADD7-DDF2123AC0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81150"/>
            <a:ext cx="10287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1A6C59-A9FE-4AE7-B3D4-9DA58EE0CA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" y="1581150"/>
            <a:ext cx="66675" cy="876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3D9D57-F03F-441C-AA78-6DB58BC04D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33550"/>
            <a:ext cx="9867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Customer ticket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583DF49-ED45-4721-B5C1-7A3B8DB41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038350"/>
            <a:ext cx="98679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KW-O-000950 arrived 4 days late. The customer demands a 6,499 INR refund and mentions the National Consumer Helpline.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46D62B-F7C1-4A8A-9521-575625DB92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146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B6D020B-F476-4F10-8B8B-046129EF2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9718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148A25A-1D4F-4DD9-8F00-BF702B16A3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291465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M1 parses the message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14F4030-A992-4928-AD74-B53A83DE6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21945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Extracts refund request, order ID, angry sentiment, amount and escalation signals.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86B5C53-90A3-43BD-945D-D452E047C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771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CF90D6-BE53-48E0-95EC-765FD09B8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290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6A3005F-EDA4-440F-BD0A-8A8DDD5DB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377190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M2 chooses the action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584DFD-B857-40C3-9BF3-F27FACD8D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07670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Routes to human review using `legal_or_regulatory`; no automatic refund.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A06189D-FAB1-4131-A6E0-F238EC2815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29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D6B2ED8-A950-4517-8BCF-D513D99D70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6863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5E53587-E5EB-4B88-8559-4D3CF24272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62915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M3 adds context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5618E9F-DA12-4326-9AB5-43BDA7A7E5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493395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Stores the customer interaction and retrieves related refund and escalation policy chunks.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D74E881-5C50-41EA-8E09-07FD13F07B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86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ACEB787-BBFD-4E08-B92B-C982DDA65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435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0F7CB2F-029C-4EE2-ABB4-840E994168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86400"/>
            <a:ext cx="8496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M4 explains the policy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D347E23-08D4-4678-8111-D7117C6F73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791200"/>
            <a:ext cx="849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Answers from evidence and cites the relevant policy documents.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F55C62C-1970-429D-B9DA-22752F989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03</a:t>
            </a:r>
          </a:p>
        </p:txBody>
      </p:sp>
    </p:spTree>
    <p:extLst>
      <p:ext uri="{BB962C8B-B14F-4D97-AF65-F5344CB8AC3E}">
        <p14:creationId xmlns:p14="http://schemas.microsoft.com/office/powerpoint/2010/main" val="1006931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7C6F8DE-ED0F-46C5-A655-B01F3D507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83666D-8E4B-4E56-971D-99A653262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M1 intake parsing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3F8D479-7368-43A7-9A1D-F4BD4C543E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D0347F5-597D-48DD-BDE1-F8D7CC0A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38300"/>
            <a:ext cx="4762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B552510-B17C-462E-A1E7-6258F6085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3830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CA6EAA6-D63A-4954-BBC8-814F37DB27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17907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M1 solves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D31DF8E-514E-4A33-87D9-6AFEDE080A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2095500"/>
            <a:ext cx="4343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Turns raw customer text into a validated Pydantic `SupportTicket` object.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BC1445-ED02-4868-BC61-4AE8675DC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4762500" cy="1238250"/>
          </a:xfrm>
          <a:prstGeom xmlns:a="http://schemas.openxmlformats.org/drawingml/2006/main" prst="roundRect">
            <a:avLst>
              <a:gd name="adj" fmla="val 6154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B7C7A1-212B-4C89-B837-297329CB2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38500"/>
            <a:ext cx="66675" cy="1238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ED266A-4FB3-4C40-92CB-860D2B713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3909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LLM involvement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3D6977C-2383-4AF6-BB85-DF744C09B4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50" y="3695700"/>
            <a:ext cx="43434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The LLM handles language understanding only. Python validates and repairs policy-sensitive fields.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7F224C0-2142-441B-94B5-225D661C5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695450"/>
            <a:ext cx="3714750" cy="2152650"/>
          </a:xfrm>
          <a:prstGeom xmlns:a="http://schemas.openxmlformats.org/drawingml/2006/main" prst="roundRect">
            <a:avLst>
              <a:gd name="adj" fmla="val 354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C6153A1-3ECD-4632-84AB-CFE2F6A179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1866900"/>
            <a:ext cx="3371850" cy="1847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issue_type: refund_request,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order_ref: KW-O-000950,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sentiment: angry,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claimed_amount_inr: 6499,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escalation_signals: [...]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907A09B-828D-426D-BEB8-B5207A1E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3714750" cy="1047750"/>
          </a:xfrm>
          <a:prstGeom xmlns:a="http://schemas.openxmlformats.org/drawingml/2006/main" prst="roundRect">
            <a:avLst>
              <a:gd name="adj" fmla="val 727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241E7E6-9215-4AF8-8402-E451BFFDC0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229100"/>
            <a:ext cx="66675" cy="1047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44ADC3D-E0DF-42C7-BAEF-3FC84A8BB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381500"/>
            <a:ext cx="3295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Validation rules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B47AEB-5943-4B25-B405-CA24D5C31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4686300"/>
            <a:ext cx="32956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IDs must appear in the text. Refund-cap and repeat-contact signals are recomputed in code.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347A656-A935-4336-B39C-1B55B9A4F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04</a:t>
            </a:r>
          </a:p>
        </p:txBody>
      </p:sp>
    </p:spTree>
    <p:extLst>
      <p:ext uri="{BB962C8B-B14F-4D97-AF65-F5344CB8AC3E}">
        <p14:creationId xmlns:p14="http://schemas.microsoft.com/office/powerpoint/2010/main" val="170740176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4171DF46-7752-4B24-A13E-44DAEB20F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5BAD444-6749-4F01-A123-69CB4F43FE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M1 evaluation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41FF639-10A3-49AB-B8DE-00E4C9D6E3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F7D7387-43C2-4A07-8556-D1E244C2D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60/60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1E2AF3-7822-44AA-BA51-DAB70BEB87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Parsed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7620C3F-C918-433F-912F-B77F543C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No parse failures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F941A2-01BD-4191-A7A5-9A10B3593A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B4530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B45309"/>
                </a:solidFill>
              </a:defRPr>
            </a:pPr>
            <a:r>
              <a:rPr sz="2550" b="1">
                <a:solidFill>
                  <a:srgbClr val="B45309"/>
                </a:solidFill>
              </a:rPr>
              <a:t>0.717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C8BBAD-48CF-48F0-A033-CCBB54D925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Intent accuracy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90E88C0-C68C-445B-A93A-35FB4CCC65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Main tuning area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298A152-9A64-4F9A-8EBF-3FBC21C76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B4530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B45309"/>
                </a:solidFill>
              </a:defRPr>
            </a:pPr>
            <a:r>
              <a:rPr sz="2550" b="1">
                <a:solidFill>
                  <a:srgbClr val="B45309"/>
                </a:solidFill>
              </a:rPr>
              <a:t>0.783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9AE4291-3553-4CDA-9C56-DC7A9FBDC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Sentiment accuracy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DC893DF-D547-42E4-94CA-FF7B56609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6270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Useful but imperfect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7E328D4-E251-426F-B03C-A9452728E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657350"/>
            <a:ext cx="2000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0.896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C264D42-CAAB-47D6-B27C-8A8051FC8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114550"/>
            <a:ext cx="2000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Escalation precision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BE55A6-26C8-4B0F-BF92-54B3E8AA7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400300"/>
            <a:ext cx="20002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Strong signal quality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AE386B8-5D96-4D6D-AEAC-12F8805D6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86200"/>
            <a:ext cx="8763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10BB60E-4165-487D-8CF6-089DE0CB4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88620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4FBCCC9-2DA3-4D04-93F1-F8ADE60C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038600"/>
            <a:ext cx="834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Acceptance view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17B2C44-F102-446D-BB25-E11E36253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4343400"/>
            <a:ext cx="8343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M1 is functional and measured. The report is committed as `evaluation/reports/m1_holdout_n60_v4.json`.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1F6324B-D9E1-4BAC-85BB-D4BB84E06C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05</a:t>
            </a:r>
          </a:p>
        </p:txBody>
      </p:sp>
    </p:spTree>
    <p:extLst>
      <p:ext uri="{BB962C8B-B14F-4D97-AF65-F5344CB8AC3E}">
        <p14:creationId xmlns:p14="http://schemas.microsoft.com/office/powerpoint/2010/main" val="404989495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259444-CEC9-4560-A6BD-F5EA3568A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0217119-F60B-4DFD-B588-8466D02DB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M2 action planning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3CD1C17-0969-4803-8A98-2C4BF4F6A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D8BEF3F-F5E4-4C30-8899-7C69296B8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26124D4-7A34-42D7-AFFF-ABC581FEF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8757AB6-2D7E-451C-862D-14E91F1AA6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M2 solves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C99FB18-E840-4E99-9398-757B53276A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764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Converts the M1 ticket into a safe operational decision using local tools and policy tables.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27BE656-937E-43EF-B95D-A60BEEE88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7C3EF8-3E16-47B1-A647-1BC828FE6D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194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508889-9F2A-4C23-ABD6-386AF0F9B0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718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Tools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B8E1221-F8CA-4DAD-A657-EE0AEAF69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766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lookup, shipment tracking, refund amount calculation, refund API, replacement API and human queue.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52109B5-30F3-4359-9C6F-F205CEBB0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192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8509A6-EA1D-498E-9653-52CC931C9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CF7362-FBF9-46C8-831A-4EB194D6B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Guardrail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A15160-F099-4CF2-8DCF-766B7EE41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20764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Mutable actions are proposal-only unless `execute=True`. High-value refunds and legal issues route to humans.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17DEAAD-6008-4E3A-BEFC-0A011608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19450"/>
            <a:ext cx="47625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67A451-B8DF-4E3D-A5FD-67DDCF03BC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32194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C53ED0-6236-4283-B373-46FA49836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3718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Legal priority fix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9C9E0E7-217A-451A-B7EE-10C7E4B9E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57950" y="3676650"/>
            <a:ext cx="4343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When multiple signals appear, `legal_or_regulatory` wins over angry tone and over-cap refund.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0E14832-A634-4B63-A965-C331A4044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06</a:t>
            </a:r>
          </a:p>
        </p:txBody>
      </p:sp>
    </p:spTree>
    <p:extLst>
      <p:ext uri="{BB962C8B-B14F-4D97-AF65-F5344CB8AC3E}">
        <p14:creationId xmlns:p14="http://schemas.microsoft.com/office/powerpoint/2010/main" val="235835191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BF86E73-48C4-48DD-BB3F-BBF753DAE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370DB3-7AB4-45AB-92FC-A82EEDE41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M2 decision output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6E424DF-9AA7-4DE8-B8E7-1E2C70D946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496DAB-D610-422B-9944-D83B43575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95450"/>
            <a:ext cx="4476750" cy="3086100"/>
          </a:xfrm>
          <a:prstGeom xmlns:a="http://schemas.openxmlformats.org/drawingml/2006/main" prst="roundRect">
            <a:avLst>
              <a:gd name="adj" fmla="val 2469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C646B7-5E2A-463D-9857-6BD0DB43ED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1866900"/>
            <a:ext cx="4133850" cy="2781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recommended_action: human_review,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requires_human: true,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tool_name: flag_for_human,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tool_args: 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trigger: legal_or_regulatory,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order_ref: KW-O-000950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},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executed: false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6291DC-42DB-4A44-B1F6-3F02F31DAA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76400"/>
            <a:ext cx="285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7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725" b="1">
                <a:solidFill>
                  <a:srgbClr val="102A43"/>
                </a:solidFill>
              </a:defRPr>
            </a:pPr>
            <a:r>
              <a:rPr sz="1725" b="1">
                <a:solidFill>
                  <a:srgbClr val="102A43"/>
                </a:solidFill>
              </a:rPr>
              <a:t>Why this matters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8654F6-66F7-40E6-8862-1AAED39242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2479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650AAA5-1E3D-4AEB-84E2-3443C7542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3050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8F533C-769D-45F6-851B-D28ADB324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2479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No data leak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EEB6F64-4FF3-4D57-9888-96FCE2924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25527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 lookup is scoped to the customer reference.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673DB14-C896-403B-9CF5-2F955771A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0515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61BA973-D384-469C-8177-F68EC8E028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16230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D132E6F-BCFB-4F50-9E52-189935EC0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10515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No unsafe refund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A73A96B-40F5-4F1C-852F-80E88D2483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40995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6,499 INR exceeds the automated cap.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EFFA04A-34C8-4600-A9D8-27FCA509C7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962400"/>
            <a:ext cx="323850" cy="3238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7BF55A8-E4AB-4560-8C4B-EE2485446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4019550"/>
            <a:ext cx="3238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ctr">
              <a:defRPr sz="1050" b="1">
                <a:solidFill>
                  <a:srgbClr val="FFFFFF"/>
                </a:solidFill>
              </a:defRPr>
            </a:defPPr>
          </a:lstStyle>
          <a:p xmlns:a="http://schemas.openxmlformats.org/drawingml/2006/main">
            <a:pPr algn="ctr">
              <a:defRPr sz="1050" b="1">
                <a:solidFill>
                  <a:srgbClr val="FFFFFF"/>
                </a:solidFill>
              </a:defRPr>
            </a:pPr>
            <a:r>
              <a:rPr sz="105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C09FE85-E6D4-441F-9358-A39046733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3962400"/>
            <a:ext cx="35433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350" b="1">
                <a:solidFill>
                  <a:srgbClr val="102A43"/>
                </a:solidFill>
              </a:defRPr>
            </a:pPr>
            <a:r>
              <a:rPr sz="1350" b="1">
                <a:solidFill>
                  <a:srgbClr val="102A43"/>
                </a:solidFill>
              </a:rPr>
              <a:t>Human route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AF61C55-FEB3-4B5F-8C75-53E4B7D486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34200" y="4267200"/>
            <a:ext cx="3543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Legal language sends the case to legal review.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43BD57D-E0B2-44E4-8B0E-42A8824A8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07</a:t>
            </a:r>
          </a:p>
        </p:txBody>
      </p:sp>
    </p:spTree>
    <p:extLst>
      <p:ext uri="{BB962C8B-B14F-4D97-AF65-F5344CB8AC3E}">
        <p14:creationId xmlns:p14="http://schemas.microsoft.com/office/powerpoint/2010/main" val="501018575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ABE4E0D-CB2F-4ED9-BB1A-3CAE17DD06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6FAA27-1EB0-48C2-A3CE-0E2172486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M3 customer memory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8B9A94E-37E7-4A61-A38D-753695F19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3704620-FD47-4798-861A-8A258D6F8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57350"/>
            <a:ext cx="47625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0D7743-8D3A-40A9-9C32-FDFCBE510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657350"/>
            <a:ext cx="666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5666739-42C5-4527-A35A-DF8EE1BE85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8097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M3 stores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80E421-1DC8-4D80-A16D-4DF44A623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114550"/>
            <a:ext cx="4343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One JSON file per customer: preferences, recent tickets, sentiment, escalation signals and recommended actions.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5FB94B3-0409-4215-A733-39A5F389DC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52800"/>
            <a:ext cx="4762500" cy="1333500"/>
          </a:xfrm>
          <a:prstGeom xmlns:a="http://schemas.openxmlformats.org/drawingml/2006/main" prst="roundRect">
            <a:avLst>
              <a:gd name="adj" fmla="val 5714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39630A-BDD0-4DA7-A259-9E35F66445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352800"/>
            <a:ext cx="666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8E390E9-DDF4-4898-947C-B5B202BCB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5052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Where it lives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2F31A50-9EE4-4B17-BB2D-C38BD912B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000"/>
            <a:ext cx="434340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`runtime/memory/customers/`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Runtime state is local and can be reset without changing seed data.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B7D6080-1FA6-4256-9088-B4CD4D0DAC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1752600"/>
            <a:ext cx="3714750" cy="2457450"/>
          </a:xfrm>
          <a:prstGeom xmlns:a="http://schemas.openxmlformats.org/drawingml/2006/main" prst="roundRect">
            <a:avLst>
              <a:gd name="adj" fmla="val 3101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3417B23-571B-4010-ACBB-C3ED9C02DA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77050" y="1924050"/>
            <a:ext cx="337185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customer_ref: KW-C-00285,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ticket_count: 1,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recent_tickets: [{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issue_type: refund_request,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  recommended_action: human_review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  }]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}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495763-5B09-4EE7-AEF6-0EAAA0ABF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05600" y="4591050"/>
            <a:ext cx="3714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Later milestones can use this memory for repeat-contact context and customer preferences.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F9528D3-FE92-42DA-BD60-F61F8C507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08</a:t>
            </a:r>
          </a:p>
        </p:txBody>
      </p:sp>
    </p:spTree>
    <p:extLst>
      <p:ext uri="{BB962C8B-B14F-4D97-AF65-F5344CB8AC3E}">
        <p14:creationId xmlns:p14="http://schemas.microsoft.com/office/powerpoint/2010/main" val="1267479414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CA1A254-83F0-4275-9467-D4094EB851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B17329-0E5C-4F55-9EA4-F86968AED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M3 policy index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EED0D2-7411-468F-BB42-0624E523DD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0F3EC3-9C11-4105-9490-F2592FB64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49530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4A6C8B-6535-4D87-939A-CF71E9727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85205F0-3706-4216-A4AB-1C209AAF6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716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Policy corpus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F25C61-E24A-4E69-92B1-824927A65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76450"/>
            <a:ext cx="4533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Returns, refund authority, shipping, warranty, escalation, fraud and category addenda are committed under `data/shopsense/corpus/`.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2572D94-CABE-42F1-BCAB-0068C8050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495300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BF40FF-091F-4D40-A351-C1928DCF0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23850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982390C-6E7E-40C2-8C67-7B96C056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39090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Local Qdrant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1D81C5-5563-49CA-AA7A-B93A74CDB3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695700"/>
            <a:ext cx="45339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`scripts/build_policy_index.py` creates a local vector index under `runtime/qdrant/`. No Qdrant Cloud is used.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F0F069F-8E4E-48E8-BD1C-A574D3767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19250"/>
            <a:ext cx="409575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8941906-BD06-40AE-AB6E-D521D7A4CE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61925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5AE8A95-8A3B-435B-A989-7F8B67B7F7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17716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Retrieval output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84BC6A8-A43D-4FD3-9AD5-8247A68FB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2076450"/>
            <a:ext cx="3676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M3 returns policy chunks. It does not yet produce the final policy answer.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EA68400-57BE-4021-AEA8-5F73B2BA59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4095750" cy="1276350"/>
          </a:xfrm>
          <a:prstGeom xmlns:a="http://schemas.openxmlformats.org/drawingml/2006/main" prst="roundRect">
            <a:avLst>
              <a:gd name="adj" fmla="val 597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0C3739C-9CD8-4772-AED6-67322021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38500"/>
            <a:ext cx="66675" cy="1276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D397EEC-7424-4919-8877-62EB9D733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39090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Test coverage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B764D28-A368-458F-B0E8-DD2725A678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91300" y="3695700"/>
            <a:ext cx="36766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Memory persistence, Qdrant build and policy retrieval are covered by unit tests.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752CBF-0C5B-48D8-80CD-28EF197494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09</a:t>
            </a:r>
          </a:p>
        </p:txBody>
      </p:sp>
    </p:spTree>
    <p:extLst>
      <p:ext uri="{BB962C8B-B14F-4D97-AF65-F5344CB8AC3E}">
        <p14:creationId xmlns:p14="http://schemas.microsoft.com/office/powerpoint/2010/main" val="109682327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896FF37-1862-4648-A258-D016A0B270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81A563-056B-431F-90C4-48BAB9918B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M4 grounded policy RAG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D4DFB0-CFC0-4F9A-9D9C-9B7D807DBC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1354E9-A8F9-40D2-BC76-638B687119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5DBB3FE-867E-49DC-A019-AA2FBEA6B1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B9590CA-E7F9-4455-9ED5-C4D88BF56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What M4 solves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E5C4B9-FF98-4751-826E-F1F0C6486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Turns retrieved policy chunks into a grounded answer with citations and evidence.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D8C5FCC-760D-43ED-B61E-058A91F87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0C490DF-5E03-4C6E-A289-AA6C0452A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1432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8A16F34-073A-4288-8FE1-F63533668D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295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Hybrid retrieval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A5F00FC-2AFB-4195-A6E8-A0FE4FC5AA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6004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Combines Qdrant vector hits with deterministic keyword search and reranking.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C4E38C-1AD9-43FD-9644-1A921B710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811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AFEEBE9-915A-476D-9C41-ECBB8F2BE0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5811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2D8FDC2-CCAA-46D6-94FC-1E31AEC345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17335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Groundedness check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B4E7981-357A-4905-983B-0AF8A66D8A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20383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Numeric claims in the answer must appear in retrieved evidence. Unsupported numbers are flagged.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0446262-A0B6-439D-B17B-CE9011FFB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43250"/>
            <a:ext cx="4762500" cy="1200150"/>
          </a:xfrm>
          <a:prstGeom xmlns:a="http://schemas.openxmlformats.org/drawingml/2006/main" prst="roundRect">
            <a:avLst>
              <a:gd name="adj" fmla="val 6349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29C8310-651A-4178-960A-6087240CD3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3143250"/>
            <a:ext cx="66675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BBCDB80-0A44-4A16-85B8-2A94834FEF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295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Evaluation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D9BC59-CC02-4EC3-834E-CA97CCB53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10350" y="3600450"/>
            <a:ext cx="43434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Five golden policy cases check return windows, refund cap, groceries and legal routing.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8957CDAD-5496-407A-8B0C-75B7857CAC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10</a:t>
            </a:r>
          </a:p>
        </p:txBody>
      </p:sp>
    </p:spTree>
    <p:extLst>
      <p:ext uri="{BB962C8B-B14F-4D97-AF65-F5344CB8AC3E}">
        <p14:creationId xmlns:p14="http://schemas.microsoft.com/office/powerpoint/2010/main" val="1585005872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6774C2B-6CD5-4265-B32F-D5D48074DC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0F3ADE5-C23A-4308-AADE-8C33D4C4B5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M4 answer example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B0E8763-25CE-4191-90F5-031508AED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909460F-2B48-445E-A7AC-A03FB6EE5E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00200"/>
            <a:ext cx="10382250" cy="666750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C0D2174-CAB0-414A-9C51-141D9480B0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600200"/>
            <a:ext cx="66675" cy="6667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24A2D8A-13DB-406E-97CE-E7B18754C8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752600"/>
            <a:ext cx="996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Question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6899C8-243A-4410-ADB8-10CD63BED0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057400"/>
            <a:ext cx="99631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Can a customer return an opened Beauty item after 11 days?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9A6AF55-6A13-462C-A8DE-7C34045B4B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10382250" cy="914400"/>
          </a:xfrm>
          <a:prstGeom xmlns:a="http://schemas.openxmlformats.org/drawingml/2006/main" prst="roundRect">
            <a:avLst>
              <a:gd name="adj" fmla="val 8333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EACCFEB-C15F-433A-BCD8-4557D81CAA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66675" cy="914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2AF2B34-E41B-4211-A809-B55D23D8C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800350"/>
            <a:ext cx="99631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Grounded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6DDE25-66A9-4CB8-895D-5079C9EEA6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105150"/>
            <a:ext cx="996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No. Beauty has a 10-day return window, and opened Beauty items cannot be returned for change of mind.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15DC192-A667-44CA-8FB6-C1CFD08AF3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4953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0D78BFE-8514-4C64-A002-DABAB2B25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9433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FB6A47-E906-4899-BAC9-5A68459C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095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Evidence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DFBC1E6-0E32-4BC9-9952-1C61DA0DB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4400550"/>
            <a:ext cx="4533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Category Policy Addendum: Beauty, sections on return window and opened-item restrictions.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DCD8FD2-06AA-4BB9-99F3-782C4C9F5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43350"/>
            <a:ext cx="49530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B5033CB-FA57-4055-B3AF-5BC2F946E9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94335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FC764A-A391-4BE8-823E-ADD48DBA15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095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Blocked hallucination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E7D4215-FCAD-49D0-832E-67ECD88CA1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400550"/>
            <a:ext cx="4533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The answer must not invent a 30-day or 45-day Beauty return window.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B4EA11D-3F07-4B4B-84FC-ED9D60DA8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11</a:t>
            </a:r>
          </a:p>
        </p:txBody>
      </p:sp>
    </p:spTree>
    <p:extLst>
      <p:ext uri="{BB962C8B-B14F-4D97-AF65-F5344CB8AC3E}">
        <p14:creationId xmlns:p14="http://schemas.microsoft.com/office/powerpoint/2010/main" val="89775457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400A3ED-8720-4FB0-AA99-A90949BA5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D109FB-79F6-47F1-BD95-98DD568A8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Verification status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430AAB2-8F9E-49CC-B645-AFB809BCF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5248B1F-5B86-4A89-8495-C960F7EB5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58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AD3B43-DB27-4291-B358-204B7FD29E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Unit tests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14393C8-2328-4EB7-ADA7-861650DBA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All unit tests pass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03796EA-FF61-46DD-BFC2-C3049A8D5A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059669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059669"/>
                </a:solidFill>
              </a:defRPr>
            </a:pPr>
            <a:r>
              <a:rPr sz="2550" b="1">
                <a:solidFill>
                  <a:srgbClr val="059669"/>
                </a:solidFill>
              </a:rPr>
              <a:t>5/5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120D3DA-219B-47AF-9046-028A4D99BB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M4 eval cases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5F812A-3553-4924-B2A7-C422103F1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909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Grounded policy eval passes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12DD0A0-C3A0-4CE7-AD85-19493016C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1D4ED8"/>
                </a:solidFill>
              </a:defRPr>
            </a:pPr>
            <a:r>
              <a:rPr sz="2550" b="1">
                <a:solidFill>
                  <a:srgbClr val="1D4ED8"/>
                </a:solidFill>
              </a:rPr>
              <a:t>20/20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1BE2B6A-90D0-4A8C-9AD5-8DF343590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M8 golden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434500-F0CE-4025-B93B-869440D77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341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Guardrail eval passes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A5C05A0-8BD5-48BE-A6ED-FC73DAFC8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714500"/>
            <a:ext cx="2095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550" b="1">
                <a:solidFill>
                  <a:srgbClr val="5B21B6"/>
                </a:solidFill>
              </a:defRPr>
            </a:defPPr>
          </a:lstStyle>
          <a:p xmlns:a="http://schemas.openxmlformats.org/drawingml/2006/main">
            <a:pPr algn="l">
              <a:defRPr sz="2550" b="1">
                <a:solidFill>
                  <a:srgbClr val="5B21B6"/>
                </a:solidFill>
              </a:defRPr>
            </a:pPr>
            <a:r>
              <a:rPr sz="2550" b="1">
                <a:solidFill>
                  <a:srgbClr val="5B21B6"/>
                </a:solidFill>
              </a:rPr>
              <a:t>84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F162E5C-5B22-41F7-A884-912D2555E4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17170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12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125" b="1">
                <a:solidFill>
                  <a:srgbClr val="102A43"/>
                </a:solidFill>
              </a:defRPr>
            </a:pPr>
            <a:r>
              <a:rPr sz="1125" b="1">
                <a:solidFill>
                  <a:srgbClr val="102A43"/>
                </a:solidFill>
              </a:rPr>
              <a:t>Policy chunks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7495E3F-6D4E-4DC4-A64C-C55BFA888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2457450"/>
            <a:ext cx="209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900" b="0">
                <a:solidFill>
                  <a:srgbClr val="5C6670"/>
                </a:solidFill>
              </a:defRPr>
            </a:pPr>
            <a:r>
              <a:rPr sz="900" b="0">
                <a:solidFill>
                  <a:srgbClr val="5C6670"/>
                </a:solidFill>
              </a:rPr>
              <a:t>Indexed into Qdrant Cloud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43B461D-75CE-46FC-B5A8-8786CF47C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38600"/>
            <a:ext cx="8191500" cy="1143000"/>
          </a:xfrm>
          <a:prstGeom xmlns:a="http://schemas.openxmlformats.org/drawingml/2006/main" prst="roundRect">
            <a:avLst>
              <a:gd name="adj" fmla="val 6667"/>
            </a:avLst>
          </a:prstGeom>
          <a:solidFill xmlns:a="http://schemas.openxmlformats.org/drawingml/2006/main">
            <a:srgbClr val="F8FAFC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3667973-2691-4E3C-9478-E71467E003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4000" y="4038600"/>
            <a:ext cx="66675" cy="1143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71F94A8-FE2F-4C21-9A94-F2B68A797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191000"/>
            <a:ext cx="7772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Run commands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4A765820-EF20-480C-8CE3-5B79DC3E24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33550" y="4495800"/>
            <a:ext cx="77724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-m pytest tests/unit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scripts/build_policy_index.py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scripts/run_policy_eval.py</a:t>
            </a:r>
          </a:p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python -m capstone.workbench.app --port 8765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61623D7-DFB3-498A-8A4F-859F47D40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12</a:t>
            </a:r>
          </a:p>
        </p:txBody>
      </p:sp>
    </p:spTree>
    <p:extLst>
      <p:ext uri="{BB962C8B-B14F-4D97-AF65-F5344CB8AC3E}">
        <p14:creationId xmlns:p14="http://schemas.microsoft.com/office/powerpoint/2010/main" val="386851967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7738508-B511-415C-BFE3-16E28C13B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78169FE-9C93-49DE-B4DC-BC4D6D7A1D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Repository structure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2E516E-671C-4647-8433-CC135A9EAD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42CF212-F79E-4E28-859C-2A76A6518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4762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DCF508-1A41-41B5-8276-57D77B40CC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6192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3C11A2-5FEF-475B-AB6D-4687F49009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17716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Agents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DE96BD5-8A93-41DB-A819-0AE55C244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076450"/>
            <a:ext cx="434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`intake_agent.py`, `action_agent.py`, `policy_agent.py`, `team/multi_agent.py`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48C5084-658E-4F96-B75A-C0ABA14AA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4762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F9A1E1F-B4BA-4160-8904-93CA2DFF75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278130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742E7CE-46A6-4E5F-8B3B-E324711169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3370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Tools and schemas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A09538D-0AF2-48AA-BFEF-96D322EDE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238500"/>
            <a:ext cx="434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Deterministic order/refund/shipping tools plus Pydantic models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5C6C0A-2B00-4D99-B007-3A722EC73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476250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11ABF1-8FF6-4FC5-B62D-2E6CEE1BF6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39433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1A675C2-2F2A-475A-BE05-8FD899A4F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095750"/>
            <a:ext cx="4343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Memory and RAG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498FC1E-15F8-4C3B-AA0A-D760A64AF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400550"/>
            <a:ext cx="4343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`memory/store.py`, `rag/policy_index.py`, `rag/hybrid.py`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7B1FE98-5FAD-45BF-BDB9-2ACD86E87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4095750" cy="723900"/>
          </a:xfrm>
          <a:prstGeom xmlns:a="http://schemas.openxmlformats.org/drawingml/2006/main" prst="roundRect">
            <a:avLst>
              <a:gd name="adj" fmla="val 10526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09E8101-6333-443A-ADD4-00E02EC863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1619250"/>
            <a:ext cx="66675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2F782AA-E147-471E-944C-744715804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17716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MCP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1C3D10-A172-4EAD-826B-F044526857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076450"/>
            <a:ext cx="36766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`mcp/client.py`, `mcp/tools.py` and `mcp/server.py` support protocol-backed tool calls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2616998-A093-4800-919E-4325155088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09850"/>
            <a:ext cx="4095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F1F5F9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650BDAE-100C-499C-9007-930B09EAA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26098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64748B"/>
          </a:solidFill>
          <a:ln xmlns:a="http://schemas.openxmlformats.org/drawingml/2006/main" w="0">
            <a:solidFill>
              <a:srgbClr val="64748B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85870CB-79FB-4977-BA97-5E59351C4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27622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Reliability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499A775-3B0A-44E9-845E-1D15066FA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0670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`reliability/tools.py` wraps tools with retry, circuit breaker and human-queue fallback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BB9F0B2-1DDF-44BD-B19E-9B053F88D6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2850"/>
            <a:ext cx="4095750" cy="838200"/>
          </a:xfrm>
          <a:prstGeom xmlns:a="http://schemas.openxmlformats.org/drawingml/2006/main" prst="roundRect">
            <a:avLst>
              <a:gd name="adj" fmla="val 9091"/>
            </a:avLst>
          </a:prstGeom>
          <a:solidFill xmlns:a="http://schemas.openxmlformats.org/drawingml/2006/main">
            <a:srgbClr val="ECFDF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F1B4267-C09F-41AE-9F52-974FAE91F7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0" y="3752850"/>
            <a:ext cx="66675" cy="838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A2F6C6B-494A-4309-8621-28798CD8EC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39052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Tracing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FF88E7E-72D7-4685-804B-0ECEDD53B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86550" y="4210050"/>
            <a:ext cx="36766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`observability/tracing.py` writes local traces and forwards to LangFuse when configured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CB4F9F7-2298-4A28-B1E6-23214CBDD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13</a:t>
            </a:r>
          </a:p>
        </p:txBody>
      </p:sp>
    </p:spTree>
    <p:extLst>
      <p:ext uri="{BB962C8B-B14F-4D97-AF65-F5344CB8AC3E}">
        <p14:creationId xmlns:p14="http://schemas.microsoft.com/office/powerpoint/2010/main" val="1195310672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15EA3F-D4BB-4552-AB0D-6B97AF71C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5A3AB6E-835E-44EF-86DC-6133F0B63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M5 LangGraph workflow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91D7E22-2DC3-406E-94C3-42F19F73A7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F5D3D0-3AD3-439D-8117-F35956DCCE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495300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B4425DE-2C0C-4587-9B3F-24C253E06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5811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05AFBB2-17AB-4469-8491-9924511B1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17335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Workflow path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16C8EF-D3A9-4879-AB90-E6B3AA03C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038350"/>
            <a:ext cx="45339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triage -&gt; memory -&gt; policy-check -&gt; action-plan -&gt; conditional route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99CE7C6-F171-45A0-9A8D-EBBE298A4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EA96634-72F8-412C-B9DA-F7182BD8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9908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D89BBD-CF4E-4E1E-9EB1-7C7B76B6CE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1432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Checkpointing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2450DA6-783A-4287-A9E4-B4B63BF62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4805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LangGraph state is durably checkpointed in SQLite; JSON snapshots make each node inspectable.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92002C0-85A2-4CE1-9AD8-79D26EC881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81150"/>
            <a:ext cx="40957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EF3C7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735D56-DE62-4F3C-BC8D-74A5F10DF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581150"/>
            <a:ext cx="66675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45309"/>
          </a:solidFill>
          <a:ln xmlns:a="http://schemas.openxmlformats.org/drawingml/2006/main" w="0">
            <a:solidFill>
              <a:srgbClr val="B45309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9758869-0FAB-4C3E-8FC3-1F457A7124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7335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Auto route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410FE6-D5D7-49C5-B95B-A130495461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2038350"/>
            <a:ext cx="36766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Low-risk cases can execute deterministic tools when `execute_actions=True`.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123E1D8-EC86-4091-AA3A-73EF547164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90850"/>
            <a:ext cx="409575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DE9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BFFA09F-EE6A-419C-BEB8-DB3340DE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908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5B21B6"/>
          </a:solidFill>
          <a:ln xmlns:a="http://schemas.openxmlformats.org/drawingml/2006/main" w="0">
            <a:solidFill>
              <a:srgbClr val="5B21B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26B542F-B451-4E70-A315-1A4935C4D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143250"/>
            <a:ext cx="36766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Human interrupt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883A67D-DD75-4F6C-9A43-36B8243AA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448050"/>
            <a:ext cx="36766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Angry, distressed, critical, legal, safety or over-cap cases pause with interrupt() and resume via Command.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77029FF-16B0-4C88-8A10-FAD140DB6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4762500"/>
            <a:ext cx="6858000" cy="876300"/>
          </a:xfrm>
          <a:prstGeom xmlns:a="http://schemas.openxmlformats.org/drawingml/2006/main" prst="roundRect">
            <a:avLst>
              <a:gd name="adj" fmla="val 8696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 w="9525">
            <a:solidFill>
              <a:srgbClr val="0F172A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496C69-F791-45AB-9A7D-F903C3783F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933950"/>
            <a:ext cx="65151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E2E8F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status: human_approval_required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route: human_interrupt</a:t>
            </a:r>
          </a:p>
          <a:p xmlns:a="http://schemas.openxmlformats.org/drawingml/2006/main">
            <a:pPr algn="l">
              <a:defRPr sz="1050" b="0">
                <a:solidFill>
                  <a:srgbClr val="E2E8F0"/>
                </a:solidFill>
              </a:defRPr>
            </a:pPr>
            <a:r>
              <a:rPr sz="1050" b="0">
                <a:solidFill>
                  <a:srgbClr val="E2E8F0"/>
                </a:solidFill>
              </a:rPr>
              <a:t>trigger: legal_or_regulatory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1016AB3-4938-4A13-BB81-D5706EC5A0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14</a:t>
            </a:r>
          </a:p>
        </p:txBody>
      </p:sp>
    </p:spTree>
    <p:extLst>
      <p:ext uri="{BB962C8B-B14F-4D97-AF65-F5344CB8AC3E}">
        <p14:creationId xmlns:p14="http://schemas.microsoft.com/office/powerpoint/2010/main" val="1659323290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DA65C97-9B8F-4044-ACCF-E674523E17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881F8A0-1DAD-467A-828C-F27FFFE428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M6 multi-agent team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B05A2EE-1306-4622-9037-01CD747CA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1BCC97-44FA-4F46-ADB3-C39E1097D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348FD4-2065-4713-B6F6-3C42ADD6A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91AFAF0-DA1F-4594-82E9-87270180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Team agents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0E24EA6-930F-41B2-941C-66E4CCD8F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1455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Triage, Memory, Policy RAG, Order-Actions and Escalation Reviewer agents expose clear ownership.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8A2E67-8A7A-4DD6-945E-3072F01DE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57C2390-5C4C-4DD2-8BDB-DA1D475B8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1353E13-7060-4023-84B6-E5C1063313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9090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MCP server/client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087F654-2D40-4E04-99DB-8199430F54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9570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Order/refund/shipping APIs are exposed through MCP; the team can invoke them over stdio, not only by direct Python calls.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D732C34-AB90-4C81-A605-C6A791BD5A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962150"/>
            <a:ext cx="3714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M6 keeps the working M5 spine, but makes the agent roles and tool boundary visible for evaluation.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E26E9D-407D-4B9D-A477-4A5CE23EAC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7147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Tests verify MCP discovery/invocation, scoped order access, legal escalation and shared chat/email tooling.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61D5775-78D0-4560-BFA4-445B504F31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15</a:t>
            </a:r>
          </a:p>
        </p:txBody>
      </p:sp>
    </p:spTree>
    <p:extLst>
      <p:ext uri="{BB962C8B-B14F-4D97-AF65-F5344CB8AC3E}">
        <p14:creationId xmlns:p14="http://schemas.microsoft.com/office/powerpoint/2010/main" val="74442901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50BFDEF-A6C5-4F6D-99BC-56D14C191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4386B3E-96CB-4063-9956-F6A14CBF08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M7 tracing and reliability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F53E6F1-6802-4FC5-A718-82A1FEFF1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9B2AEFC-F5E7-48BD-AAF5-AFCA4C421B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1D7DF9-AEC8-4472-ABD6-D12E9A82A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83A321B-FC45-4E77-9A25-F6A0D50E7D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Trace coverage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E18D42-8473-491B-9121-6F49C5DD43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1455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Each ticket flow records agent spans plus nested policy-retrieval and tool-call child spans.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777FC8D-61E6-417F-93A0-56B1F6FD27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685AB4-16F3-4055-8A0A-6053AE1D6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3A66524-13A9-4821-BAD2-2D794E43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9090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Lab-style dashboard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2ED6F2-DA73-4722-BD89-F781A93BBA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9570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Trace JSONL can be summarized into calls, total ms, average ms, errors and fallback counts.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5F723DD-CA58-4278-81BC-A2B2F0F90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962150"/>
            <a:ext cx="3714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M7 makes failures inspectable and survivable: a flaky order tool does not drop the case.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9BED7E9-2134-4D01-B343-42040B1BEA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9052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Seeded benchmark: baseline 57% clean success; hardened path handles 100% with visible fallbacks.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6225DD5-9E4D-4744-AE3E-A67F4CBD7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16</a:t>
            </a:r>
          </a:p>
        </p:txBody>
      </p:sp>
    </p:spTree>
    <p:extLst>
      <p:ext uri="{BB962C8B-B14F-4D97-AF65-F5344CB8AC3E}">
        <p14:creationId xmlns:p14="http://schemas.microsoft.com/office/powerpoint/2010/main" val="1005503161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4D504D0-A3BE-48DD-99D4-3319D0096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23850"/>
            <a:ext cx="3714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900" b="1">
                <a:solidFill>
                  <a:srgbClr val="1D4ED8"/>
                </a:solidFill>
              </a:defRPr>
            </a:defPPr>
          </a:lstStyle>
          <a:p xmlns:a="http://schemas.openxmlformats.org/drawingml/2006/main">
            <a:pPr algn="l">
              <a:defRPr sz="900" b="1">
                <a:solidFill>
                  <a:srgbClr val="1D4ED8"/>
                </a:solidFill>
              </a:defRPr>
            </a:pPr>
            <a:r>
              <a:rPr sz="900" b="1">
                <a:solidFill>
                  <a:srgbClr val="1D4ED8"/>
                </a:solidFill>
              </a:rPr>
              <a:t>SHOPSENSE M1-M8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E2BEB2F-5CEA-4FB8-B0F4-98AF690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66750"/>
            <a:ext cx="885825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24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2475" b="1">
                <a:solidFill>
                  <a:srgbClr val="102A43"/>
                </a:solidFill>
              </a:defRPr>
            </a:pPr>
            <a:r>
              <a:rPr sz="2475" b="1">
                <a:solidFill>
                  <a:srgbClr val="102A43"/>
                </a:solidFill>
              </a:rPr>
              <a:t>M8 packaging and guardrails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E8C77B-973C-4138-835E-E6DE7F200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219200"/>
            <a:ext cx="9334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BCF1F4-42C0-4D7B-91AD-819C063665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BEAFE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1D32F8C-D26C-4CC4-9C83-AE60AECCAA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165735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D4ED8"/>
          </a:solidFill>
          <a:ln xmlns:a="http://schemas.openxmlformats.org/drawingml/2006/main" w="0">
            <a:solidFill>
              <a:srgbClr val="1D4ED8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88927F-7BFD-4F99-AF11-A81712845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180975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Golden eval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FD5D130-C557-4F93-BCF9-56AE145B5C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11455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20 tickets cover angry, ambiguous, legal, high-refund, safety and prompt-injection cases.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7F9F01-5AE2-4678-9578-B9C90D486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4953000" cy="12192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D1FAE5"/>
          </a:solidFill>
          <a:ln xmlns:a="http://schemas.openxmlformats.org/drawingml/2006/main" w="9525">
            <a:solidFill>
              <a:srgbClr val="CBD5E1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55B33DB-DDC1-445E-B6B8-01B0AAF34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238500"/>
            <a:ext cx="66675" cy="1219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59669"/>
          </a:solidFill>
          <a:ln xmlns:a="http://schemas.openxmlformats.org/drawingml/2006/main" w="0">
            <a:solidFill>
              <a:srgbClr val="05966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F3C88FF-B49C-4F97-B8D7-5C98B2AB8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390900"/>
            <a:ext cx="45339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275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275" b="1">
                <a:solidFill>
                  <a:srgbClr val="102A43"/>
                </a:solidFill>
              </a:defRPr>
            </a:pPr>
            <a:r>
              <a:rPr sz="1275" b="1">
                <a:solidFill>
                  <a:srgbClr val="102A43"/>
                </a:solidFill>
              </a:rPr>
              <a:t>FastAPI endpoint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984392-D05F-4541-9670-9964B0C3F8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695700"/>
            <a:ext cx="453390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050" b="0">
                <a:solidFill>
                  <a:srgbClr val="5C6670"/>
                </a:solidFill>
              </a:defRPr>
            </a:defPPr>
          </a:lstStyle>
          <a:p xmlns:a="http://schemas.openxmlformats.org/drawingml/2006/main">
            <a:pPr algn="l">
              <a:defRPr sz="1050" b="0">
                <a:solidFill>
                  <a:srgbClr val="5C6670"/>
                </a:solidFill>
              </a:defRPr>
            </a:pPr>
            <a:r>
              <a:rPr sz="1050" b="0">
                <a:solidFill>
                  <a:srgbClr val="5C6670"/>
                </a:solidFill>
              </a:rPr>
              <a:t>`capstone.api` exposes `/health` and `/chat`; parsed-ticket mode supports offline evaluator runs.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B55ADAE-212F-4597-B1EF-688A87E93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1962150"/>
            <a:ext cx="3714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950" b="1">
                <a:solidFill>
                  <a:srgbClr val="102A43"/>
                </a:solidFill>
              </a:defRPr>
            </a:defPPr>
          </a:lstStyle>
          <a:p xmlns:a="http://schemas.openxmlformats.org/drawingml/2006/main">
            <a:pPr algn="l">
              <a:defRPr sz="1950" b="1">
                <a:solidFill>
                  <a:srgbClr val="102A43"/>
                </a:solidFill>
              </a:defRPr>
            </a:pPr>
            <a:r>
              <a:rPr sz="1950" b="1">
                <a:solidFill>
                  <a:srgbClr val="102A43"/>
                </a:solidFill>
              </a:rPr>
              <a:t>M8 turns the milestone chain into an evaluator-friendly service with explicit final guardrails.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94149A-6CC5-492A-9904-D17E5FB89A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3905250"/>
            <a:ext cx="37147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1350" b="0">
                <a:solidFill>
                  <a:srgbClr val="1F2933"/>
                </a:solidFill>
              </a:defRPr>
            </a:defPPr>
          </a:lstStyle>
          <a:p xmlns:a="http://schemas.openxmlformats.org/drawingml/2006/main">
            <a:pPr algn="l">
              <a:defRPr sz="1350" b="0">
                <a:solidFill>
                  <a:srgbClr val="1F2933"/>
                </a:solidFill>
              </a:defRPr>
            </a:pPr>
            <a:r>
              <a:rPr sz="1350" b="0">
                <a:solidFill>
                  <a:srgbClr val="1F2933"/>
                </a:solidFill>
              </a:rPr>
              <a:t>Guardrails block prompt injection, over-cap auto refunds and ungrounded policy answers.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647B42C-79E2-40BD-833D-7BF9A48E3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534150"/>
            <a:ext cx="4000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>
            <a:defPPr algn="l">
              <a:defRPr sz="750" b="0">
                <a:solidFill>
                  <a:srgbClr val="64748B"/>
                </a:solidFill>
              </a:defRPr>
            </a:defPPr>
          </a:lstStyle>
          <a:p xmlns:a="http://schemas.openxmlformats.org/drawingml/2006/main">
            <a:pPr algn="l">
              <a:defRPr sz="750" b="0">
                <a:solidFill>
                  <a:srgbClr val="64748B"/>
                </a:solidFill>
              </a:defRPr>
            </a:pPr>
            <a:r>
              <a:rPr sz="750" b="0">
                <a:solidFill>
                  <a:srgbClr val="64748B"/>
                </a:solidFill>
              </a:rPr>
              <a:t>IITH AI Capstone · ShopSense · 17</a:t>
            </a:r>
          </a:p>
        </p:txBody>
      </p:sp>
    </p:spTree>
    <p:extLst>
      <p:ext uri="{BB962C8B-B14F-4D97-AF65-F5344CB8AC3E}">
        <p14:creationId xmlns:p14="http://schemas.microsoft.com/office/powerpoint/2010/main" val="140021790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2026-10-13T13:26:50.6880000Z</dcterms:created>
  <dcterms:modified xsi:type="dcterms:W3CDTF">2026-10-13T13:26:50.6880000Z</dcterms:modified>
</coreProperties>
</file>