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e77af2a2b0b41c0" /><Relationship Type="http://schemas.openxmlformats.org/officeDocument/2006/relationships/extended-properties" Target="/docProps/app.xml" Id="R505b6205773a43ca" /><Relationship Type="http://schemas.openxmlformats.org/officeDocument/2006/relationships/officeDocument" Target="/ppt/presentation.xml" Id="Rf9187ca51ed04a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fe6bb34f12843b8"/>
  </p:sldMasterIdLst>
  <p:notesMasterIdLst>
    <p:notesMasterId xmlns:r="http://schemas.openxmlformats.org/officeDocument/2006/relationships" r:id="R5f26793826d74df7"/>
  </p:notesMasterIdLst>
  <p:sldIdLst>
    <p:sldId xmlns:r="http://schemas.openxmlformats.org/officeDocument/2006/relationships" id="256" r:id="Rd3d2851ec5b8450b"/>
    <p:sldId xmlns:r="http://schemas.openxmlformats.org/officeDocument/2006/relationships" id="257" r:id="R7be2f112a5ce43b5"/>
    <p:sldId xmlns:r="http://schemas.openxmlformats.org/officeDocument/2006/relationships" id="258" r:id="Rd7c14e9a38a84a08"/>
    <p:sldId xmlns:r="http://schemas.openxmlformats.org/officeDocument/2006/relationships" id="259" r:id="R24179572337841c2"/>
    <p:sldId xmlns:r="http://schemas.openxmlformats.org/officeDocument/2006/relationships" id="260" r:id="R76527de6a7884512"/>
    <p:sldId xmlns:r="http://schemas.openxmlformats.org/officeDocument/2006/relationships" id="261" r:id="R18f2c857cc1f43ce"/>
    <p:sldId xmlns:r="http://schemas.openxmlformats.org/officeDocument/2006/relationships" id="262" r:id="R7cdf3e84c108439c"/>
    <p:sldId xmlns:r="http://schemas.openxmlformats.org/officeDocument/2006/relationships" id="263" r:id="R28ca53da095a4d9c"/>
    <p:sldId xmlns:r="http://schemas.openxmlformats.org/officeDocument/2006/relationships" id="264" r:id="Rd5b5f228d53840e6"/>
    <p:sldId xmlns:r="http://schemas.openxmlformats.org/officeDocument/2006/relationships" id="265" r:id="Ra65119dda881403d"/>
    <p:sldId xmlns:r="http://schemas.openxmlformats.org/officeDocument/2006/relationships" id="266" r:id="R7ea3102d2b3440d8"/>
    <p:sldId xmlns:r="http://schemas.openxmlformats.org/officeDocument/2006/relationships" id="267" r:id="Rea7e529f5a424863"/>
    <p:sldId xmlns:r="http://schemas.openxmlformats.org/officeDocument/2006/relationships" id="268" r:id="R0f3a5698f06e49c0"/>
    <p:sldId xmlns:r="http://schemas.openxmlformats.org/officeDocument/2006/relationships" id="269" r:id="Ra7589cd738354892"/>
    <p:sldId xmlns:r="http://schemas.openxmlformats.org/officeDocument/2006/relationships" id="270" r:id="Rd981439af1904419"/>
    <p:sldId xmlns:r="http://schemas.openxmlformats.org/officeDocument/2006/relationships" id="271" r:id="Rc82f1b95778d48d6"/>
    <p:sldId xmlns:r="http://schemas.openxmlformats.org/officeDocument/2006/relationships" id="272" r:id="Ra234550c6eef47a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d2af28bbf6a4555" /><Relationship Type="http://schemas.openxmlformats.org/officeDocument/2006/relationships/slideMaster" Target="/ppt/slideMasters/slideMaster1.xml" Id="Rdfe6bb34f12843b8" /><Relationship Type="http://schemas.openxmlformats.org/officeDocument/2006/relationships/notesMaster" Target="/ppt/notesMasters/notesMaster1.xml" Id="R5f26793826d74df7" /><Relationship Type="http://schemas.openxmlformats.org/officeDocument/2006/relationships/presProps" Target="/ppt/presProps.xml" Id="R9fa5d76bfd9f48d5" /><Relationship Type="http://schemas.openxmlformats.org/officeDocument/2006/relationships/tableStyles" Target="/ppt/tableStyles.xml" Id="R7f9ad06e354048f4" /><Relationship Type="http://schemas.openxmlformats.org/officeDocument/2006/relationships/slide" Target="/ppt/slides/slide1.xml" Id="Rd3d2851ec5b8450b" /><Relationship Type="http://schemas.openxmlformats.org/officeDocument/2006/relationships/slide" Target="/ppt/slides/slide2.xml" Id="R7be2f112a5ce43b5" /><Relationship Type="http://schemas.openxmlformats.org/officeDocument/2006/relationships/slide" Target="/ppt/slides/slide3.xml" Id="Rd7c14e9a38a84a08" /><Relationship Type="http://schemas.openxmlformats.org/officeDocument/2006/relationships/slide" Target="/ppt/slides/slide4.xml" Id="R24179572337841c2" /><Relationship Type="http://schemas.openxmlformats.org/officeDocument/2006/relationships/slide" Target="/ppt/slides/slide5.xml" Id="R76527de6a7884512" /><Relationship Type="http://schemas.openxmlformats.org/officeDocument/2006/relationships/slide" Target="/ppt/slides/slide6.xml" Id="R18f2c857cc1f43ce" /><Relationship Type="http://schemas.openxmlformats.org/officeDocument/2006/relationships/slide" Target="/ppt/slides/slide7.xml" Id="R7cdf3e84c108439c" /><Relationship Type="http://schemas.openxmlformats.org/officeDocument/2006/relationships/slide" Target="/ppt/slides/slide8.xml" Id="R28ca53da095a4d9c" /><Relationship Type="http://schemas.openxmlformats.org/officeDocument/2006/relationships/slide" Target="/ppt/slides/slide9.xml" Id="Rd5b5f228d53840e6" /><Relationship Type="http://schemas.openxmlformats.org/officeDocument/2006/relationships/slide" Target="/ppt/slides/slide10.xml" Id="Ra65119dda881403d" /><Relationship Type="http://schemas.openxmlformats.org/officeDocument/2006/relationships/slide" Target="/ppt/slides/slide11.xml" Id="R7ea3102d2b3440d8" /><Relationship Type="http://schemas.openxmlformats.org/officeDocument/2006/relationships/slide" Target="/ppt/slides/slide12.xml" Id="Rea7e529f5a424863" /><Relationship Type="http://schemas.openxmlformats.org/officeDocument/2006/relationships/slide" Target="/ppt/slides/slide13.xml" Id="R0f3a5698f06e49c0" /><Relationship Type="http://schemas.openxmlformats.org/officeDocument/2006/relationships/slide" Target="/ppt/slides/slide14.xml" Id="Ra7589cd738354892" /><Relationship Type="http://schemas.openxmlformats.org/officeDocument/2006/relationships/slide" Target="/ppt/slides/slide15.xml" Id="Rd981439af1904419" /><Relationship Type="http://schemas.openxmlformats.org/officeDocument/2006/relationships/slide" Target="/ppt/slides/slide16.xml" Id="Rc82f1b95778d48d6" /><Relationship Type="http://schemas.openxmlformats.org/officeDocument/2006/relationships/slide" Target="/ppt/slides/slide17.xml" Id="Ra234550c6eef47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2993dfa8fc04bb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8271460d39149bd" /><Relationship Type="http://schemas.openxmlformats.org/officeDocument/2006/relationships/notesMaster" Target="/ppt/notesMasters/notesMaster1.xml" Id="R2198a00ff3c84e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5393523c315487c" /><Relationship Type="http://schemas.openxmlformats.org/officeDocument/2006/relationships/notesMaster" Target="/ppt/notesMasters/notesMaster1.xml" Id="R2cba6bb6ee5d47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1f52d4156f48d2" /><Relationship Type="http://schemas.openxmlformats.org/officeDocument/2006/relationships/notesMaster" Target="/ppt/notesMasters/notesMaster1.xml" Id="Rf72f40c3fe5949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46a914456844ec" /><Relationship Type="http://schemas.openxmlformats.org/officeDocument/2006/relationships/notesMaster" Target="/ppt/notesMasters/notesMaster1.xml" Id="R83df294cb5fa454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20ab45c43e483d" /><Relationship Type="http://schemas.openxmlformats.org/officeDocument/2006/relationships/notesMaster" Target="/ppt/notesMasters/notesMaster1.xml" Id="R9f3227262e6248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6803924c034878" /><Relationship Type="http://schemas.openxmlformats.org/officeDocument/2006/relationships/notesMaster" Target="/ppt/notesMasters/notesMaster1.xml" Id="Rfba7b65fb4ed448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7b99b469d504710" /><Relationship Type="http://schemas.openxmlformats.org/officeDocument/2006/relationships/notesMaster" Target="/ppt/notesMasters/notesMaster1.xml" Id="R52618a4b79eb4dc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b2414b747bf45c2" /><Relationship Type="http://schemas.openxmlformats.org/officeDocument/2006/relationships/notesMaster" Target="/ppt/notesMasters/notesMaster1.xml" Id="R82b23112d0f04f8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11d089522884c6c" /><Relationship Type="http://schemas.openxmlformats.org/officeDocument/2006/relationships/notesMaster" Target="/ppt/notesMasters/notesMaster1.xml" Id="Ra596dbb4bb0a441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89a4b988b6c4d0e" /><Relationship Type="http://schemas.openxmlformats.org/officeDocument/2006/relationships/notesMaster" Target="/ppt/notesMasters/notesMaster1.xml" Id="Raa1ed47ebf0b448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a1b31b2428c418d" /><Relationship Type="http://schemas.openxmlformats.org/officeDocument/2006/relationships/notesMaster" Target="/ppt/notesMasters/notesMaster1.xml" Id="R5c284ddc7254483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59ade13d7424afe" /><Relationship Type="http://schemas.openxmlformats.org/officeDocument/2006/relationships/notesMaster" Target="/ppt/notesMasters/notesMaster1.xml" Id="R557162349bd6437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cd217e67e854b32" /><Relationship Type="http://schemas.openxmlformats.org/officeDocument/2006/relationships/notesMaster" Target="/ppt/notesMasters/notesMaster1.xml" Id="R603941b0f24c400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a736d986717462c" /><Relationship Type="http://schemas.openxmlformats.org/officeDocument/2006/relationships/notesMaster" Target="/ppt/notesMasters/notesMaster1.xml" Id="R8a4ba304e608407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54f56bd2e2c480d" /><Relationship Type="http://schemas.openxmlformats.org/officeDocument/2006/relationships/notesMaster" Target="/ppt/notesMasters/notesMaster1.xml" Id="Ref6b3ee3a136478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091c31e183a4d41" /><Relationship Type="http://schemas.openxmlformats.org/officeDocument/2006/relationships/notesMaster" Target="/ppt/notesMasters/notesMaster1.xml" Id="R7eeff3a18e794f2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1af8b7dd4bc45a5" /><Relationship Type="http://schemas.openxmlformats.org/officeDocument/2006/relationships/notesMaster" Target="/ppt/notesMasters/notesMaster1.xml" Id="R73183c0eb5ae46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5e16d4292c472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30f934b5ce4da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c81c906df74b3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22fb61ea8c4af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dec4a3b2384cf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807b13598142e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D09D3F9-2E1F-45EE-9E12-6F045A205A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0144B3F-C710-4185-9416-0F338FDF1FE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D121E2C-0C46-4470-AE88-437F97ABCF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ADDBF6C-66F4-4575-B3D8-359AE3AC71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1754E56-2D2D-444A-B474-8A2E268351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4E4D2C8-7BDB-4522-9048-E20A61AA85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1C170A2-209D-4829-A8FC-275CBDB50D9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F9C6021-6DF3-48B9-B30E-087E313D1DF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824E7D9-E28D-4920-9968-A53C2CE423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0D7B4B6-67FE-4E2E-8923-5C678AE591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40c7abd214e4e62" /><Relationship Type="http://schemas.openxmlformats.org/officeDocument/2006/relationships/slideLayout" Target="/ppt/slideLayouts/slideLayout1.xml" Id="R05ac83d23ffd4ca1" /><Relationship Type="http://schemas.openxmlformats.org/officeDocument/2006/relationships/slideLayout" Target="/ppt/slideLayouts/slideLayout2.xml" Id="Re8df8635f0a9412e" /><Relationship Type="http://schemas.openxmlformats.org/officeDocument/2006/relationships/slideLayout" Target="/ppt/slideLayouts/slideLayout3.xml" Id="Rc33bb794be8e4e65" /><Relationship Type="http://schemas.openxmlformats.org/officeDocument/2006/relationships/slideLayout" Target="/ppt/slideLayouts/slideLayout4.xml" Id="R5f6faa7095c54504" /><Relationship Type="http://schemas.openxmlformats.org/officeDocument/2006/relationships/slideLayout" Target="/ppt/slideLayouts/slideLayout5.xml" Id="R0bad8320a77847b8" /><Relationship Type="http://schemas.openxmlformats.org/officeDocument/2006/relationships/slideLayout" Target="/ppt/slideLayouts/slideLayout6.xml" Id="R82372128d50146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5ac83d23ffd4ca1"/>
    <p:sldLayoutId xmlns:r="http://schemas.openxmlformats.org/officeDocument/2006/relationships" id="2147483650" r:id="Re8df8635f0a9412e"/>
    <p:sldLayoutId xmlns:r="http://schemas.openxmlformats.org/officeDocument/2006/relationships" id="2147483651" r:id="Rc33bb794be8e4e65"/>
    <p:sldLayoutId xmlns:r="http://schemas.openxmlformats.org/officeDocument/2006/relationships" id="2147483652" r:id="R5f6faa7095c54504"/>
    <p:sldLayoutId xmlns:r="http://schemas.openxmlformats.org/officeDocument/2006/relationships" id="2147483653" r:id="R0bad8320a77847b8"/>
    <p:sldLayoutId xmlns:r="http://schemas.openxmlformats.org/officeDocument/2006/relationships" id="2147483654" r:id="R82372128d50146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36b3d4074047f7" /><Relationship Type="http://schemas.openxmlformats.org/officeDocument/2006/relationships/notesSlide" Target="/ppt/notesSlides/notesSlide1.xml" Id="R7d02a747c65b424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c9fb62117840a4" /><Relationship Type="http://schemas.openxmlformats.org/officeDocument/2006/relationships/notesSlide" Target="/ppt/notesSlides/notesSlide2.xml" Id="R6258bb898fae4ac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00b38108e344ce" /><Relationship Type="http://schemas.openxmlformats.org/officeDocument/2006/relationships/notesSlide" Target="/ppt/notesSlides/notesSlide3.xml" Id="R77b4d97e99004c2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9765b4140649e8" /><Relationship Type="http://schemas.openxmlformats.org/officeDocument/2006/relationships/notesSlide" Target="/ppt/notesSlides/notesSlide4.xml" Id="Rfc5bbe62987d48e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657db3e9d64190" /><Relationship Type="http://schemas.openxmlformats.org/officeDocument/2006/relationships/notesSlide" Target="/ppt/notesSlides/notesSlide5.xml" Id="R590650c1d30d4d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c2db62726b4522" /><Relationship Type="http://schemas.openxmlformats.org/officeDocument/2006/relationships/notesSlide" Target="/ppt/notesSlides/notesSlide6.xml" Id="Rb5108243fd584bf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26c0629e5046e8" /><Relationship Type="http://schemas.openxmlformats.org/officeDocument/2006/relationships/notesSlide" Target="/ppt/notesSlides/notesSlide7.xml" Id="Rd579bc002a224ae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91650911bd4135" /><Relationship Type="http://schemas.openxmlformats.org/officeDocument/2006/relationships/notesSlide" Target="/ppt/notesSlides/notesSlide8.xml" Id="Ra1131bc152fa467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63aecdb298443d" /><Relationship Type="http://schemas.openxmlformats.org/officeDocument/2006/relationships/notesSlide" Target="/ppt/notesSlides/notesSlide9.xml" Id="R32f08f5c9d3c4ed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0d3aa590d34a89" /><Relationship Type="http://schemas.openxmlformats.org/officeDocument/2006/relationships/notesSlide" Target="/ppt/notesSlides/notesSlide10.xml" Id="R4966aa35539f489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ce4efaff724771" /><Relationship Type="http://schemas.openxmlformats.org/officeDocument/2006/relationships/notesSlide" Target="/ppt/notesSlides/notesSlide11.xml" Id="R3ce0e24ac398437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ca8a2c8533416b" /><Relationship Type="http://schemas.openxmlformats.org/officeDocument/2006/relationships/notesSlide" Target="/ppt/notesSlides/notesSlide12.xml" Id="R2700823b6af04a3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0a8847e6b54034" /><Relationship Type="http://schemas.openxmlformats.org/officeDocument/2006/relationships/notesSlide" Target="/ppt/notesSlides/notesSlide13.xml" Id="R7c9b1f68df30463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9a8f132a2f40a5" /><Relationship Type="http://schemas.openxmlformats.org/officeDocument/2006/relationships/notesSlide" Target="/ppt/notesSlides/notesSlide14.xml" Id="R3ab2bce6822341b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86833657f14eeb" /><Relationship Type="http://schemas.openxmlformats.org/officeDocument/2006/relationships/notesSlide" Target="/ppt/notesSlides/notesSlide15.xml" Id="R0818b1388806438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b0928c00174eca" /><Relationship Type="http://schemas.openxmlformats.org/officeDocument/2006/relationships/notesSlide" Target="/ppt/notesSlides/notesSlide16.xml" Id="Rfc2439a039fd4ce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ad51d7b2ca4cfd" /><Relationship Type="http://schemas.openxmlformats.org/officeDocument/2006/relationships/notesSlide" Target="/ppt/notesSlides/notesSlide17.xml" Id="Ra16dec56ce504b1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07035B-DE9C-4ECC-AA81-0ED6C3E7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4ED8"/>
                </a:solidFill>
              </a:defRPr>
            </a:pPr>
            <a:r>
              <a:rPr sz="1500" b="1">
                <a:solidFill>
                  <a:srgbClr val="1D4ED8"/>
                </a:solidFill>
              </a:rPr>
              <a:t>IITH AI Capstone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DB237E-8484-462E-952C-B78BE927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4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4350" b="1">
                <a:solidFill>
                  <a:srgbClr val="102A43"/>
                </a:solidFill>
              </a:defRPr>
            </a:pPr>
            <a:r>
              <a:rPr sz="4350" b="1">
                <a:solidFill>
                  <a:srgbClr val="102A43"/>
                </a:solidFill>
              </a:rPr>
              <a:t>ShopSense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5484B3-AD7E-42A1-87C3-80E7BD38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F2933"/>
                </a:solidFill>
              </a:defRPr>
            </a:pPr>
            <a:r>
              <a:rPr sz="1800" b="0">
                <a:solidFill>
                  <a:srgbClr val="1F2933"/>
                </a:solidFill>
              </a:rPr>
              <a:t>Customer care and order operations assistant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14BB5A-3475-4A70-A25E-52521FA55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C6670"/>
                </a:solidFill>
              </a:defRPr>
            </a:pPr>
            <a:r>
              <a:rPr sz="1200" b="0">
                <a:solidFill>
                  <a:srgbClr val="5C6670"/>
                </a:solidFill>
              </a:rPr>
              <a:t>Modules completed: M1 to M7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9BD1B9-7FDD-45A0-A70E-43A548717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066800"/>
            <a:ext cx="3333750" cy="3714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0EA5E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5F945E-A12A-4571-B554-F72110ACE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430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Current status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F1A5A4-BF50-4BBF-96B6-91D425EAA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962150"/>
            <a:ext cx="152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42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1D4ED8"/>
                </a:solidFill>
              </a:defRPr>
            </a:pPr>
            <a:r>
              <a:rPr sz="4200" b="1">
                <a:solidFill>
                  <a:srgbClr val="1D4ED8"/>
                </a:solidFill>
              </a:rPr>
              <a:t>M7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ED6BB2-1CC5-4E57-9A03-2360DDF7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238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Tracing and reliable tool execution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4A4681-D66F-4078-B8B4-3FE03621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005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GitHub repo includes code, tests, reports, corpus and deck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38F816-556F-486E-A957-A5D2AB4B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01</a:t>
            </a:r>
          </a:p>
        </p:txBody>
      </p:sp>
    </p:spTree>
    <p:extLst>
      <p:ext uri="{BB962C8B-B14F-4D97-AF65-F5344CB8AC3E}">
        <p14:creationId xmlns:p14="http://schemas.microsoft.com/office/powerpoint/2010/main" val="20527024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864069-1B63-4199-BF36-9C8FAAF2D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87134D-0A26-43E4-AD77-508C784E8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Problem and milestone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9246DA-EBBA-4833-9DEA-8A2EBA118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17119E-6FD0-4C59-B5E9-1D3CB307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220B3F-3FE6-4707-93F2-AFE59BE10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77E1CB-45DC-439C-A3BD-62AF2FE1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0086D9-6EE5-45F0-AF20-9E353CAA8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76450"/>
            <a:ext cx="4343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Retail support receives refund, shipping, warranty and escalation tickets with messy customer language.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E0F292-1D2D-4547-AC7E-BA3038B8B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0DFBE-63B9-4FBD-9215-7A2DF4BA4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10E318-A48B-4650-A3B6-1FB7B134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861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System goal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68B1D4-CB07-41AB-BEE8-CD7C38A86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90950"/>
            <a:ext cx="4343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Parse tickets, choose safe actions, remember customer context and answer policy questions from evidence.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A1DBE8-EB5B-4B37-A574-764F2FA8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00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Milestone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CEACCB-CCD9-49DD-8524-B07B1D04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411FC9-25B4-4DAD-9EAF-E6D374F32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52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A84356-F3D6-4B02-9A53-D2F1C323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955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M1 intake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8FBF43-9C17-4965-9662-40135164E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003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Raw message to validated `SupportTicket`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D43B90-503D-477F-86E6-684F0D5AF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14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D9DEF3-4890-41BF-8EEE-91F333BD8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718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088A8B-662E-43CA-B881-2D0B87837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146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M2 actions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5DDA62-3E99-453E-A398-67C7901DD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1945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Tool-backed safe action proposal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C240BB-645C-408C-B020-1863206B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33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C269DE-4187-4759-822F-4FFA7103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909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63AFDA-5BAE-46D7-9999-7B4A997F6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M3 memory and index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B3BCAC-2789-422E-9A61-077086AD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0386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Customer history plus Qdrant policy retrieval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6642BD-477C-4319-9A89-9AD81223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52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04DCE8-FE4A-45F2-B847-71C866444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101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EF7FD5-ECDF-4E42-9C94-6E7B215C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5529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M4 grounded RAG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AC5B99-7848-4AAB-BBAA-591B6C66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5775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Hybrid retrieval, citations and groundedness checks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3FBF03-5E2C-4058-8BA1-706EBDBE2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02</a:t>
            </a:r>
          </a:p>
        </p:txBody>
      </p:sp>
    </p:spTree>
    <p:extLst>
      <p:ext uri="{BB962C8B-B14F-4D97-AF65-F5344CB8AC3E}">
        <p14:creationId xmlns:p14="http://schemas.microsoft.com/office/powerpoint/2010/main" val="10550001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01DB0E-D128-4574-BD61-320C9301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49310B-2C4F-41EB-A53F-5287907B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End-to-end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FBE59A-1081-4D73-8F42-63BF7E7E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18F604-427A-4E3E-9D51-C349D87F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81150"/>
            <a:ext cx="10287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B08182-91C8-4F49-A510-B5BD04B21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811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A21A82-169A-4D1E-A4D7-7EAE9F4B0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33550"/>
            <a:ext cx="9867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Customer ticket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80C2E9-DDF2-46D4-9C89-5791EB34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9867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KW-O-000950 arrived 4 days late. The customer demands a 6,499 INR refund and mentions the National Consumer Helpline.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9570B2-F3E3-4FF2-81D4-C62F05787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14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B48D8F-D76A-4A3D-B31B-4CD62D5A0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BB14F9-3328-406F-ADE1-074DBA1E7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1465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M1 parses the message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43F523-260F-4FF8-9BAF-EC890FE0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1945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Extracts refund request, order ID, angry sentiment, amount and escalation signals.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185D8F-56B5-4D9F-8F9E-CD1DC0D61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71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F4D30F-F6D9-46A7-A7A3-EB91E4179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290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5EFDA7-DCCB-4036-A8C0-642AECD88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77190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M2 chooses the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C58BBB-8048-4A72-8925-2CE067336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7670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Routes to human review using `legal_or_regulatory`; no automatic refund.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6D93EE-B123-467C-860A-EE4F1C7DA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29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CBA53E-C196-4A95-9661-764800F5B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1A09C9-C815-4AAD-AC39-97ABB0E7B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2915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M3 adds context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7D84F2-99CE-4C84-961F-D2916211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93395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Stores the customer interaction and retrieves related refund and escalation policy chunks.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73A48D-BA81-4C98-AA5B-19B5052B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86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D8F238-6DB2-49D9-9183-11C9C9317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435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394CA8-EE95-4376-A12D-9ACCABA86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8640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M4 explains the policy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055595-4B49-4EA8-8148-DAFAE6AB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79120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Answers from evidence and cites the relevant policy documents.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1C217F-2611-4AF8-8E11-C7B096A2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03</a:t>
            </a:r>
          </a:p>
        </p:txBody>
      </p:sp>
    </p:spTree>
    <p:extLst>
      <p:ext uri="{BB962C8B-B14F-4D97-AF65-F5344CB8AC3E}">
        <p14:creationId xmlns:p14="http://schemas.microsoft.com/office/powerpoint/2010/main" val="17779403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0635BC-5682-4511-BA08-40136FEC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E92ED0-3DF4-4428-9D55-E154E9DF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M1 intake parsing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8CFA54-DDCE-436F-B3F1-DEF774456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B43799-960D-4172-81DD-A14CF527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38300"/>
            <a:ext cx="4762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7B0DBE-E8BA-4738-B517-63909F305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3830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014C26-654A-4616-B364-DE8C444F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907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M1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9A8F69-C75D-4078-9283-85FEB87A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95500"/>
            <a:ext cx="4343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Turns raw customer text into a validated Pydantic `SupportTicket` object.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233F20-B5A9-4505-A181-D996787D3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4762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766938-202F-4801-A4F8-5CF0DDCC4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EE5E43-F82D-46FB-AAB8-6A55C09C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909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LLM involvement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255E69-99D0-49D6-B569-A5AD38CD5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95700"/>
            <a:ext cx="4343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The LLM handles language understanding only. Python validates and repairs policy-sensitive fields.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A68E08-2F7B-478E-8E13-843A10D5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95450"/>
            <a:ext cx="371475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D45D97-87A3-4EED-9E86-52B497BE5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866900"/>
            <a:ext cx="337185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issue_type: refund_request,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order_ref: KW-O-000950,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sentiment: angry,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claimed_amount_inr: 6499,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escalation_signals: [...]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B8D552-1C41-4BA3-976F-FB56A26C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3714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4D3DD5-0B9E-4FF4-AA66-59C3FC53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B6C045-8109-436A-BC17-D231E315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381500"/>
            <a:ext cx="3295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Validation rules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68ABEF-AEC2-4DE0-8D5F-478BAB3AB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686300"/>
            <a:ext cx="3295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IDs must appear in the text. Refund-cap and repeat-contact signals are recomputed in code.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F58852-D3B3-4D43-A930-7D707E49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04</a:t>
            </a:r>
          </a:p>
        </p:txBody>
      </p:sp>
    </p:spTree>
    <p:extLst>
      <p:ext uri="{BB962C8B-B14F-4D97-AF65-F5344CB8AC3E}">
        <p14:creationId xmlns:p14="http://schemas.microsoft.com/office/powerpoint/2010/main" val="7283763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81DE4-8123-41A1-9869-8FBB5396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E20CD3-3731-459D-815A-3AD6E818B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M1 evaluation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A93B4D-DDAC-4651-AC51-9312902F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FDA0CC-7C0B-4FC0-8E42-D03D57FD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60/60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6D6D49-88FD-4A82-9017-44935554B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Parsed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BF4825-326B-49A7-8542-74265FC6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No parse failures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88BCB1-87DE-4571-99AF-E11698863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B4530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B45309"/>
                </a:solidFill>
              </a:defRPr>
            </a:pPr>
            <a:r>
              <a:rPr sz="2550" b="1">
                <a:solidFill>
                  <a:srgbClr val="B45309"/>
                </a:solidFill>
              </a:rPr>
              <a:t>0.717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16940F-D374-41B4-A01E-D339A352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Intent accuracy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09FC91-AD18-4E7F-B914-921F5E66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Main tuning area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DA7BD4-DEE8-4B0E-B277-5FE3948CB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B4530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B45309"/>
                </a:solidFill>
              </a:defRPr>
            </a:pPr>
            <a:r>
              <a:rPr sz="2550" b="1">
                <a:solidFill>
                  <a:srgbClr val="B45309"/>
                </a:solidFill>
              </a:rPr>
              <a:t>0.783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7BAAB9-4E44-4BE6-957B-179C2358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Sentiment accuracy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04533C-C380-4031-8808-DA5433B2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Useful but imperfect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780038-02E0-4EA7-945A-776D0341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0.896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13CCC1-D115-4D3B-A5D5-AEAD98699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Escalation precision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A73BFB-FE7A-4EFD-9C94-EB02A59D3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Strong signal quality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1E0776-8FB3-4448-83AE-79160CF7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86200"/>
            <a:ext cx="8763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20719B-F829-4F58-AAF1-F2959AE1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8620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CA3CCE-350B-4A63-AADF-E51532A3F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38600"/>
            <a:ext cx="834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Acceptance view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DB14AF-BA7B-4234-9C6B-6F2F52F2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343400"/>
            <a:ext cx="8343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M1 is functional and measured. The report is committed as `evaluation/reports/m1_holdout_n60_v4.json`.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E74EDE-357A-4251-98FC-02256D72F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05</a:t>
            </a:r>
          </a:p>
        </p:txBody>
      </p:sp>
    </p:spTree>
    <p:extLst>
      <p:ext uri="{BB962C8B-B14F-4D97-AF65-F5344CB8AC3E}">
        <p14:creationId xmlns:p14="http://schemas.microsoft.com/office/powerpoint/2010/main" val="5874705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62C5A8-8174-4596-8CAF-6D08108D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4A3401-964E-49EA-9579-7024DDFB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M2 action planning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31D8B1-F48E-4A72-8FBB-35A08728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5A1888-223D-4DDD-80C2-7E5CB8F32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530468-81F2-4799-971A-03894FC8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487274-F3B9-4A6F-9944-23F293F4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M2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22AAD1-05A6-473F-93DC-3D5222AC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764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Converts the M1 ticket into a safe operational decision using local tools and policy tables.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1ECF7A-A94A-4661-9556-507DB961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7DBE06-66E2-4A18-BACD-446F4FA6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6E0350-F273-4D3A-9055-E980444D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718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Tools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0C1179-9B34-4AD7-B48C-233C5DCA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766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lookup, shipment tracking, refund amount calculation, refund API, replacement API and human queue.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80432C-41FE-47DA-98D8-AFFCF833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192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52DE63-91ED-4CE4-BF56-4E545262F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FF5921-A8C9-4B21-BA8C-284AF1E2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Guardrail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85EDC8-5170-4A92-93E3-A525EC83A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764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Mutable actions are proposal-only unless `execute=True`. High-value refunds and legal issues route to humans.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EEC994-7DFB-4FAF-912F-41F91DDFD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194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9D70F9-516C-4BE4-B826-F50F6887E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194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C34A33-7B73-4F7B-BF54-ECD64646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718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Legal priority fix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640581-E377-4C68-827B-37B686B7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6766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When multiple signals appear, `legal_or_regulatory` wins over angry tone and over-cap refund.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6D303E-57B5-46C9-86CC-DFDE6391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06</a:t>
            </a:r>
          </a:p>
        </p:txBody>
      </p:sp>
    </p:spTree>
    <p:extLst>
      <p:ext uri="{BB962C8B-B14F-4D97-AF65-F5344CB8AC3E}">
        <p14:creationId xmlns:p14="http://schemas.microsoft.com/office/powerpoint/2010/main" val="18231214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21D2A7-4664-4744-B609-C05E6B5D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5EB0A1-91F8-4C6D-A705-DC09CA00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M2 decision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1B884C-1DCF-4210-9FC1-4A74C245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09C2BA-CE87-4CED-9A12-FC4B03C19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95450"/>
            <a:ext cx="4476750" cy="3086100"/>
          </a:xfrm>
          <a:prstGeom xmlns:a="http://schemas.openxmlformats.org/drawingml/2006/main" prst="roundRect">
            <a:avLst>
              <a:gd name="adj" fmla="val 2469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8312C6-97E2-42E5-B7F9-2516DE647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66900"/>
            <a:ext cx="41338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recommended_action: human_review,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requires_human: true,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tool_name: flag_for_human,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tool_args: 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trigger: legal_or_regulatory,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order_ref: KW-O-000950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},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executed: false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BE6926-A0C6-44C3-AB65-D6677DD0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764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02A43"/>
                </a:solidFill>
              </a:defRPr>
            </a:pPr>
            <a:r>
              <a:rPr sz="1725" b="1">
                <a:solidFill>
                  <a:srgbClr val="102A43"/>
                </a:solidFill>
              </a:rPr>
              <a:t>Why this matters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67BFDF-01AA-4F94-BBBB-BFA71066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47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BEA2B2-DA85-4B51-953C-5F0ECBA9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050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DE162B-4537-4ADF-A16D-046E1E7F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No data leak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7E2315-257B-4A50-9588-042B793D3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527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lookup is scoped to the customer reference.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CA4D7A-C58B-4396-A900-8C6221EAA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05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CBAB37-A3EB-4A74-8575-90D1BBDB5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623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F263F4-DA99-4F2E-AD21-1A5E8032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051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No unsafe refund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DC61DF-C660-4CD6-8F9D-98412380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0995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6,499 INR exceeds the automated cap.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8D4BF4-5BB0-497C-8AF2-85869A32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62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636C2B-8648-4215-A07C-94F7C00D4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195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938FEB-E76B-4A08-B648-D6C2F2DC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624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Human route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9B67C3-210B-4600-A301-0A91F634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672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Legal language sends the case to legal review.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5A9FBA-1F27-498D-89CF-20EC20D6E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07</a:t>
            </a:r>
          </a:p>
        </p:txBody>
      </p:sp>
    </p:spTree>
    <p:extLst>
      <p:ext uri="{BB962C8B-B14F-4D97-AF65-F5344CB8AC3E}">
        <p14:creationId xmlns:p14="http://schemas.microsoft.com/office/powerpoint/2010/main" val="13469550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BFCFE8-B79A-489A-8081-BE25D6A0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867B0D-3A43-4A3C-A2CA-032E391C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M3 customer memory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5EB00D-B722-49F8-8AB3-8B08564F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DF1E75-B629-43BC-A523-B64677AEC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47625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422DF2-FC7D-4BCE-92FC-D391C7E66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666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4F0519-FFB4-41D4-8ECB-B4582467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M3 stores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8DB742-8F9A-4BFD-A197-49C7F15C7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14550"/>
            <a:ext cx="4343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One JSON file per customer: preferences, recent tickets, sentiment, escalation signals and recommended actions.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C4EFEA-275A-4569-8D7B-08A18545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52800"/>
            <a:ext cx="47625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7BF4DA-FF58-45B9-A9ED-68ED8178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52800"/>
            <a:ext cx="666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7785D4-8973-4616-B4B4-F40DD7FB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052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Where it lives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CF902B-CD85-4D50-8B2F-015C7248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4343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`runtime/memory/customers/`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Runtime state is local and can be reset without changing seed data.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C5F75B-8859-4DB3-A519-FFD70BB6A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752600"/>
            <a:ext cx="3714750" cy="2457450"/>
          </a:xfrm>
          <a:prstGeom xmlns:a="http://schemas.openxmlformats.org/drawingml/2006/main" prst="roundRect">
            <a:avLst>
              <a:gd name="adj" fmla="val 3101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8D7840-188A-4541-AB55-19254DFB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924050"/>
            <a:ext cx="337185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customer_ref: KW-C-00285,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ticket_count: 1,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recent_tickets: [{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issue_type: refund_request,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recommended_action: human_review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}]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26C326-E4B8-4078-AA27-A42C9F81F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Later milestones can use this memory for repeat-contact context and customer preferences.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7D4765-2B3E-441F-B050-AC30EDA13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08</a:t>
            </a:r>
          </a:p>
        </p:txBody>
      </p:sp>
    </p:spTree>
    <p:extLst>
      <p:ext uri="{BB962C8B-B14F-4D97-AF65-F5344CB8AC3E}">
        <p14:creationId xmlns:p14="http://schemas.microsoft.com/office/powerpoint/2010/main" val="2187421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41F867-D27F-4514-A0DF-723B90A67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652F27-7B64-4D36-B048-E3686FE9B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M3 policy index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0999E7-3F36-43EC-B368-FBA3ECB58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A8C6B5-66A2-4161-92E3-0CECBF63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49530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43750E-8F31-4613-94AF-602E952B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41000B-7372-44B9-B1AB-59B0DB2DF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Policy corpus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ED64DA-9B64-45F2-824F-B35118299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76450"/>
            <a:ext cx="4533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Returns, refund authority, shipping, warranty, escalation, fraud and category addenda are committed under `data/shopsense/corpus/`.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03C9A6-BA60-48DC-8759-BFC3EEFE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49530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35C156-52D3-483A-85D6-9470AD778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5C32FF-78DA-4622-ABDC-D685EADB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9090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Local Qdrant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649B40-2333-47E9-B4F2-FCCB90DE3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95700"/>
            <a:ext cx="4533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`scripts/build_policy_index.py` creates a local vector index under `runtime/qdrant/`. No Qdrant Cloud is used.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2C7232-B938-4A17-857E-CC7EF9E9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19250"/>
            <a:ext cx="409575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5F373D-C9BB-455A-86E6-F9F4FA3F3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3A67CA-1B27-4CE1-9642-11A57C9F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7716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Retrieval output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F2A19A-B7C9-4BF5-967F-96C33875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76450"/>
            <a:ext cx="3676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M3 returns policy chunks. It does not yet produce the final policy answer.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D8CB4F-79A3-45FF-89C0-0D20C750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409575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FAF2D5-DC59-48B9-A6C4-2736C53C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BE23ED-3483-4C02-876D-FE6C9D48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9090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Test coverage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18FE4D-D623-4100-AB56-957D875B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95700"/>
            <a:ext cx="3676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Memory persistence, Qdrant build and policy retrieval are covered by unit tests.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1D8C1C-16C7-4AA0-A7FF-1BF85140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09</a:t>
            </a:r>
          </a:p>
        </p:txBody>
      </p:sp>
    </p:spTree>
    <p:extLst>
      <p:ext uri="{BB962C8B-B14F-4D97-AF65-F5344CB8AC3E}">
        <p14:creationId xmlns:p14="http://schemas.microsoft.com/office/powerpoint/2010/main" val="202980799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46356F-81F2-44E1-86DD-5C49C2CD3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BDF575-4310-44FC-B64F-0B66D9FCB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M4 grounded policy RAG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CAA9F4-4488-4A68-860D-9AAF3D941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2AE9F3-2C29-460B-B750-A99E94E91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FBCE49-10D5-428A-9985-08B62B290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A25925-AFA0-45E9-99DC-28AA2A89B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M4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6244E0-561E-46F3-873B-306D0DEB4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Turns retrieved policy chunks into a grounded answer with citations and evidence.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C81EE6-F01F-4E8B-98EC-8044583D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EFBF29-F268-4704-9317-3FC43C5BE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72F897-C6BC-455D-BC5E-D737613A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95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Hybrid retrieval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221960-9E00-4020-8A3C-88A34BEC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004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Combines Qdrant vector hits with deterministic keyword search and reranking.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5220C7-B04B-419F-B81B-C2D87CEA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D0FD7E-808F-4E3E-94BD-22C0EE91E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66F906-18A5-490F-A069-8C5921CFC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Groundedness check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D897E8-DCB4-4353-9065-7896E6E10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Numeric claims in the answer must appear in retrieved evidence. Unsupported numbers are flagged.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E45CB7-A125-49A7-A86D-A1F3EBEE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432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D3724F-6FC8-48E9-9FA9-E9FCC4992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432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3E1CB2-8F1D-4E12-B24D-E014DDAB8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Evaluation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55F3B2-6BE3-4FA2-9449-7D96999B9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004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Five golden policy cases check return windows, refund cap, groceries and legal routing.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66E904-579E-4B4F-850D-149F18404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10</a:t>
            </a:r>
          </a:p>
        </p:txBody>
      </p:sp>
    </p:spTree>
    <p:extLst>
      <p:ext uri="{BB962C8B-B14F-4D97-AF65-F5344CB8AC3E}">
        <p14:creationId xmlns:p14="http://schemas.microsoft.com/office/powerpoint/2010/main" val="96926803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2D5870-6656-4887-B409-9EAF5D140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78ECEC-261A-4FFB-AECE-A5DEB5D7F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M4 answer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7CEC7E-FE64-44C7-A80E-DACE165EB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EA487C-D857-4178-9BD7-3CF2C75B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00200"/>
            <a:ext cx="10382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E59A2A-D3E7-434A-A36E-2753487C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00200"/>
            <a:ext cx="666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BEA7E9-AB2D-4B7D-A827-6A560D768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996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Question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CBADEA-A153-475C-B542-AD3A653C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57400"/>
            <a:ext cx="9963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Can a customer return an opened Beauty item after 11 days?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89A0E0-4D10-4EE5-99C1-6F0D030A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038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9D13F6-A567-492B-B579-E1359228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1F16E2-AC21-47FB-9C52-94CB092BA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0350"/>
            <a:ext cx="996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Grounded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3C4415-BF84-499A-9231-8403BDE9F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996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No. Beauty has a 10-day return window, and opened Beauty items cannot be returned for change of mind.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737309-453B-4517-A6AC-E6732CA50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4953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4E9516-0E78-44E8-8FA0-6B6AAB36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535C0C-2FF4-4A40-AA43-4388ED1D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9C2F2C-23D0-46D9-940D-6CD3840B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00550"/>
            <a:ext cx="4533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Category Policy Addendum: Beauty, sections on return window and opened-item restrictions.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752F75-556C-45C5-85EF-D29857A86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43350"/>
            <a:ext cx="4953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41B190-3460-4D8C-8BC2-204C40F5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433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FF08FD-5052-4472-ADFC-7D6390F3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Blocked hallucination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E0B748-ADCF-4CC1-9E06-88509C30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400550"/>
            <a:ext cx="4533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The answer must not invent a 30-day or 45-day Beauty return window.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AF5014-C7F4-42F0-AD88-889532B0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11</a:t>
            </a:r>
          </a:p>
        </p:txBody>
      </p:sp>
    </p:spTree>
    <p:extLst>
      <p:ext uri="{BB962C8B-B14F-4D97-AF65-F5344CB8AC3E}">
        <p14:creationId xmlns:p14="http://schemas.microsoft.com/office/powerpoint/2010/main" val="75080141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9BA86E-8541-4D87-BE4D-612999E2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39AA8-C4AA-407E-B304-5A96910FF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Verification status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15E323-39F4-4743-A2F1-81BF594C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D5FC55-A45A-45B0-8FCA-5F2BF4CD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53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2CA4DB-5413-4187-99C9-71A73686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Unit tests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EC0C48-53D0-4895-83DD-DC10AAC83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All unit tests pass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0AAF58-DEF3-4BF4-8EF8-770DD916E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5/5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CA398E-F43F-47A3-B334-6C5EB632C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M4 eval cases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91A3B5-89F5-4234-9ED3-E58B84EA0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Grounded policy eval passes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02092E-204A-4486-89C5-74D2DC5E2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D4ED8"/>
                </a:solidFill>
              </a:defRPr>
            </a:pPr>
            <a:r>
              <a:rPr sz="2550" b="1">
                <a:solidFill>
                  <a:srgbClr val="1D4ED8"/>
                </a:solidFill>
              </a:rPr>
              <a:t>60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6668A3-26F3-47BA-A667-4C2E29CA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M1 holdout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44D71B-008C-4819-877C-8B0640ED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Parsed tickets in latest report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24233F-4CA7-4C47-BD8F-487611EFC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5B21B6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5B21B6"/>
                </a:solidFill>
              </a:defRPr>
            </a:pPr>
            <a:r>
              <a:rPr sz="2550" b="1">
                <a:solidFill>
                  <a:srgbClr val="5B21B6"/>
                </a:solidFill>
              </a:rPr>
              <a:t>84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C5548D-0D0D-4BCB-AE05-F2AB4D6CE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Policy chunks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940CA8-23A0-4063-9F2A-BBB6F76D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Indexed into Qdrant Cloud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487A35-5AE1-451D-B1CC-014625C6A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38600"/>
            <a:ext cx="8191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59DCE7-AA74-4874-BD25-6000EBDB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3860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54D57E-D718-49A7-AA18-08E4D78D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191000"/>
            <a:ext cx="7772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Run commands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7E0F3B-0CAA-46F8-9FF6-5B142DE2A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495800"/>
            <a:ext cx="7772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-m pytest tests/unit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scripts/build_policy_index.py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scripts/run_policy_eval.py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-m capstone.workbench.app --port 8765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CC555D-ED0C-4F2F-AF03-33487B94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12</a:t>
            </a:r>
          </a:p>
        </p:txBody>
      </p:sp>
    </p:spTree>
    <p:extLst>
      <p:ext uri="{BB962C8B-B14F-4D97-AF65-F5344CB8AC3E}">
        <p14:creationId xmlns:p14="http://schemas.microsoft.com/office/powerpoint/2010/main" val="121731485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22201F-4645-4077-B1FC-1F100B490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FBE09D-7922-465F-B0C1-F04279DA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Repository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15FBCF-DBDA-41C9-A64D-3DD9E931E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64B587-AA13-4BB0-9BF3-414AF48C6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4762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348D05-DA95-4679-92C9-05B06587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1A1F0B-76A3-42AF-B345-ABA4C9D6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Agents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B20D7F-8C94-4BEA-95F4-692047DF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76450"/>
            <a:ext cx="434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`intake_agent.py`, `action_agent.py`, `policy_agent.py`, `team/multi_agent.py`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F1AA1A-6D38-447B-91AD-14A0E229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4762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F9C6A5-5D89-4B0D-A171-77E7F23F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A60468-D8B9-42CC-B7B6-3E9FE5EF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337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Tools and schemas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421D24-0642-408A-97D1-CA5564A4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38500"/>
            <a:ext cx="434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Deterministic order/refund/shipping tools plus Pydantic models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3FFDBE-4CCB-4D83-B4FC-3C547AFE2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4762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B98AE7-3022-4E78-B32A-1701DDDAA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37F433-B322-45D4-8335-098C0B77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957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Memory and RAG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EF40F0-0551-4528-8F58-C40EE508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434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`memory/store.py`, `rag/policy_index.py`, `rag/hybrid.py`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1D4D55-3CA0-4C6B-AA51-A8501954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4095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C94A60-14A0-4079-9ED4-F86E65F78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FB15F1-DF77-4366-AAAE-0CF524324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7716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MCP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2E3CEE-2A9D-4F4B-9B24-C374A64E4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764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`mcp/client.py`, `mcp/tools.py` and `mcp/server.py` support protocol-backed tool calls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239290-625F-4088-9150-1B78E5283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4095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F8F946-6A9B-4974-987E-0FF44876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DCA585-9EAA-4813-90EF-991923A3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7716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MCP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82FDC5-AC60-46F9-853B-B71B560A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7645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`mcp/client.py`, `mcp/tools.py` and `mcp/server.py` support protocol-backed tool calls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46429C-7B27-4845-8539-072F2CA39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09850"/>
            <a:ext cx="4095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72CB1C-F2B9-4DE3-ABB7-3D32B72E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098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64748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DCB326-FB45-40D0-B15D-A4CBC7AC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7622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Reliability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84E9D4-FFF2-42F7-AB47-06A345C2C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670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`reliability/tools.py` wraps tools with retry, circuit breaker and human-queue fallback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57A1DCF-AB93-40A9-81CD-209F666C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2850"/>
            <a:ext cx="4095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7F03C2-4698-440D-8022-3341192E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28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6ADABF-54FD-4115-9D1C-ED7C68834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9052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Tracing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131ABA-D7D1-445B-9365-EBE89261B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2100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`observability/tracing.py` writes local traces and forwards to LangFuse when configured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D53FF5-2942-4315-AAB9-5533A85FC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13</a:t>
            </a:r>
          </a:p>
        </p:txBody>
      </p:sp>
    </p:spTree>
    <p:extLst>
      <p:ext uri="{BB962C8B-B14F-4D97-AF65-F5344CB8AC3E}">
        <p14:creationId xmlns:p14="http://schemas.microsoft.com/office/powerpoint/2010/main" val="122146541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4FC985-05FD-45B4-A225-9CAB35AEC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580F1B-9BFF-40F3-A6C8-A3A956A05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M5 LangGraph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55E7EF-B70F-4D83-A4B7-085AA751A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4C4576-A3A4-4F0D-8C33-C4F66C323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4953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20CD7A-FEC8-4DCC-B72F-B67D29CE7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E5D660-9A8E-4FB0-AA19-CAE577E80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335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Workflow path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971DA5-5AFE-42F7-A715-8603044E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38350"/>
            <a:ext cx="4533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triage -&gt; memory -&gt; policy-check -&gt; action-plan -&gt; conditional route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603D2C-106D-4343-9B22-3FF013D60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C3136A-6A8E-4AEB-8B31-D482A6C9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5CA657-F6BC-4BE3-97FE-AE59F1FE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432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Checkpointing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35FEB7-B8BD-4CA5-9EE4-F9D02311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4805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LangGraph state is durably checkpointed in SQLite; JSON snapshots make each node inspectable.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C059E7-2A89-48A5-8E74-8858F1C1F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81150"/>
            <a:ext cx="4095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A01BA6-7774-417D-B364-D65894D5C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811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4D4954-BC53-4056-A717-40FCF78E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335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Auto route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10D1FE-29C0-4270-BF46-E601BC8A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38350"/>
            <a:ext cx="3676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Low-risk cases can execute deterministic tools when `execute_actions=True`.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48807A-CB2C-4C09-A801-8557C69A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90850"/>
            <a:ext cx="40957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CAEDC6-734D-43E4-A4AB-F21C06919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908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4A2ED0-793E-42D6-A0B1-DC1BBDCEF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432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Human interrupt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9773D9-0AF9-4B58-81BB-48CFB599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48050"/>
            <a:ext cx="3676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Angry, distressed, critical, legal, safety or over-cap cases pause with interrupt() and resume via Command.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B21FFC-7186-43F2-81D3-CC93F51EE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762500"/>
            <a:ext cx="6858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5F4001-3A1B-46A6-8777-F0BB5D8D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33950"/>
            <a:ext cx="6515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status: human_approval_required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route: human_interrupt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trigger: legal_or_regulatory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511B8D-ECF2-4E25-9393-7353B08B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14</a:t>
            </a:r>
          </a:p>
        </p:txBody>
      </p:sp>
    </p:spTree>
    <p:extLst>
      <p:ext uri="{BB962C8B-B14F-4D97-AF65-F5344CB8AC3E}">
        <p14:creationId xmlns:p14="http://schemas.microsoft.com/office/powerpoint/2010/main" val="1091712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8E669A-AF27-42C2-A15D-3BA3F526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3606C3-F8FD-46EF-899B-38534D7D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M6 multi-agent team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6513AF-CAE4-49BC-8C77-725D5E29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D8C6B5-7A79-43CE-9600-D4743B0B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F19BAE-9E6D-418D-B46D-6F879635B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52AC48-3D0B-4B4F-9FAF-693318C10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Team agents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BCF31A-AABA-40DB-8C97-1428C7CD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1455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Triage, Memory, Policy RAG, Order-Actions and Escalation Reviewer agents expose clear ownership.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B7CD29-B2F7-411E-B5A5-04EEFC353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32E7A0-4CBF-40B5-8411-F89427E1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E734A9-9DF9-4C15-9DC0-EF534898C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9090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MCP server/client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8FB9F7-97F9-45F6-AAFD-15412445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9570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Order/refund/shipping APIs are exposed through MCP; the team can invoke them over stdio, not only by direct Python calls.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B6A158-6178-4745-AC1B-60F7C77D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962150"/>
            <a:ext cx="3714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M6 keeps the working M5 spine, but makes the agent roles and tool boundary visible for evaluation.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BD43AA-4CAE-465C-9966-8A78E65E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7147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Tests verify MCP discovery/invocation, scoped order access, legal escalation and shared chat/email tooling.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55E1F8-3B9D-47B7-A35C-EBF6B80B4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15</a:t>
            </a:r>
          </a:p>
        </p:txBody>
      </p:sp>
    </p:spTree>
    <p:extLst>
      <p:ext uri="{BB962C8B-B14F-4D97-AF65-F5344CB8AC3E}">
        <p14:creationId xmlns:p14="http://schemas.microsoft.com/office/powerpoint/2010/main" val="154786014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F2140F-3740-4067-904C-6A0BA966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2E44CF-C81F-45A8-BA6D-CCECBCEA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M7 tracing and reliability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6BE66A-A339-4014-AE5D-FCF2EA8B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5E8CBB-A4B8-4906-9213-167D9939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9B77BB-BBCA-481B-9B15-97FBC107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AB3775-0690-4DB5-88E0-B263EBA2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Trace coverage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6A8DB0-28DC-47CE-9062-4F7ABA875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1455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Each ticket flow records agent spans plus nested policy-retrieval and tool-call child spans.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770113-A739-4CAC-A298-E3AB5899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43BF58-A227-41A0-AAE9-D95CFA322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A04C17-E766-4CB1-940E-42E930E0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9090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Lab-style dashboard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C4F4B-FCF5-41EF-9C61-CA2A6D7A5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9570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Trace JSONL can be summarized into calls, total ms, average ms, errors and fallback counts.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1C926C-B2CB-487A-A861-93E35C306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962150"/>
            <a:ext cx="3714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M7 makes failures inspectable and survivable: a flaky order tool does not drop the case.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299E3E-35E7-40FF-8DB9-627C632D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9052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Seeded benchmark: baseline 57% clean success; hardened path handles 100% with visible fallbacks.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B494AC-C517-42C6-9926-A12A684A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16</a:t>
            </a:r>
          </a:p>
        </p:txBody>
      </p:sp>
    </p:spTree>
    <p:extLst>
      <p:ext uri="{BB962C8B-B14F-4D97-AF65-F5344CB8AC3E}">
        <p14:creationId xmlns:p14="http://schemas.microsoft.com/office/powerpoint/2010/main" val="2181661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62EA83-FEA6-4DA7-A304-DE2E2AF77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D985BA-ED1B-404A-8873-EAD327BF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Next milestone: M8 packaging and guardrails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5579AF-C688-4EF6-B8BA-121ADC12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1E85B1-6D03-4F4B-9425-90801CB37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46E43C-2F7E-47A8-A0B7-8517030D3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B74D77-C315-4556-8AC2-6B694186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Expected M8 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94742B-F018-4A04-B431-22B78EDC8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1455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Golden eval set of 20 tickets, prompt-injection cases, refund-cap guardrails and policy-fabrication checks.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298E38-00F5-4F9E-953B-6EFEB807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B0AC7E-47DA-4D33-9364-D13A4EB6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B274A8-6A10-49AD-8263-CD0B910C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9090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Packaging target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1B27BA-86B9-4D1C-9E68-3A128010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9570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FastAPI packaging with a demo chat endpoint so the complete assistant can be exercised from one API.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12A674-0189-4BE7-BBCB-469E80649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962150"/>
            <a:ext cx="3714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M1-M7 now give us the working spine: parse, decide, remember, retrieve, route, coordinate and recover.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FB6A4A-5E28-4A13-A707-3014330EB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9052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M8 should make that spine evaluator-friendly as a packaged service with a stronger golden test suite.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42DE75-ADD3-48CD-9713-7CA265ED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17</a:t>
            </a:r>
          </a:p>
        </p:txBody>
      </p:sp>
    </p:spTree>
    <p:extLst>
      <p:ext uri="{BB962C8B-B14F-4D97-AF65-F5344CB8AC3E}">
        <p14:creationId xmlns:p14="http://schemas.microsoft.com/office/powerpoint/2010/main" val="12429479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2026-10-13T08:23:18.9370000Z</dcterms:created>
  <dcterms:modified xsi:type="dcterms:W3CDTF">2026-10-13T08:23:18.9370000Z</dcterms:modified>
</coreProperties>
</file>