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chips under it wrap everything: LangGraph pause and resume, the supervised team, tracing, and the API with evaluation.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(tickets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Rectangle 1"/>
          <p:cNvSpPr/>
          <p:nvPr/>
        </p:nvSpPr>
        <p:spPr>
          <a:xfrm>
            <a:off x="731520" y="2011680"/>
            <a:ext cx="109728" cy="2011680"/>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417320"/>
            <a:ext cx="10058400" cy="457200"/>
          </a:xfrm>
          <a:prstGeom prst="rect">
            <a:avLst/>
          </a:prstGeom>
          <a:noFill/>
        </p:spPr>
        <p:txBody>
          <a:bodyPr wrap="square" lIns="45720" rIns="45720">
            <a:spAutoFit/>
          </a:bodyPr>
          <a:lstStyle/>
          <a:p>
            <a:pPr>
              <a:spcAft>
                <a:spcPts val="600"/>
              </a:spcAft>
            </a:pPr>
            <a:r>
              <a:rPr sz="1500" b="1">
                <a:solidFill>
                  <a:srgbClr val="90D0FE"/>
                </a:solidFill>
                <a:latin typeface="Calibri"/>
              </a:rPr>
              <a:t>APPLIED AI PROFESSIONAL CERTIFICATION PROGRAM  |  CAPSTONE PROJECT</a:t>
            </a: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931920"/>
            <a:ext cx="1005840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7" name="TextBox 6"/>
          <p:cNvSpPr txBox="1"/>
          <p:nvPr/>
        </p:nvSpPr>
        <p:spPr>
          <a:xfrm>
            <a:off x="1005840" y="4434840"/>
            <a:ext cx="10058400" cy="457200"/>
          </a:xfrm>
          <a:prstGeom prst="rect">
            <a:avLst/>
          </a:prstGeom>
          <a:noFill/>
        </p:spPr>
        <p:txBody>
          <a:bodyPr wrap="square" lIns="45720" rIns="45720">
            <a:spAutoFit/>
          </a:bodyPr>
          <a:lstStyle/>
          <a:p>
            <a:pPr>
              <a:spcAft>
                <a:spcPts val="600"/>
              </a:spcAft>
            </a:pPr>
            <a:r>
              <a:rPr sz="1800" b="0">
                <a:solidFill>
                  <a:srgbClr val="B8C7DA"/>
                </a:solidFill>
                <a:latin typeface="Calibri"/>
              </a:rPr>
              <a:t>Lead Member of Technical Staff, Salesforce</a:t>
            </a:r>
          </a:p>
        </p:txBody>
      </p:sp>
      <p:sp>
        <p:nvSpPr>
          <p:cNvPr id="8" name="TextBox 7"/>
          <p:cNvSpPr txBox="1"/>
          <p:nvPr/>
        </p:nvSpPr>
        <p:spPr>
          <a:xfrm>
            <a:off x="1005840" y="5989320"/>
            <a:ext cx="10058400" cy="365760"/>
          </a:xfrm>
          <a:prstGeom prst="rect">
            <a:avLst/>
          </a:prstGeom>
          <a:noFill/>
        </p:spPr>
        <p:txBody>
          <a:bodyPr wrap="square" lIns="45720" rIns="45720">
            <a:spAutoFit/>
          </a:bodyPr>
          <a:lstStyle/>
          <a:p>
            <a:pPr>
              <a:spcAft>
                <a:spcPts val="600"/>
              </a:spcAft>
            </a:pPr>
            <a:r>
              <a:rPr sz="1400" b="0">
                <a:solidFill>
                  <a:srgbClr val="B8C7DA"/>
                </a:solidFill>
                <a:latin typeface="Calibri"/>
                <a:hlinkClick r:id="rId2"/>
              </a:rPr>
              <a:t>Department of Computer Science &amp; Engineering, Indian Institute of Technology Hyderabad</a:t>
            </a:r>
          </a:p>
        </p:txBody>
      </p:sp>
      <p:sp>
        <p:nvSpPr>
          <p:cNvPr id="9" name="TextBox 8"/>
          <p:cNvSpPr txBox="1"/>
          <p:nvPr/>
        </p:nvSpPr>
        <p:spPr>
          <a:xfrm>
            <a:off x="1005840" y="512064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WRAPPED AROUND THE WHOLE PIPELINE</a:t>
            </a:r>
          </a:p>
        </p:txBody>
      </p:sp>
      <p:sp>
        <p:nvSpPr>
          <p:cNvPr id="22" name="Rounded Rectangle 21"/>
          <p:cNvSpPr/>
          <p:nvPr/>
        </p:nvSpPr>
        <p:spPr>
          <a:xfrm>
            <a:off x="457200" y="3456432"/>
            <a:ext cx="2674620" cy="54864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474720"/>
            <a:ext cx="2514600" cy="512064"/>
          </a:xfrm>
          <a:prstGeom prst="rect">
            <a:avLst/>
          </a:prstGeom>
          <a:noFill/>
        </p:spPr>
        <p:txBody>
          <a:bodyPr wrap="square" lIns="45720" rIns="45720">
            <a:spAutoFit/>
          </a:bodyPr>
          <a:lstStyle/>
          <a:p>
            <a:pPr>
              <a:spcAft>
                <a:spcPts val="0"/>
              </a:spcAft>
            </a:pPr>
            <a:r>
              <a:rPr sz="1200" b="1">
                <a:solidFill>
                  <a:srgbClr val="032D60"/>
                </a:solidFill>
                <a:latin typeface="Calibri"/>
              </a:rPr>
              <a:t>M5 LangGraph</a:t>
            </a:r>
          </a:p>
          <a:p>
            <a:pPr>
              <a:spcAft>
                <a:spcPts val="0"/>
              </a:spcAft>
            </a:pPr>
            <a:r>
              <a:rPr sz="1000" b="0">
                <a:solidFill>
                  <a:srgbClr val="54697E"/>
                </a:solidFill>
                <a:latin typeface="Calibri"/>
              </a:rPr>
              <a:t>human interrupt, resume</a:t>
            </a:r>
          </a:p>
        </p:txBody>
      </p:sp>
      <p:sp>
        <p:nvSpPr>
          <p:cNvPr id="24" name="Rounded Rectangle 23"/>
          <p:cNvSpPr/>
          <p:nvPr/>
        </p:nvSpPr>
        <p:spPr>
          <a:xfrm>
            <a:off x="3314700" y="3456432"/>
            <a:ext cx="2674620" cy="54864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6140" y="3474720"/>
            <a:ext cx="2514600" cy="512064"/>
          </a:xfrm>
          <a:prstGeom prst="rect">
            <a:avLst/>
          </a:prstGeom>
          <a:noFill/>
        </p:spPr>
        <p:txBody>
          <a:bodyPr wrap="square" lIns="45720" rIns="45720">
            <a:spAutoFit/>
          </a:bodyPr>
          <a:lstStyle/>
          <a:p>
            <a:pPr>
              <a:spcAft>
                <a:spcPts val="0"/>
              </a:spcAft>
            </a:pPr>
            <a:r>
              <a:rPr sz="1200" b="1">
                <a:solidFill>
                  <a:srgbClr val="032D60"/>
                </a:solidFill>
                <a:latin typeface="Calibri"/>
              </a:rPr>
              <a:t>M6 supervised team</a:t>
            </a:r>
          </a:p>
          <a:p>
            <a:pPr>
              <a:spcAft>
                <a:spcPts val="0"/>
              </a:spcAft>
            </a:pPr>
            <a:r>
              <a:rPr sz="1000" b="0">
                <a:solidFill>
                  <a:srgbClr val="54697E"/>
                </a:solidFill>
                <a:latin typeface="Calibri"/>
              </a:rPr>
              <a:t>route, review, revise</a:t>
            </a:r>
          </a:p>
        </p:txBody>
      </p:sp>
      <p:sp>
        <p:nvSpPr>
          <p:cNvPr id="26" name="Rounded Rectangle 25"/>
          <p:cNvSpPr/>
          <p:nvPr/>
        </p:nvSpPr>
        <p:spPr>
          <a:xfrm>
            <a:off x="6172200" y="3456432"/>
            <a:ext cx="2674620" cy="54864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474720"/>
            <a:ext cx="2514600" cy="512064"/>
          </a:xfrm>
          <a:prstGeom prst="rect">
            <a:avLst/>
          </a:prstGeom>
          <a:noFill/>
        </p:spPr>
        <p:txBody>
          <a:bodyPr wrap="square" lIns="45720" rIns="45720">
            <a:spAutoFit/>
          </a:bodyPr>
          <a:lstStyle/>
          <a:p>
            <a:pPr>
              <a:spcAft>
                <a:spcPts val="0"/>
              </a:spcAft>
            </a:pPr>
            <a:r>
              <a:rPr sz="1200" b="1">
                <a:solidFill>
                  <a:srgbClr val="032D60"/>
                </a:solidFill>
                <a:latin typeface="Calibri"/>
              </a:rPr>
              <a:t>M7 tracing + fallback</a:t>
            </a:r>
          </a:p>
          <a:p>
            <a:pPr>
              <a:spcAft>
                <a:spcPts val="0"/>
              </a:spcAft>
            </a:pPr>
            <a:r>
              <a:rPr sz="1000" b="0">
                <a:solidFill>
                  <a:srgbClr val="54697E"/>
                </a:solidFill>
                <a:latin typeface="Calibri"/>
              </a:rPr>
              <a:t>Langfuse, retries, breaker</a:t>
            </a:r>
          </a:p>
        </p:txBody>
      </p:sp>
      <p:sp>
        <p:nvSpPr>
          <p:cNvPr id="28" name="Rounded Rectangle 27"/>
          <p:cNvSpPr/>
          <p:nvPr/>
        </p:nvSpPr>
        <p:spPr>
          <a:xfrm>
            <a:off x="9029700" y="3456432"/>
            <a:ext cx="2674620" cy="54864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21140" y="3474720"/>
            <a:ext cx="2514600" cy="512064"/>
          </a:xfrm>
          <a:prstGeom prst="rect">
            <a:avLst/>
          </a:prstGeom>
          <a:noFill/>
        </p:spPr>
        <p:txBody>
          <a:bodyPr wrap="square" lIns="45720" rIns="45720">
            <a:spAutoFit/>
          </a:bodyPr>
          <a:lstStyle/>
          <a:p>
            <a:pPr>
              <a:spcAft>
                <a:spcPts val="0"/>
              </a:spcAft>
            </a:pPr>
            <a:r>
              <a:rPr sz="1200" b="1">
                <a:solidFill>
                  <a:srgbClr val="032D60"/>
                </a:solidFill>
                <a:latin typeface="Calibri"/>
              </a:rPr>
              <a:t>M8 /chat + golden eval</a:t>
            </a:r>
          </a:p>
          <a:p>
            <a:pPr>
              <a:spcAft>
                <a:spcPts val="0"/>
              </a:spcAft>
            </a:pPr>
            <a:r>
              <a:rPr sz="1000" b="0">
                <a:solidFill>
                  <a:srgbClr val="54697E"/>
                </a:solidFill>
                <a:latin typeface="Calibri"/>
              </a:rPr>
              <a:t>guardrails, judge, Docker</a:t>
            </a:r>
          </a:p>
        </p:txBody>
      </p:sp>
      <p:sp>
        <p:nvSpPr>
          <p:cNvPr id="30" name="TextBox 29"/>
          <p:cNvSpPr txBox="1"/>
          <p:nvPr/>
        </p:nvSpPr>
        <p:spPr>
          <a:xfrm>
            <a:off x="457200" y="420624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TICKETS WE FOLLOW, SAME CODE FOR ALL  (bar colour = where the ticket ends up)</a:t>
            </a:r>
          </a:p>
        </p:txBody>
      </p:sp>
      <p:graphicFrame>
        <p:nvGraphicFramePr>
          <p:cNvPr id="31" name="Table 30"/>
          <p:cNvGraphicFramePr>
            <a:graphicFrameLocks noGrp="1"/>
          </p:cNvGraphicFramePr>
          <p:nvPr/>
        </p:nvGraphicFramePr>
        <p:xfrm>
          <a:off x="548640" y="4526280"/>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Ticket</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32" name="Rectangle 31"/>
          <p:cNvSpPr/>
          <p:nvPr/>
        </p:nvSpPr>
        <p:spPr>
          <a:xfrm>
            <a:off x="457200" y="48737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5202936"/>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5532120"/>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TICKETS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ticket,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TICKETS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Ticket,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tickets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TICKETS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ticket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TICKET: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ticket)</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Ticket B (tracking) needs no policy, so M6 skips it; ticket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Tickets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Ticket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Tickets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TICKETS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TICKETS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ticket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graphicFrame>
        <p:nvGraphicFramePr>
          <p:cNvPr id="6" name="Table 5"/>
          <p:cNvGraphicFramePr>
            <a:graphicFrameLocks noGrp="1"/>
          </p:cNvGraphicFramePr>
          <p:nvPr/>
        </p:nvGraphicFramePr>
        <p:xfrm>
          <a:off x="548640" y="1371600"/>
          <a:ext cx="4206240" cy="1975104"/>
        </p:xfrm>
        <a:graphic>
          <a:graphicData uri="http://schemas.openxmlformats.org/drawingml/2006/table">
            <a:tbl>
              <a:tblPr firstRow="1" bandRow="1">
                <a:tableStyleId>{5C22544A-7EE6-4342-B048-85BDC9FD1C3A}</a:tableStyleId>
              </a:tblPr>
              <a:tblGrid>
                <a:gridCol w="2743200"/>
                <a:gridCol w="1463040"/>
              </a:tblGrid>
              <a:tr h="329184">
                <a:tc>
                  <a:txBody>
                    <a:bodyPr wrap="square"/>
                    <a:lstStyle/>
                    <a:p>
                      <a:pPr>
                        <a:spcAft>
                          <a:spcPts val="0"/>
                        </a:spcAft>
                      </a:pPr>
                      <a:r>
                        <a:rPr sz="1100" b="1">
                          <a:solidFill>
                            <a:srgbClr val="FFFFFF"/>
                          </a:solidFill>
                          <a:latin typeface="Calibri"/>
                        </a:rPr>
                        <a:t>Check</a:t>
                      </a:r>
                    </a:p>
                  </a:txBody>
                  <a:tcPr marT="36576" marB="36576">
                    <a:solidFill>
                      <a:srgbClr val="032D60"/>
                    </a:solidFill>
                  </a:tcPr>
                </a:tc>
                <a:tc>
                  <a:txBody>
                    <a:bodyPr wrap="square"/>
                    <a:lstStyle/>
                    <a:p>
                      <a:pPr>
                        <a:spcAft>
                          <a:spcPts val="0"/>
                        </a:spcAft>
                      </a:pPr>
                      <a:r>
                        <a:rPr sz="1100" b="1">
                          <a:solidFill>
                            <a:srgbClr val="FFFFFF"/>
                          </a:solidFill>
                          <a:latin typeface="Calibri"/>
                        </a:rPr>
                        <a:t>Result</a:t>
                      </a:r>
                    </a:p>
                  </a:txBody>
                  <a:tcPr marT="36576" marB="36576">
                    <a:solidFill>
                      <a:srgbClr val="032D60"/>
                    </a:solidFill>
                  </a:tcPr>
                </a:tc>
              </a:tr>
              <a:tr h="329184">
                <a:tc>
                  <a:txBody>
                    <a:bodyPr wrap="square"/>
                    <a:lstStyle/>
                    <a:p>
                      <a:pPr>
                        <a:spcAft>
                          <a:spcPts val="0"/>
                        </a:spcAft>
                      </a:pPr>
                      <a:r>
                        <a:rPr sz="1100" b="0">
                          <a:solidFill>
                            <a:srgbClr val="1C2A3E"/>
                          </a:solidFill>
                          <a:latin typeface="Calibri"/>
                        </a:rPr>
                        <a:t>Unit tests (fresh clone)</a:t>
                      </a:r>
                    </a:p>
                  </a:txBody>
                  <a:tcPr marT="36576" marB="36576">
                    <a:solidFill>
                      <a:srgbClr val="EAF5FE"/>
                    </a:solidFill>
                  </a:tcPr>
                </a:tc>
                <a:tc>
                  <a:txBody>
                    <a:bodyPr wrap="square"/>
                    <a:lstStyle/>
                    <a:p>
                      <a:pPr>
                        <a:spcAft>
                          <a:spcPts val="0"/>
                        </a:spcAft>
                      </a:pPr>
                      <a:r>
                        <a:rPr sz="1100" b="0">
                          <a:solidFill>
                            <a:srgbClr val="1C2A3E"/>
                          </a:solidFill>
                          <a:latin typeface="Calibri"/>
                        </a:rPr>
                        <a:t>98 passed</a:t>
                      </a:r>
                    </a:p>
                  </a:txBody>
                  <a:tcPr marT="36576" marB="36576">
                    <a:solidFill>
                      <a:srgbClr val="EAF5FE"/>
                    </a:solidFill>
                  </a:tcPr>
                </a:tc>
              </a:tr>
              <a:tr h="329184">
                <a:tc>
                  <a:txBody>
                    <a:bodyPr wrap="square"/>
                    <a:lstStyle/>
                    <a:p>
                      <a:pPr>
                        <a:spcAft>
                          <a:spcPts val="0"/>
                        </a:spcAft>
                      </a:pPr>
                      <a:r>
                        <a:rPr sz="1100" b="0">
                          <a:solidFill>
                            <a:srgbClr val="1C2A3E"/>
                          </a:solidFill>
                          <a:latin typeface="Calibri"/>
                        </a:rPr>
                        <a:t>M8 golden tickets, stored and live</a:t>
                      </a:r>
                    </a:p>
                  </a:txBody>
                  <a:tcPr marT="36576" marB="36576">
                    <a:solidFill>
                      <a:srgbClr val="FFFFFF"/>
                    </a:solidFill>
                  </a:tcPr>
                </a:tc>
                <a:tc>
                  <a:txBody>
                    <a:bodyPr wrap="square"/>
                    <a:lstStyle/>
                    <a:p>
                      <a:pPr>
                        <a:spcAft>
                          <a:spcPts val="0"/>
                        </a:spcAft>
                      </a:pPr>
                      <a:r>
                        <a:rPr sz="1100" b="0">
                          <a:solidFill>
                            <a:srgbClr val="1C2A3E"/>
                          </a:solidFill>
                          <a:latin typeface="Calibri"/>
                        </a:rPr>
                        <a:t>20 / 20</a:t>
                      </a:r>
                    </a:p>
                  </a:txBody>
                  <a:tcPr marT="36576" marB="36576">
                    <a:solidFill>
                      <a:srgbClr val="FFFFFF"/>
                    </a:solidFill>
                  </a:tcPr>
                </a:tc>
              </a:tr>
              <a:tr h="329184">
                <a:tc>
                  <a:txBody>
                    <a:bodyPr wrap="square"/>
                    <a:lstStyle/>
                    <a:p>
                      <a:pPr>
                        <a:spcAft>
                          <a:spcPts val="0"/>
                        </a:spcAft>
                      </a:pPr>
                      <a:r>
                        <a:rPr sz="1100" b="0">
                          <a:solidFill>
                            <a:srgbClr val="1C2A3E"/>
                          </a:solidFill>
                          <a:latin typeface="Calibri"/>
                        </a:rPr>
                        <a:t>M8 components (4 x 5 items)</a:t>
                      </a:r>
                    </a:p>
                  </a:txBody>
                  <a:tcPr marT="36576" marB="36576">
                    <a:solidFill>
                      <a:srgbClr val="EAF5FE"/>
                    </a:solidFill>
                  </a:tcPr>
                </a:tc>
                <a:tc>
                  <a:txBody>
                    <a:bodyPr wrap="square"/>
                    <a:lstStyle/>
                    <a:p>
                      <a:pPr>
                        <a:spcAft>
                          <a:spcPts val="0"/>
                        </a:spcAft>
                      </a:pPr>
                      <a:r>
                        <a:rPr sz="1100" b="0">
                          <a:solidFill>
                            <a:srgbClr val="1C2A3E"/>
                          </a:solidFill>
                          <a:latin typeface="Calibri"/>
                        </a:rPr>
                        <a:t>1.0</a:t>
                      </a:r>
                    </a:p>
                  </a:txBody>
                  <a:tcPr marT="36576" marB="36576">
                    <a:solidFill>
                      <a:srgbClr val="EAF5FE"/>
                    </a:solidFill>
                  </a:tcPr>
                </a:tc>
              </a:tr>
              <a:tr h="329184">
                <a:tc>
                  <a:txBody>
                    <a:bodyPr wrap="square"/>
                    <a:lstStyle/>
                    <a:p>
                      <a:pPr>
                        <a:spcAft>
                          <a:spcPts val="0"/>
                        </a:spcAft>
                      </a:pPr>
                      <a:r>
                        <a:rPr sz="1100" b="0">
                          <a:solidFill>
                            <a:srgbClr val="1C2A3E"/>
                          </a:solidFill>
                          <a:latin typeface="Calibri"/>
                        </a:rPr>
                        <a:t>Answer faithfulness (judge)</a:t>
                      </a:r>
                    </a:p>
                  </a:txBody>
                  <a:tcPr marT="36576" marB="36576">
                    <a:solidFill>
                      <a:srgbClr val="FFFFFF"/>
                    </a:solidFill>
                  </a:tcPr>
                </a:tc>
                <a:tc>
                  <a:txBody>
                    <a:bodyPr wrap="square"/>
                    <a:lstStyle/>
                    <a:p>
                      <a:pPr>
                        <a:spcAft>
                          <a:spcPts val="0"/>
                        </a:spcAft>
                      </a:pPr>
                      <a:r>
                        <a:rPr sz="1100" b="0">
                          <a:solidFill>
                            <a:srgbClr val="1C2A3E"/>
                          </a:solidFill>
                          <a:latin typeface="Calibri"/>
                        </a:rPr>
                        <a:t>1.0</a:t>
                      </a:r>
                    </a:p>
                  </a:txBody>
                  <a:tcPr marT="36576" marB="36576">
                    <a:solidFill>
                      <a:srgbClr val="FFFFFF"/>
                    </a:solidFill>
                  </a:tcPr>
                </a:tc>
              </a:tr>
              <a:tr h="329184">
                <a:tc>
                  <a:txBody>
                    <a:bodyPr wrap="square"/>
                    <a:lstStyle/>
                    <a:p>
                      <a:pPr>
                        <a:spcAft>
                          <a:spcPts val="0"/>
                        </a:spcAft>
                      </a:pPr>
                      <a:r>
                        <a:rPr sz="1100" b="0">
                          <a:solidFill>
                            <a:srgbClr val="1C2A3E"/>
                          </a:solidFill>
                          <a:latin typeface="Calibri"/>
                        </a:rPr>
                        <a:t>M4 recall@3, hybrid</a:t>
                      </a:r>
                    </a:p>
                  </a:txBody>
                  <a:tcPr marT="36576" marB="36576">
                    <a:solidFill>
                      <a:srgbClr val="EAF5FE"/>
                    </a:solidFill>
                  </a:tcPr>
                </a:tc>
                <a:tc>
                  <a:txBody>
                    <a:bodyPr wrap="square"/>
                    <a:lstStyle/>
                    <a:p>
                      <a:pPr>
                        <a:spcAft>
                          <a:spcPts val="0"/>
                        </a:spcAft>
                      </a:pPr>
                      <a:r>
                        <a:rPr sz="1100" b="0">
                          <a:solidFill>
                            <a:srgbClr val="1C2A3E"/>
                          </a:solidFill>
                          <a:latin typeface="Calibri"/>
                        </a:rPr>
                        <a:t>1.000</a:t>
                      </a:r>
                    </a:p>
                  </a:txBody>
                  <a:tcPr marT="36576" marB="36576">
                    <a:solidFill>
                      <a:srgbClr val="EAF5FE"/>
                    </a:solidFill>
                  </a:tcPr>
                </a:tc>
              </a:tr>
            </a:tbl>
          </a:graphicData>
        </a:graphic>
      </p:graphicFrame>
      <p:sp>
        <p:nvSpPr>
          <p:cNvPr id="7" name="TextBox 6"/>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8" name="TextBox 7"/>
          <p:cNvSpPr txBox="1"/>
          <p:nvPr/>
        </p:nvSpPr>
        <p:spPr>
          <a:xfrm>
            <a:off x="4983480" y="1600200"/>
            <a:ext cx="3383280" cy="1463040"/>
          </a:xfrm>
          <a:prstGeom prst="rect">
            <a:avLst/>
          </a:prstGeom>
          <a:noFill/>
        </p:spPr>
        <p:txBody>
          <a:bodyPr wrap="square" lIns="45720" rIns="45720">
            <a:spAutoFit/>
          </a:bodyPr>
          <a:lstStyle/>
          <a:p>
            <a:pPr>
              <a:spcAft>
                <a:spcPts val="300"/>
              </a:spcAft>
            </a:pPr>
            <a:r>
              <a:rPr sz="1100" b="0">
                <a:solidFill>
                  <a:srgbClr val="1C2A3E"/>
                </a:solidFill>
                <a:latin typeface="Calibri"/>
              </a:rPr>
              <a:t>•  Hinglish injection missed: regex screen</a:t>
            </a:r>
          </a:p>
          <a:p>
            <a:pPr>
              <a:spcAft>
                <a:spcPts val="300"/>
              </a:spcAft>
            </a:pPr>
            <a:r>
              <a:rPr sz="1100" b="0">
                <a:solidFill>
                  <a:srgbClr val="1C2A3E"/>
                </a:solidFill>
                <a:latin typeface="Calibri"/>
              </a:rPr>
              <a:t>•  Refund could run before the reviewer: reviewer now first</a:t>
            </a:r>
          </a:p>
          <a:p>
            <a:pPr>
              <a:spcAft>
                <a:spcPts val="300"/>
              </a:spcAft>
            </a:pPr>
            <a:r>
              <a:rPr sz="1100" b="0">
                <a:solidFill>
                  <a:srgbClr val="1C2A3E"/>
                </a:solidFill>
                <a:latin typeface="Calibri"/>
              </a:rPr>
              <a:t>•  Wrong category's return window: category filter (22 to 24 of 24)</a:t>
            </a:r>
          </a:p>
        </p:txBody>
      </p:sp>
      <p:sp>
        <p:nvSpPr>
          <p:cNvPr id="9" name="TextBox 8"/>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2E844A"/>
                </a:solidFill>
                <a:latin typeface="Calibri"/>
              </a:rPr>
              <a:t>SAFETY BUILT IN</a:t>
            </a:r>
          </a:p>
        </p:txBody>
      </p:sp>
      <p:sp>
        <p:nvSpPr>
          <p:cNvPr id="10" name="TextBox 9"/>
          <p:cNvSpPr txBox="1"/>
          <p:nvPr/>
        </p:nvSpPr>
        <p:spPr>
          <a:xfrm>
            <a:off x="8549640" y="1600200"/>
            <a:ext cx="3108960" cy="1463040"/>
          </a:xfrm>
          <a:prstGeom prst="rect">
            <a:avLst/>
          </a:prstGeom>
          <a:noFill/>
        </p:spPr>
        <p:txBody>
          <a:bodyPr wrap="square" lIns="45720" rIns="45720">
            <a:spAutoFit/>
          </a:bodyPr>
          <a:lstStyle/>
          <a:p>
            <a:pPr>
              <a:spcAft>
                <a:spcPts val="300"/>
              </a:spcAft>
            </a:pPr>
            <a:r>
              <a:rPr sz="1100" b="0">
                <a:solidFill>
                  <a:srgbClr val="1C2A3E"/>
                </a:solidFill>
                <a:latin typeface="Calibri"/>
              </a:rPr>
              <a:t>•  Refunds over Rs 2,000 always go to a human</a:t>
            </a:r>
          </a:p>
          <a:p>
            <a:pPr>
              <a:spcAft>
                <a:spcPts val="300"/>
              </a:spcAft>
            </a:pPr>
            <a:r>
              <a:rPr sz="1100" b="0">
                <a:solidFill>
                  <a:srgbClr val="1C2A3E"/>
                </a:solidFill>
                <a:latin typeface="Calibri"/>
              </a:rPr>
              <a:t>•  Injection blocked in tickets and policy text</a:t>
            </a:r>
          </a:p>
          <a:p>
            <a:pPr>
              <a:spcAft>
                <a:spcPts val="300"/>
              </a:spcAft>
            </a:pPr>
            <a:r>
              <a:rPr sz="1100" b="0">
                <a:solidFill>
                  <a:srgbClr val="1C2A3E"/>
                </a:solidFill>
                <a:latin typeface="Calibri"/>
              </a:rPr>
              <a:t>•  Unsupported policy answers are blocked</a:t>
            </a:r>
          </a:p>
        </p:txBody>
      </p:sp>
      <p:graphicFrame>
        <p:nvGraphicFramePr>
          <p:cNvPr id="11" name="Table 10"/>
          <p:cNvGraphicFramePr>
            <a:graphicFrameLocks noGrp="1"/>
          </p:cNvGraphicFramePr>
          <p:nvPr/>
        </p:nvGraphicFramePr>
        <p:xfrm>
          <a:off x="548640" y="3749039"/>
          <a:ext cx="11109960" cy="932688"/>
        </p:xfrm>
        <a:graphic>
          <a:graphicData uri="http://schemas.openxmlformats.org/drawingml/2006/table">
            <a:tbl>
              <a:tblPr firstRow="1" bandRow="1">
                <a:tableStyleId>{5C22544A-7EE6-4342-B048-85BDC9FD1C3A}</a:tableStyleId>
              </a:tblPr>
              <a:tblGrid>
                <a:gridCol w="1645920"/>
                <a:gridCol w="5120640"/>
                <a:gridCol w="4343400"/>
              </a:tblGrid>
              <a:tr h="310896">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310896">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310896">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