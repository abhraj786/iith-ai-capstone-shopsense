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98 unit tests in total, 11 of them for M8.</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to mention only if asked (they are in docs/architecture.md): intent accuracy of 0.72 is below a 0.8 target on noisy Twitter-style labels; it does not affect safety because the cap and escalation rules are deterministic. The middle column is the continuous-improvement story: each row is something the first real run exposed. M8 facts: 20 ticket cases pass 20 of 20 stored and live. 20 component items (5 each: tool use, retrieval, planning, final answer) score 1.0 by rules. An in-repo LLM judge (not Ragas or DeepEval) gave faithfulness 1.0 and context relevance 0.64, and disagreed with the keyword check on two retrieval items, product safety and double charge: the right words were there but the passages were about something else. That is a real retrieval weakness. One golden label was my own mistake and was corrected. Retrieved policy text is now scanned for injected instructions. Docker was written but not built here (no Docker on this machine); the Postman collection ran on localhost, not through ngrok.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bhraj786/iith-ai-capstone-shopsense"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931920"/>
            <a:ext cx="10058400" cy="457200"/>
          </a:xfrm>
          <a:prstGeom prst="rect">
            <a:avLst/>
          </a:prstGeom>
          <a:noFill/>
        </p:spPr>
        <p:txBody>
          <a:bodyPr wrap="square" lIns="45720" rIns="45720">
            <a:spAutoFit/>
          </a:bodyPr>
          <a:lstStyle/>
          <a:p>
            <a:pPr>
              <a:spcAft>
                <a:spcPts val="600"/>
              </a:spcAft>
            </a:pPr>
            <a:r>
              <a:rPr sz="2600" b="1">
                <a:solidFill>
                  <a:srgbClr val="FFFFFF"/>
                </a:solidFill>
                <a:latin typeface="Calibri"/>
              </a:rPr>
              <a:t>Abhishek Raj</a:t>
            </a:r>
          </a:p>
        </p:txBody>
      </p:sp>
      <p:sp>
        <p:nvSpPr>
          <p:cNvPr id="7" name="TextBox 6"/>
          <p:cNvSpPr txBox="1"/>
          <p:nvPr/>
        </p:nvSpPr>
        <p:spPr>
          <a:xfrm>
            <a:off x="1005840" y="4434840"/>
            <a:ext cx="10058400" cy="457200"/>
          </a:xfrm>
          <a:prstGeom prst="rect">
            <a:avLst/>
          </a:prstGeom>
          <a:noFill/>
        </p:spPr>
        <p:txBody>
          <a:bodyPr wrap="square" lIns="45720" rIns="45720">
            <a:spAutoFit/>
          </a:bodyPr>
          <a:lstStyle/>
          <a:p>
            <a:pPr>
              <a:spcAft>
                <a:spcPts val="600"/>
              </a:spcAft>
            </a:pPr>
            <a:r>
              <a:rPr sz="1800" b="0">
                <a:solidFill>
                  <a:srgbClr val="B8C7DA"/>
                </a:solidFill>
                <a:latin typeface="Calibri"/>
              </a:rPr>
              <a:t>Lead Member of Technical Staff, Salesforce</a:t>
            </a:r>
          </a:p>
        </p:txBody>
      </p:sp>
      <p:sp>
        <p:nvSpPr>
          <p:cNvPr id="8" name="TextBox 7"/>
          <p:cNvSpPr txBox="1"/>
          <p:nvPr/>
        </p:nvSpPr>
        <p:spPr>
          <a:xfrm>
            <a:off x="1005840" y="512064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hlinkClick r:id="rId2"/>
              </a:rPr>
              <a:t>Github Link: github.com/abhraj786/iith-ai-capstone-shopsense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what we proved,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1975104"/>
        </p:xfrm>
        <a:graphic>
          <a:graphicData uri="http://schemas.openxmlformats.org/drawingml/2006/table">
            <a:tbl>
              <a:tblPr firstRow="1" bandRow="1">
                <a:tableStyleId>{5C22544A-7EE6-4342-B048-85BDC9FD1C3A}</a:tableStyleId>
              </a:tblPr>
              <a:tblGrid>
                <a:gridCol w="2743200"/>
                <a:gridCol w="1463040"/>
              </a:tblGrid>
              <a:tr h="329184">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29184">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98 passed</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M8 golden tickets, stored and live</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M8 components (4 x 5 items)</a:t>
                      </a:r>
                    </a:p>
                  </a:txBody>
                  <a:tcPr marT="36576" marB="36576">
                    <a:solidFill>
                      <a:srgbClr val="EEF3F8"/>
                    </a:solidFill>
                  </a:tcPr>
                </a:tc>
                <a:tc>
                  <a:txBody>
                    <a:bodyPr wrap="square"/>
                    <a:lstStyle/>
                    <a:p>
                      <a:pPr>
                        <a:spcAft>
                          <a:spcPts val="0"/>
                        </a:spcAft>
                      </a:pPr>
                      <a:r>
                        <a:rPr sz="1100" b="0">
                          <a:solidFill>
                            <a:srgbClr val="222B38"/>
                          </a:solidFill>
                          <a:latin typeface="Calibri"/>
                        </a:rPr>
                        <a:t>1.0</a:t>
                      </a:r>
                    </a:p>
                  </a:txBody>
                  <a:tcPr marT="36576" marB="36576">
                    <a:solidFill>
                      <a:srgbClr val="EEF3F8"/>
                    </a:solidFill>
                  </a:tcPr>
                </a:tc>
              </a:tr>
              <a:tr h="329184">
                <a:tc>
                  <a:txBody>
                    <a:bodyPr wrap="square"/>
                    <a:lstStyle/>
                    <a:p>
                      <a:pPr>
                        <a:spcAft>
                          <a:spcPts val="0"/>
                        </a:spcAft>
                      </a:pPr>
                      <a:r>
                        <a:rPr sz="1100" b="0">
                          <a:solidFill>
                            <a:srgbClr val="222B38"/>
                          </a:solidFill>
                          <a:latin typeface="Calibri"/>
                        </a:rPr>
                        <a:t>Answer faithfulness (judge)</a:t>
                      </a:r>
                    </a:p>
                  </a:txBody>
                  <a:tcPr marT="36576" marB="36576">
                    <a:solidFill>
                      <a:srgbClr val="FFFFFF"/>
                    </a:solidFill>
                  </a:tcPr>
                </a:tc>
                <a:tc>
                  <a:txBody>
                    <a:bodyPr wrap="square"/>
                    <a:lstStyle/>
                    <a:p>
                      <a:pPr>
                        <a:spcAft>
                          <a:spcPts val="0"/>
                        </a:spcAft>
                      </a:pPr>
                      <a:r>
                        <a:rPr sz="1100" b="0">
                          <a:solidFill>
                            <a:srgbClr val="222B38"/>
                          </a:solidFill>
                          <a:latin typeface="Calibri"/>
                        </a:rPr>
                        <a:t>1.0</a:t>
                      </a:r>
                    </a:p>
                  </a:txBody>
                  <a:tcPr marT="36576" marB="36576">
                    <a:solidFill>
                      <a:srgbClr val="FFFFFF"/>
                    </a:solidFill>
                  </a:tcPr>
                </a:tc>
              </a:tr>
              <a:tr h="329184">
                <a:tc>
                  <a:txBody>
                    <a:bodyPr wrap="square"/>
                    <a:lstStyle/>
                    <a:p>
                      <a:pPr>
                        <a:spcAft>
                          <a:spcPts val="0"/>
                        </a:spcAft>
                      </a:pPr>
                      <a:r>
                        <a:rPr sz="1100" b="0">
                          <a:solidFill>
                            <a:srgbClr val="222B38"/>
                          </a:solidFill>
                          <a:latin typeface="Calibri"/>
                        </a:rPr>
                        <a:t>M4 recall@3, hybrid</a:t>
                      </a:r>
                    </a:p>
                  </a:txBody>
                  <a:tcPr marT="36576" marB="36576">
                    <a:solidFill>
                      <a:srgbClr val="EEF3F8"/>
                    </a:solidFill>
                  </a:tcPr>
                </a:tc>
                <a:tc>
                  <a:txBody>
                    <a:bodyPr wrap="square"/>
                    <a:lstStyle/>
                    <a:p>
                      <a:pPr>
                        <a:spcAft>
                          <a:spcPts val="0"/>
                        </a:spcAft>
                      </a:pPr>
                      <a:r>
                        <a:rPr sz="1100" b="0">
                          <a:solidFill>
                            <a:srgbClr val="222B38"/>
                          </a:solidFill>
                          <a:latin typeface="Calibri"/>
                        </a:rPr>
                        <a:t>1.000</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463040"/>
          </a:xfrm>
          <a:prstGeom prst="rect">
            <a:avLst/>
          </a:prstGeom>
          <a:noFill/>
        </p:spPr>
        <p:txBody>
          <a:bodyPr wrap="square" lIns="45720" rIns="45720">
            <a:spAutoFit/>
          </a:bodyPr>
          <a:lstStyle/>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a:p>
            <a:pPr>
              <a:spcAft>
                <a:spcPts val="300"/>
              </a:spcAft>
            </a:pPr>
            <a:r>
              <a:rPr sz="1100" b="0">
                <a:solidFill>
                  <a:srgbClr val="222B38"/>
                </a:solidFill>
                <a:latin typeface="Calibri"/>
              </a:rPr>
              <a:t>•  Judge cross-checks the keyword scores</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2E7D32"/>
                </a:solidFill>
                <a:latin typeface="Calibri"/>
              </a:rPr>
              <a:t>SAFETY BUILT IN</a:t>
            </a:r>
          </a:p>
        </p:txBody>
      </p:sp>
      <p:sp>
        <p:nvSpPr>
          <p:cNvPr id="11" name="TextBox 10"/>
          <p:cNvSpPr txBox="1"/>
          <p:nvPr/>
        </p:nvSpPr>
        <p:spPr>
          <a:xfrm>
            <a:off x="8549640" y="1600200"/>
            <a:ext cx="3108960" cy="1463040"/>
          </a:xfrm>
          <a:prstGeom prst="rect">
            <a:avLst/>
          </a:prstGeom>
          <a:noFill/>
        </p:spPr>
        <p:txBody>
          <a:bodyPr wrap="square" lIns="45720" rIns="45720">
            <a:spAutoFit/>
          </a:bodyPr>
          <a:lstStyle/>
          <a:p>
            <a:pPr>
              <a:spcAft>
                <a:spcPts val="300"/>
              </a:spcAft>
            </a:pPr>
            <a:r>
              <a:rPr sz="1100" b="0">
                <a:solidFill>
                  <a:srgbClr val="222B38"/>
                </a:solidFill>
                <a:latin typeface="Calibri"/>
              </a:rPr>
              <a:t>•  Refunds over Rs 2,000 always go to a human</a:t>
            </a:r>
          </a:p>
          <a:p>
            <a:pPr>
              <a:spcAft>
                <a:spcPts val="300"/>
              </a:spcAft>
            </a:pPr>
            <a:r>
              <a:rPr sz="1100" b="0">
                <a:solidFill>
                  <a:srgbClr val="222B38"/>
                </a:solidFill>
                <a:latin typeface="Calibri"/>
              </a:rPr>
              <a:t>•  Injection blocked in tickets and policy text</a:t>
            </a:r>
          </a:p>
          <a:p>
            <a:pPr>
              <a:spcAft>
                <a:spcPts val="300"/>
              </a:spcAft>
            </a:pPr>
            <a:r>
              <a:rPr sz="1100" b="0">
                <a:solidFill>
                  <a:srgbClr val="222B38"/>
                </a:solidFill>
                <a:latin typeface="Calibri"/>
              </a:rPr>
              <a:t>•  Unsupported policy answers are blocked</a:t>
            </a:r>
          </a:p>
        </p:txBody>
      </p:sp>
      <p:graphicFrame>
        <p:nvGraphicFramePr>
          <p:cNvPr id="12" name="Table 11"/>
          <p:cNvGraphicFramePr>
            <a:graphicFrameLocks noGrp="1"/>
          </p:cNvGraphicFramePr>
          <p:nvPr/>
        </p:nvGraphicFramePr>
        <p:xfrm>
          <a:off x="548640" y="3749039"/>
          <a:ext cx="11109960" cy="932688"/>
        </p:xfrm>
        <a:graphic>
          <a:graphicData uri="http://schemas.openxmlformats.org/drawingml/2006/table">
            <a:tbl>
              <a:tblPr firstRow="1" bandRow="1">
                <a:tableStyleId>{5C22544A-7EE6-4342-B048-85BDC9FD1C3A}</a:tableStyleId>
              </a:tblPr>
              <a:tblGrid>
                <a:gridCol w="1645920"/>
                <a:gridCol w="5120640"/>
                <a:gridCol w="4343400"/>
              </a:tblGrid>
              <a:tr h="310896">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310896">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98 passed</a:t>
                      </a:r>
                    </a:p>
                  </a:txBody>
                  <a:tcPr marT="36576" marB="36576">
                    <a:solidFill>
                      <a:srgbClr val="EEF3F8"/>
                    </a:solidFill>
                  </a:tcPr>
                </a:tc>
              </a:tr>
              <a:tr h="310896">
                <a:tc>
                  <a:txBody>
                    <a:bodyPr wrap="square"/>
                    <a:lstStyle/>
                    <a:p>
                      <a:pPr>
                        <a:spcAft>
                          <a:spcPts val="0"/>
                        </a:spcAft>
                      </a:pPr>
                      <a:r>
                        <a:rPr sz="1050" b="0">
                          <a:solidFill>
                            <a:srgbClr val="222B38"/>
                          </a:solidFill>
                          <a:latin typeface="Calibri"/>
                        </a:rPr>
                        <a:t>2  Golden eval</a:t>
                      </a:r>
                    </a:p>
                  </a:txBody>
                  <a:tcPr marT="36576" marB="36576">
                    <a:solidFill>
                      <a:srgbClr val="FFFFFF"/>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FFFFFF"/>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