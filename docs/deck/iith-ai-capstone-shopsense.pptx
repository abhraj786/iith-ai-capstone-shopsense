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98 unit tests in total, 11 of them for M8.</a:t>
            </a:r>
          </a:p>
          <a:p/>
          <a:p>
            <a:r>
              <a:t>Three tickets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Ticket B: calm, issue track_order, no escalation signals, no amount, order id found in the text. Ticket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Ticket B: track_order, so the rules call the read-only shipment lookup and no human is needed. Ticket C: the legal_or_regulatory signal is on the priority list, so the plan is flag_for_human straight away. Same rules as ticket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Tickets B and C are first contacts with empty memory, so contact number is 1 and no repeat flag is added. Memory has nothing special to say about them; the story is ticket A's eight tickets. If asked why the first row says twitter while the M1 slide says chat: the memory demo replays the hostile message through different channels to show the repeat count works across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Ticket B needs no policy answer for tracking, and the live answer was off-topic (shipping address rules), which is why M6 skips this step for such tickets. Ticket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Ticket B auto-resolves without a pause: status auto_resolved_proposed, 5 checkpoints. Ticket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every ticket now leaves a trace, and the three tickets leave different ones. The table is from one live run over MCP; click an ID to open the trace in Langfuse. A (hostile) has 9 spans because the policy lookup runs, takes 7.6 s and costs about $0.0008. B (plain tracking) has 7 spans, goes fast_track, calls track_shipment over MCP in about 0.27 s, and costs about $0.00075. C (court threat) has 7 spans, skips policy and the tool, goes escalate_now to a person, and costs about $0.00068. Triage and Supervisor show as generations with model, tokens and cost; everything else is tiny because it is code (under 2 ms).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1.3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middle column is the continuous-improvement story: each row is something the first real run exposed. M8 facts: 20 ticket cases pass 20 of 20 stored and live. 20 component items (5 each: tool use, retrieval, planning, final answer) score 1.0 by rules. An in-repo LLM judge (not Ragas or DeepEval) gave faithfulness 1.0 and context relevance 0.64, and disagreed with the keyword check on two retrieval items, product safety and double charge: the right words were there but the passages were about something else. That is a real retrieval weakness. One golden label was my own mistake and was corrected. Retrieved policy text is now scanned for injected instructions. Docker was written but not built here (no Docker on this machine); the Postman collection ran on localhost, not through ngrok. Demo order: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cloud.langfuse.com/project/cmuqxwv4s01zvad0czaq5rtkl/traces/62f3393fdb07d4b3b8eb816982ea4332" TargetMode="External"/><Relationship Id="rId4" Type="http://schemas.openxmlformats.org/officeDocument/2006/relationships/hyperlink" Target="https://cloud.langfuse.com/project/cmuqxwv4s01zvad0czaq5rtkl/traces/697de7ea21f0469aabf1c2cdc7a95fac" TargetMode="External"/><Relationship Id="rId5" Type="http://schemas.openxmlformats.org/officeDocument/2006/relationships/hyperlink" Target="https://cloud.langfuse.com/project/cmuqxwv4s01zvad0czaq5rtkl/traces/72b4b6c3e016bcbfa5654d868efbf72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complete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one gateway, MCP then Python</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57200" y="1280160"/>
            <a:ext cx="11247120" cy="365760"/>
          </a:xfrm>
          <a:prstGeom prst="rect">
            <a:avLst/>
          </a:prstGeom>
          <a:noFill/>
        </p:spPr>
        <p:txBody>
          <a:bodyPr wrap="square" lIns="45720" rIns="45720">
            <a:spAutoFit/>
          </a:bodyPr>
          <a:lstStyle/>
          <a:p>
            <a:pPr>
              <a:spcAft>
                <a:spcPts val="600"/>
              </a:spcAft>
            </a:pPr>
            <a:r>
              <a:rPr sz="1200" b="1">
                <a:solidFill>
                  <a:srgbClr val="142B4D"/>
                </a:solidFill>
                <a:latin typeface="Calibri"/>
              </a:rPr>
              <a:t>Wrapped by:  M5 LangGraph (human interrupt)  |  M6 supervised agent team  |  M7 tracing + fallback  |  M8 /chat + golden eval</a:t>
            </a:r>
          </a:p>
        </p:txBody>
      </p:sp>
      <p:sp>
        <p:nvSpPr>
          <p:cNvPr id="27" name="TextBox 26"/>
          <p:cNvSpPr txBox="1"/>
          <p:nvPr/>
        </p:nvSpPr>
        <p:spPr>
          <a:xfrm>
            <a:off x="457200" y="5138928"/>
            <a:ext cx="11247120" cy="274320"/>
          </a:xfrm>
          <a:prstGeom prst="rect">
            <a:avLst/>
          </a:prstGeom>
          <a:noFill/>
        </p:spPr>
        <p:txBody>
          <a:bodyPr wrap="square" lIns="45720" rIns="45720">
            <a:spAutoFit/>
          </a:bodyPr>
          <a:lstStyle/>
          <a:p>
            <a:pPr>
              <a:spcAft>
                <a:spcPts val="600"/>
              </a:spcAft>
            </a:pPr>
            <a:r>
              <a:rPr sz="1000" b="1">
                <a:solidFill>
                  <a:srgbClr val="0F8B8D"/>
                </a:solidFill>
                <a:latin typeface="Calibri"/>
              </a:rPr>
              <a:t>THREE TICKETS WE FOLLOW (A: KW-O-000000, B: KW-O-000010, C: KW-O-000950), SAME CODE FOR ALL</a:t>
            </a:r>
          </a:p>
        </p:txBody>
      </p:sp>
      <p:graphicFrame>
        <p:nvGraphicFramePr>
          <p:cNvPr id="28" name="Table 27"/>
          <p:cNvGraphicFramePr>
            <a:graphicFrameLocks noGrp="1"/>
          </p:cNvGraphicFramePr>
          <p:nvPr/>
        </p:nvGraphicFramePr>
        <p:xfrm>
          <a:off x="457200" y="5394960"/>
          <a:ext cx="11247120" cy="950976"/>
        </p:xfrm>
        <a:graphic>
          <a:graphicData uri="http://schemas.openxmlformats.org/drawingml/2006/table">
            <a:tbl>
              <a:tblPr firstRow="1" bandRow="1">
                <a:tableStyleId>{5C22544A-7EE6-4342-B048-85BDC9FD1C3A}</a:tableStyleId>
              </a:tblPr>
              <a:tblGrid>
                <a:gridCol w="2194560"/>
                <a:gridCol w="2651760"/>
                <a:gridCol w="2743200"/>
                <a:gridCol w="1737360"/>
                <a:gridCol w="1920240"/>
              </a:tblGrid>
              <a:tr h="237744">
                <a:tc>
                  <a:txBody>
                    <a:bodyPr wrap="square"/>
                    <a:lstStyle/>
                    <a:p>
                      <a:pPr>
                        <a:spcAft>
                          <a:spcPts val="0"/>
                        </a:spcAft>
                      </a:pPr>
                      <a:r>
                        <a:rPr sz="950" b="1">
                          <a:solidFill>
                            <a:srgbClr val="FFFFFF"/>
                          </a:solidFill>
                          <a:latin typeface="Calibri"/>
                        </a:rPr>
                        <a:t>Ticket</a:t>
                      </a:r>
                    </a:p>
                  </a:txBody>
                  <a:tcPr marT="36576" marB="36576">
                    <a:solidFill>
                      <a:srgbClr val="142B4D"/>
                    </a:solidFill>
                  </a:tcPr>
                </a:tc>
                <a:tc>
                  <a:txBody>
                    <a:bodyPr wrap="square"/>
                    <a:lstStyle/>
                    <a:p>
                      <a:pPr>
                        <a:spcAft>
                          <a:spcPts val="0"/>
                        </a:spcAft>
                      </a:pPr>
                      <a:r>
                        <a:rPr sz="950" b="1">
                          <a:solidFill>
                            <a:srgbClr val="FFFFFF"/>
                          </a:solidFill>
                          <a:latin typeface="Calibri"/>
                        </a:rPr>
                        <a:t>M1 reads</a:t>
                      </a:r>
                    </a:p>
                  </a:txBody>
                  <a:tcPr marT="36576" marB="36576">
                    <a:solidFill>
                      <a:srgbClr val="142B4D"/>
                    </a:solidFill>
                  </a:tcPr>
                </a:tc>
                <a:tc>
                  <a:txBody>
                    <a:bodyPr wrap="square"/>
                    <a:lstStyle/>
                    <a:p>
                      <a:pPr>
                        <a:spcAft>
                          <a:spcPts val="0"/>
                        </a:spcAft>
                      </a:pPr>
                      <a:r>
                        <a:rPr sz="950" b="1">
                          <a:solidFill>
                            <a:srgbClr val="FFFFFF"/>
                          </a:solidFill>
                          <a:latin typeface="Calibri"/>
                        </a:rPr>
                        <a:t>M2 plans, M4 grounds</a:t>
                      </a:r>
                    </a:p>
                  </a:txBody>
                  <a:tcPr marT="36576" marB="36576">
                    <a:solidFill>
                      <a:srgbClr val="142B4D"/>
                    </a:solidFill>
                  </a:tcPr>
                </a:tc>
                <a:tc>
                  <a:txBody>
                    <a:bodyPr wrap="square"/>
                    <a:lstStyle/>
                    <a:p>
                      <a:pPr>
                        <a:spcAft>
                          <a:spcPts val="0"/>
                        </a:spcAft>
                      </a:pPr>
                      <a:r>
                        <a:rPr sz="950" b="1">
                          <a:solidFill>
                            <a:srgbClr val="FFFFFF"/>
                          </a:solidFill>
                          <a:latin typeface="Calibri"/>
                        </a:rPr>
                        <a:t>M5 workflow</a:t>
                      </a:r>
                    </a:p>
                  </a:txBody>
                  <a:tcPr marT="36576" marB="36576">
                    <a:solidFill>
                      <a:srgbClr val="142B4D"/>
                    </a:solidFill>
                  </a:tcPr>
                </a:tc>
                <a:tc>
                  <a:txBody>
                    <a:bodyPr wrap="square"/>
                    <a:lstStyle/>
                    <a:p>
                      <a:pPr>
                        <a:spcAft>
                          <a:spcPts val="0"/>
                        </a:spcAft>
                      </a:pPr>
                      <a:r>
                        <a:rPr sz="950" b="1">
                          <a:solidFill>
                            <a:srgbClr val="FFFFFF"/>
                          </a:solidFill>
                          <a:latin typeface="Calibri"/>
                        </a:rPr>
                        <a:t>M6 route</a:t>
                      </a:r>
                    </a:p>
                  </a:txBody>
                  <a:tcPr marT="36576" marB="36576">
                    <a:solidFill>
                      <a:srgbClr val="142B4D"/>
                    </a:solidFill>
                  </a:tcPr>
                </a:tc>
              </a:tr>
              <a:tr h="237744">
                <a:tc>
                  <a:txBody>
                    <a:bodyPr wrap="square"/>
                    <a:lstStyle/>
                    <a:p>
                      <a:pPr>
                        <a:spcAft>
                          <a:spcPts val="0"/>
                        </a:spcAft>
                      </a:pPr>
                      <a:r>
                        <a:rPr sz="950" b="0">
                          <a:solidFill>
                            <a:srgbClr val="222B38"/>
                          </a:solidFill>
                          <a:latin typeface="Calibri"/>
                        </a:rPr>
                        <a:t>A  Hostile, Rs 12,999</a:t>
                      </a:r>
                    </a:p>
                  </a:txBody>
                  <a:tcPr marT="36576" marB="36576">
                    <a:solidFill>
                      <a:srgbClr val="EEF3F8"/>
                    </a:solidFill>
                  </a:tcPr>
                </a:tc>
                <a:tc>
                  <a:txBody>
                    <a:bodyPr wrap="square"/>
                    <a:lstStyle/>
                    <a:p>
                      <a:pPr>
                        <a:spcAft>
                          <a:spcPts val="0"/>
                        </a:spcAft>
                      </a:pPr>
                      <a:r>
                        <a:rPr sz="950" b="0">
                          <a:solidFill>
                            <a:srgbClr val="222B38"/>
                          </a:solidFill>
                          <a:latin typeface="Calibri"/>
                        </a:rPr>
                        <a:t>angry, injection, above cap</a:t>
                      </a:r>
                    </a:p>
                  </a:txBody>
                  <a:tcPr marT="36576" marB="36576">
                    <a:solidFill>
                      <a:srgbClr val="EEF3F8"/>
                    </a:solidFill>
                  </a:tcPr>
                </a:tc>
                <a:tc>
                  <a:txBody>
                    <a:bodyPr wrap="square"/>
                    <a:lstStyle/>
                    <a:p>
                      <a:pPr>
                        <a:spcAft>
                          <a:spcPts val="0"/>
                        </a:spcAft>
                      </a:pPr>
                      <a:r>
                        <a:rPr sz="950" b="0">
                          <a:solidFill>
                            <a:srgbClr val="222B38"/>
                          </a:solidFill>
                          <a:latin typeface="Calibri"/>
                        </a:rPr>
                        <a:t>human: refund_above_auto_cap</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full, then human</a:t>
                      </a:r>
                    </a:p>
                  </a:txBody>
                  <a:tcPr marT="36576" marB="36576">
                    <a:solidFill>
                      <a:srgbClr val="EEF3F8"/>
                    </a:solidFill>
                  </a:tcPr>
                </a:tc>
              </a:tr>
              <a:tr h="237744">
                <a:tc>
                  <a:txBody>
                    <a:bodyPr wrap="square"/>
                    <a:lstStyle/>
                    <a:p>
                      <a:pPr>
                        <a:spcAft>
                          <a:spcPts val="0"/>
                        </a:spcAft>
                      </a:pPr>
                      <a:r>
                        <a:rPr sz="950" b="0">
                          <a:solidFill>
                            <a:srgbClr val="222B38"/>
                          </a:solidFill>
                          <a:latin typeface="Calibri"/>
                        </a:rPr>
                        <a:t>B  Plain tracking</a:t>
                      </a:r>
                    </a:p>
                  </a:txBody>
                  <a:tcPr marT="36576" marB="36576">
                    <a:solidFill>
                      <a:srgbClr val="FFFFFF"/>
                    </a:solidFill>
                  </a:tcPr>
                </a:tc>
                <a:tc>
                  <a:txBody>
                    <a:bodyPr wrap="square"/>
                    <a:lstStyle/>
                    <a:p>
                      <a:pPr>
                        <a:spcAft>
                          <a:spcPts val="0"/>
                        </a:spcAft>
                      </a:pPr>
                      <a:r>
                        <a:rPr sz="950" b="0">
                          <a:solidFill>
                            <a:srgbClr val="222B38"/>
                          </a:solidFill>
                          <a:latin typeface="Calibri"/>
                        </a:rPr>
                        <a:t>calm, track_order, no signals</a:t>
                      </a:r>
                    </a:p>
                  </a:txBody>
                  <a:tcPr marT="36576" marB="36576">
                    <a:solidFill>
                      <a:srgbClr val="FFFFFF"/>
                    </a:solidFill>
                  </a:tcPr>
                </a:tc>
                <a:tc>
                  <a:txBody>
                    <a:bodyPr wrap="square"/>
                    <a:lstStyle/>
                    <a:p>
                      <a:pPr>
                        <a:spcAft>
                          <a:spcPts val="0"/>
                        </a:spcAft>
                      </a:pPr>
                      <a:r>
                        <a:rPr sz="950" b="0">
                          <a:solidFill>
                            <a:srgbClr val="222B38"/>
                          </a:solidFill>
                          <a:latin typeface="Calibri"/>
                        </a:rPr>
                        <a:t>track_shipment, no human</a:t>
                      </a:r>
                    </a:p>
                  </a:txBody>
                  <a:tcPr marT="36576" marB="36576">
                    <a:solidFill>
                      <a:srgbClr val="FFFFFF"/>
                    </a:solidFill>
                  </a:tcPr>
                </a:tc>
                <a:tc>
                  <a:txBody>
                    <a:bodyPr wrap="square"/>
                    <a:lstStyle/>
                    <a:p>
                      <a:pPr>
                        <a:spcAft>
                          <a:spcPts val="0"/>
                        </a:spcAft>
                      </a:pPr>
                      <a:r>
                        <a:rPr sz="950" b="0">
                          <a:solidFill>
                            <a:srgbClr val="222B38"/>
                          </a:solidFill>
                          <a:latin typeface="Calibri"/>
                        </a:rPr>
                        <a:t>auto-resolves</a:t>
                      </a:r>
                    </a:p>
                  </a:txBody>
                  <a:tcPr marT="36576" marB="36576">
                    <a:solidFill>
                      <a:srgbClr val="FFFFFF"/>
                    </a:solidFill>
                  </a:tcPr>
                </a:tc>
                <a:tc>
                  <a:txBody>
                    <a:bodyPr wrap="square"/>
                    <a:lstStyle/>
                    <a:p>
                      <a:pPr>
                        <a:spcAft>
                          <a:spcPts val="0"/>
                        </a:spcAft>
                      </a:pPr>
                      <a:r>
                        <a:rPr sz="950" b="0">
                          <a:solidFill>
                            <a:srgbClr val="222B38"/>
                          </a:solidFill>
                          <a:latin typeface="Calibri"/>
                        </a:rPr>
                        <a:t>fast_track, no policy</a:t>
                      </a:r>
                    </a:p>
                  </a:txBody>
                  <a:tcPr marT="36576" marB="36576">
                    <a:solidFill>
                      <a:srgbClr val="FFFFFF"/>
                    </a:solidFill>
                  </a:tcPr>
                </a:tc>
              </a:tr>
              <a:tr h="237744">
                <a:tc>
                  <a:txBody>
                    <a:bodyPr wrap="square"/>
                    <a:lstStyle/>
                    <a:p>
                      <a:pPr>
                        <a:spcAft>
                          <a:spcPts val="0"/>
                        </a:spcAft>
                      </a:pPr>
                      <a:r>
                        <a:rPr sz="950" b="0">
                          <a:solidFill>
                            <a:srgbClr val="222B38"/>
                          </a:solidFill>
                          <a:latin typeface="Calibri"/>
                        </a:rPr>
                        <a:t>C  Court threat</a:t>
                      </a:r>
                    </a:p>
                  </a:txBody>
                  <a:tcPr marT="36576" marB="36576">
                    <a:solidFill>
                      <a:srgbClr val="EEF3F8"/>
                    </a:solidFill>
                  </a:tcPr>
                </a:tc>
                <a:tc>
                  <a:txBody>
                    <a:bodyPr wrap="square"/>
                    <a:lstStyle/>
                    <a:p>
                      <a:pPr>
                        <a:spcAft>
                          <a:spcPts val="0"/>
                        </a:spcAft>
                      </a:pPr>
                      <a:r>
                        <a:rPr sz="950" b="0">
                          <a:solidFill>
                            <a:srgbClr val="222B38"/>
                          </a:solidFill>
                          <a:latin typeface="Calibri"/>
                        </a:rPr>
                        <a:t>angry,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human: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escalate_now, human</a:t>
                      </a:r>
                    </a:p>
                  </a:txBody>
                  <a:tcPr marT="36576" marB="36576">
                    <a:solidFill>
                      <a:srgbClr val="EEF3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39572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39696"/>
            <a:ext cx="1362456"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Raw text</a:t>
            </a:r>
          </a:p>
        </p:txBody>
      </p:sp>
      <p:cxnSp>
        <p:nvCxnSpPr>
          <p:cNvPr id="17" name="Connector 16"/>
          <p:cNvCxnSpPr/>
          <p:nvPr/>
        </p:nvCxnSpPr>
        <p:spPr>
          <a:xfrm>
            <a:off x="2697480" y="290779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651760"/>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2 Wrapped</a:t>
            </a:r>
          </a:p>
        </p:txBody>
      </p:sp>
      <p:cxnSp>
        <p:nvCxnSpPr>
          <p:cNvPr id="19" name="Connector 18"/>
          <p:cNvCxnSpPr/>
          <p:nvPr/>
        </p:nvCxnSpPr>
        <p:spPr>
          <a:xfrm>
            <a:off x="4114800" y="34198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163824"/>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3 Request</a:t>
            </a:r>
          </a:p>
        </p:txBody>
      </p:sp>
      <p:cxnSp>
        <p:nvCxnSpPr>
          <p:cNvPr id="21" name="Connector 20"/>
          <p:cNvCxnSpPr/>
          <p:nvPr/>
        </p:nvCxnSpPr>
        <p:spPr>
          <a:xfrm flipH="1">
            <a:off x="4114800" y="393192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675888"/>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Draft JSON</a:t>
            </a:r>
          </a:p>
        </p:txBody>
      </p:sp>
      <p:cxnSp>
        <p:nvCxnSpPr>
          <p:cNvPr id="23" name="Connector 22"/>
          <p:cNvCxnSpPr/>
          <p:nvPr/>
        </p:nvCxnSpPr>
        <p:spPr>
          <a:xfrm flipH="1">
            <a:off x="2697480" y="444398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187952"/>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Valid ticket</a:t>
            </a:r>
          </a:p>
        </p:txBody>
      </p:sp>
      <p:sp>
        <p:nvSpPr>
          <p:cNvPr id="25" name="Rounded Rectangle 24"/>
          <p:cNvSpPr/>
          <p:nvPr/>
        </p:nvSpPr>
        <p:spPr>
          <a:xfrm>
            <a:off x="1783080" y="4626864"/>
            <a:ext cx="2743200" cy="40233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4663440"/>
            <a:ext cx="2651760" cy="329184"/>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546811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212080"/>
            <a:ext cx="1362456"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48256"/>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07568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48256"/>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560320"/>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58775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560320"/>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072384"/>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09981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072384"/>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messages + schema SupportTicket   temperature 0   timeout 60 s   2 network retries</a:t>
            </a:r>
          </a:p>
        </p:txBody>
      </p:sp>
      <p:sp>
        <p:nvSpPr>
          <p:cNvPr id="39" name="Rectangle 38"/>
          <p:cNvSpPr/>
          <p:nvPr/>
        </p:nvSpPr>
        <p:spPr>
          <a:xfrm>
            <a:off x="6400800" y="3584448"/>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61188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584448"/>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096512"/>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1239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096512"/>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4608576"/>
            <a:ext cx="5257800" cy="45720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4636008"/>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4608576"/>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120640"/>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14807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120640"/>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signals = [angry_or_abusive, refund_above_auto_cap]   injection = true   missing_fields = []   order_ref = KW-O-000000</a:t>
            </a:r>
          </a:p>
        </p:txBody>
      </p:sp>
      <p:sp>
        <p:nvSpPr>
          <p:cNvPr id="51" name="TextBox 50"/>
          <p:cNvSpPr txBox="1"/>
          <p:nvPr/>
        </p:nvSpPr>
        <p:spPr>
          <a:xfrm>
            <a:off x="548640" y="5632704"/>
            <a:ext cx="11064240" cy="237744"/>
          </a:xfrm>
          <a:prstGeom prst="rect">
            <a:avLst/>
          </a:prstGeom>
          <a:noFill/>
        </p:spPr>
        <p:txBody>
          <a:bodyPr wrap="square" lIns="45720" rIns="45720">
            <a:spAutoFit/>
          </a:bodyPr>
          <a:lstStyle/>
          <a:p>
            <a:pPr>
              <a:spcAft>
                <a:spcPts val="0"/>
              </a:spcAft>
            </a:pPr>
            <a:r>
              <a:rPr sz="1050" b="1">
                <a:solidFill>
                  <a:srgbClr val="0F8B8D"/>
                </a:solidFill>
                <a:latin typeface="Calibri"/>
              </a:rPr>
              <a:t>THE SAME PARSER ON THE OTHER TWO TICKETS</a:t>
            </a:r>
          </a:p>
        </p:txBody>
      </p:sp>
      <p:sp>
        <p:nvSpPr>
          <p:cNvPr id="52" name="Rounded Rectangle 51"/>
          <p:cNvSpPr/>
          <p:nvPr/>
        </p:nvSpPr>
        <p:spPr>
          <a:xfrm>
            <a:off x="548640" y="5888736"/>
            <a:ext cx="5486400" cy="457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48640" y="5888736"/>
            <a:ext cx="73152" cy="4572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76656" y="5897880"/>
            <a:ext cx="5303520" cy="457200"/>
          </a:xfrm>
          <a:prstGeom prst="rect">
            <a:avLst/>
          </a:prstGeom>
          <a:noFill/>
        </p:spPr>
        <p:txBody>
          <a:bodyPr wrap="square" lIns="45720" rIns="45720">
            <a:spAutoFit/>
          </a:bodyPr>
          <a:lstStyle/>
          <a:p>
            <a:pPr>
              <a:spcAft>
                <a:spcPts val="0"/>
              </a:spcAft>
            </a:pPr>
            <a:r>
              <a:rPr sz="950" b="1">
                <a:solidFill>
                  <a:srgbClr val="222B38"/>
                </a:solidFill>
                <a:latin typeface="Calibri"/>
              </a:rPr>
              <a:t>Ticket B  KW-C-00194, KW-O-000010</a:t>
            </a:r>
          </a:p>
          <a:p>
            <a:pPr>
              <a:spcAft>
                <a:spcPts val="0"/>
              </a:spcAft>
            </a:pPr>
            <a:r>
              <a:rPr sz="950" b="0">
                <a:solidFill>
                  <a:srgbClr val="222B38"/>
                </a:solidFill>
                <a:latin typeface="Calibri"/>
              </a:rPr>
              <a:t>"Hi, where is my order KW-O-000010?"  -&gt;  track_order, calm, no signals, no amount, injection false</a:t>
            </a:r>
          </a:p>
        </p:txBody>
      </p:sp>
      <p:sp>
        <p:nvSpPr>
          <p:cNvPr id="55" name="Rounded Rectangle 54"/>
          <p:cNvSpPr/>
          <p:nvPr/>
        </p:nvSpPr>
        <p:spPr>
          <a:xfrm>
            <a:off x="6172200" y="5888736"/>
            <a:ext cx="5486400" cy="457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72200" y="5888736"/>
            <a:ext cx="73152" cy="457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00216" y="5897880"/>
            <a:ext cx="5303520" cy="457200"/>
          </a:xfrm>
          <a:prstGeom prst="rect">
            <a:avLst/>
          </a:prstGeom>
          <a:noFill/>
        </p:spPr>
        <p:txBody>
          <a:bodyPr wrap="square" lIns="45720" rIns="45720">
            <a:spAutoFit/>
          </a:bodyPr>
          <a:lstStyle/>
          <a:p>
            <a:pPr>
              <a:spcAft>
                <a:spcPts val="0"/>
              </a:spcAft>
            </a:pPr>
            <a:r>
              <a:rPr sz="950" b="1">
                <a:solidFill>
                  <a:srgbClr val="222B38"/>
                </a:solidFill>
                <a:latin typeface="Calibri"/>
              </a:rPr>
              <a:t>Ticket C  KW-C-00285, KW-O-000950</a:t>
            </a:r>
          </a:p>
          <a:p>
            <a:pPr>
              <a:spcAft>
                <a:spcPts val="0"/>
              </a:spcAft>
            </a:pPr>
            <a:r>
              <a:rPr sz="950" b="0">
                <a:solidFill>
                  <a:srgbClr val="222B38"/>
                </a:solidFill>
                <a:latin typeface="Calibri"/>
              </a:rPr>
              <a:t>Consumer-court threat  -&gt;  angry, urgency high, legal_or_regulatory, no amount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14015"/>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478024"/>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2889503"/>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2953512"/>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666744"/>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410711"/>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14223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3886200"/>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61772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36168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Ticket (KW-O-000000, claim 12999, signals [angry_or_abusive, refund_above_auto_cap], injection = true); KW-C-00317; execute = False</a:t>
            </a:r>
          </a:p>
        </p:txBody>
      </p:sp>
      <p:sp>
        <p:nvSpPr>
          <p:cNvPr id="31" name="Rectangle 30"/>
          <p:cNvSpPr/>
          <p:nvPr/>
        </p:nvSpPr>
        <p:spPr>
          <a:xfrm>
            <a:off x="6263640" y="2359151"/>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377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368296"/>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834639"/>
            <a:ext cx="5394960" cy="429768"/>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852927"/>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843784"/>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310127"/>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328415"/>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319272"/>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3785615"/>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3803904"/>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3794759"/>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261104"/>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27939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270248"/>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CASES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Case 2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
        <p:nvSpPr>
          <p:cNvPr id="59" name="Rounded Rectangle 58"/>
          <p:cNvSpPr/>
          <p:nvPr/>
        </p:nvSpPr>
        <p:spPr>
          <a:xfrm>
            <a:off x="548640" y="4754880"/>
            <a:ext cx="5486400" cy="384048"/>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48640" y="4754880"/>
            <a:ext cx="73152" cy="38404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76656" y="4754880"/>
            <a:ext cx="5303520" cy="384048"/>
          </a:xfrm>
          <a:prstGeom prst="rect">
            <a:avLst/>
          </a:prstGeom>
          <a:noFill/>
        </p:spPr>
        <p:txBody>
          <a:bodyPr wrap="square" lIns="45720" rIns="45720">
            <a:spAutoFit/>
          </a:bodyPr>
          <a:lstStyle/>
          <a:p>
            <a:pPr>
              <a:spcAft>
                <a:spcPts val="0"/>
              </a:spcAft>
            </a:pPr>
            <a:r>
              <a:rPr sz="950" b="1">
                <a:solidFill>
                  <a:srgbClr val="222B38"/>
                </a:solidFill>
                <a:latin typeface="Calibri"/>
              </a:rPr>
              <a:t>Ticket B, plain tracking</a:t>
            </a:r>
          </a:p>
          <a:p>
            <a:pPr>
              <a:spcAft>
                <a:spcPts val="0"/>
              </a:spcAft>
            </a:pPr>
            <a:r>
              <a:rPr sz="950" b="0">
                <a:solidFill>
                  <a:srgbClr val="222B38"/>
                </a:solidFill>
                <a:latin typeface="Calibri"/>
              </a:rPr>
              <a:t>No red flag, nothing to refund. Tool: track_shipment (read-only). Outcome: no human needed.</a:t>
            </a:r>
          </a:p>
        </p:txBody>
      </p:sp>
      <p:sp>
        <p:nvSpPr>
          <p:cNvPr id="62" name="Rounded Rectangle 61"/>
          <p:cNvSpPr/>
          <p:nvPr/>
        </p:nvSpPr>
        <p:spPr>
          <a:xfrm>
            <a:off x="6172200" y="4754880"/>
            <a:ext cx="5486400" cy="384048"/>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72200" y="4754880"/>
            <a:ext cx="73152" cy="38404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300216" y="4754880"/>
            <a:ext cx="5303520" cy="384048"/>
          </a:xfrm>
          <a:prstGeom prst="rect">
            <a:avLst/>
          </a:prstGeom>
          <a:noFill/>
        </p:spPr>
        <p:txBody>
          <a:bodyPr wrap="square" lIns="45720" rIns="45720">
            <a:spAutoFit/>
          </a:bodyPr>
          <a:lstStyle/>
          <a:p>
            <a:pPr>
              <a:spcAft>
                <a:spcPts val="0"/>
              </a:spcAft>
            </a:pPr>
            <a:r>
              <a:rPr sz="950" b="1">
                <a:solidFill>
                  <a:srgbClr val="222B38"/>
                </a:solidFill>
                <a:latin typeface="Calibri"/>
              </a:rPr>
              <a:t>Ticket C, court threat</a:t>
            </a:r>
          </a:p>
          <a:p>
            <a:pPr>
              <a:spcAft>
                <a:spcPts val="0"/>
              </a:spcAft>
            </a:pPr>
            <a:r>
              <a:rPr sz="950" b="0">
                <a:solidFill>
                  <a:srgbClr val="222B38"/>
                </a:solidFill>
                <a:latin typeface="Calibri"/>
              </a:rPr>
              <a:t>Red flag legal_or_regulatory is first on the list. Tool: flag_for_human. Outcome: human_review.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01168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02336">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02336">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02336">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02336">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02336">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3950208"/>
            <a:ext cx="2651760" cy="5029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63640" y="3950208"/>
            <a:ext cx="73152" cy="5029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91655" y="3959352"/>
            <a:ext cx="2487168" cy="502920"/>
          </a:xfrm>
          <a:prstGeom prst="rect">
            <a:avLst/>
          </a:prstGeom>
          <a:noFill/>
        </p:spPr>
        <p:txBody>
          <a:bodyPr wrap="square" lIns="45720" rIns="45720">
            <a:spAutoFit/>
          </a:bodyPr>
          <a:lstStyle/>
          <a:p>
            <a:pPr>
              <a:spcAft>
                <a:spcPts val="0"/>
              </a:spcAft>
            </a:pPr>
            <a:r>
              <a:rPr sz="950" b="1">
                <a:solidFill>
                  <a:srgbClr val="222B38"/>
                </a:solidFill>
                <a:latin typeface="Calibri"/>
              </a:rPr>
              <a:t>Ticket B, KW-C-00194</a:t>
            </a:r>
          </a:p>
          <a:p>
            <a:pPr>
              <a:spcAft>
                <a:spcPts val="0"/>
              </a:spcAft>
            </a:pPr>
            <a:r>
              <a:rPr sz="950" b="0">
                <a:solidFill>
                  <a:srgbClr val="222B38"/>
                </a:solidFill>
                <a:latin typeface="Calibri"/>
              </a:rPr>
              <a:t>First contact: earlier 0, contact 1, no flag.</a:t>
            </a:r>
          </a:p>
        </p:txBody>
      </p:sp>
      <p:sp>
        <p:nvSpPr>
          <p:cNvPr id="55" name="Rounded Rectangle 54"/>
          <p:cNvSpPr/>
          <p:nvPr/>
        </p:nvSpPr>
        <p:spPr>
          <a:xfrm>
            <a:off x="9006840" y="3950208"/>
            <a:ext cx="2651760" cy="5029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06840" y="3950208"/>
            <a:ext cx="73152"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134856" y="3959352"/>
            <a:ext cx="2487168" cy="502920"/>
          </a:xfrm>
          <a:prstGeom prst="rect">
            <a:avLst/>
          </a:prstGeom>
          <a:noFill/>
        </p:spPr>
        <p:txBody>
          <a:bodyPr wrap="square" lIns="45720" rIns="45720">
            <a:spAutoFit/>
          </a:bodyPr>
          <a:lstStyle/>
          <a:p>
            <a:pPr>
              <a:spcAft>
                <a:spcPts val="0"/>
              </a:spcAft>
            </a:pPr>
            <a:r>
              <a:rPr sz="950" b="1">
                <a:solidFill>
                  <a:srgbClr val="222B38"/>
                </a:solidFill>
                <a:latin typeface="Calibri"/>
              </a:rPr>
              <a:t>Ticket C, KW-C-00285</a:t>
            </a:r>
          </a:p>
          <a:p>
            <a:pPr>
              <a:spcAft>
                <a:spcPts val="0"/>
              </a:spcAft>
            </a:pPr>
            <a:r>
              <a:rPr sz="950" b="0">
                <a:solidFill>
                  <a:srgbClr val="222B38"/>
                </a:solidFill>
                <a:latin typeface="Calibri"/>
              </a:rPr>
              <a:t>First contact: earlier 0, contact 1, no flag.</a:t>
            </a:r>
          </a:p>
        </p:txBody>
      </p:sp>
      <p:sp>
        <p:nvSpPr>
          <p:cNvPr id="58" name="Rounded Rectangle 57"/>
          <p:cNvSpPr/>
          <p:nvPr/>
        </p:nvSpPr>
        <p:spPr>
          <a:xfrm>
            <a:off x="6263640" y="4526280"/>
            <a:ext cx="5394960" cy="10058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55080" y="4544568"/>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60" name="TextBox 59"/>
          <p:cNvSpPr txBox="1"/>
          <p:nvPr/>
        </p:nvSpPr>
        <p:spPr>
          <a:xfrm>
            <a:off x="6355080" y="4773168"/>
            <a:ext cx="5212080" cy="73152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61" name="TextBox 60"/>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nothing can be invented. The order's category picks the rulebook. Ticket B (tracking) needs no policy, so M6 skips it; ticket C cites escalation-tone.</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WORKFLOW GUARANTEES</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142B4D"/>
                    </a:solidFill>
                  </a:tcPr>
                </a:tc>
                <a:tc>
                  <a:txBody>
                    <a:bodyPr wrap="square"/>
                    <a:lstStyle/>
                    <a:p>
                      <a:pPr>
                        <a:spcAft>
                          <a:spcPts val="0"/>
                        </a:spcAft>
                      </a:pPr>
                      <a:r>
                        <a:rPr sz="105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with an audit trail</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State survives a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6263640" y="5166360"/>
            <a:ext cx="5394960" cy="64008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222B38"/>
                </a:solidFill>
                <a:latin typeface="Calibri"/>
              </a:rPr>
              <a:t>Tickets B and C: B auto-resolves with no pause (5 checkpoints). C pauses at legal_or_regulatory; ops_manager approves, flag_for_human is filed (6 checkpoints).</a:t>
            </a:r>
          </a:p>
        </p:txBody>
      </p:sp>
      <p:sp>
        <p:nvSpPr>
          <p:cNvPr id="40" name="Rounded Rectangle 39"/>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6  |  SUPERVISED MULTI-AGENT TEAM,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M6: a supervisor routes, agents stay in their lanes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74320" y="2130551"/>
            <a:ext cx="173736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1 Fills the ticket form</a:t>
            </a:r>
          </a:p>
        </p:txBody>
      </p:sp>
      <p:cxnSp>
        <p:nvCxnSpPr>
          <p:cNvPr id="21" name="Connector 20"/>
          <p:cNvCxnSpPr/>
          <p:nvPr/>
        </p:nvCxnSpPr>
        <p:spPr>
          <a:xfrm>
            <a:off x="777240" y="2779775"/>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Fields only</a:t>
            </a:r>
          </a:p>
        </p:txBody>
      </p:sp>
      <p:sp>
        <p:nvSpPr>
          <p:cNvPr id="23" name="Rounded Rectangle 22"/>
          <p:cNvSpPr/>
          <p:nvPr/>
        </p:nvSpPr>
        <p:spPr>
          <a:xfrm>
            <a:off x="1325880" y="2825495"/>
            <a:ext cx="2057400" cy="292608"/>
          </a:xfrm>
          <a:prstGeom prst="roundRect">
            <a:avLst>
              <a:gd name="adj" fmla="val 8000"/>
            </a:avLst>
          </a:prstGeom>
          <a:solidFill>
            <a:srgbClr val="EEF3F8"/>
          </a:solidFill>
          <a:ln w="15875">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F8B8D"/>
                </a:solidFill>
                <a:latin typeface="Calibri"/>
              </a:rPr>
              <a:t>3 Route, clamped by code</a:t>
            </a:r>
          </a:p>
        </p:txBody>
      </p:sp>
      <p:cxnSp>
        <p:nvCxnSpPr>
          <p:cNvPr id="25" name="Connector 24"/>
          <p:cNvCxnSpPr/>
          <p:nvPr/>
        </p:nvCxnSpPr>
        <p:spPr>
          <a:xfrm>
            <a:off x="1874519" y="3474720"/>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4 Memory, policy</a:t>
            </a:r>
          </a:p>
        </p:txBody>
      </p:sp>
      <p:cxnSp>
        <p:nvCxnSpPr>
          <p:cNvPr id="27" name="Connector 26"/>
          <p:cNvCxnSpPr/>
          <p:nvPr/>
        </p:nvCxnSpPr>
        <p:spPr>
          <a:xfrm>
            <a:off x="2971800" y="3822191"/>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Answer</a:t>
            </a:r>
          </a:p>
        </p:txBody>
      </p:sp>
      <p:sp>
        <p:nvSpPr>
          <p:cNvPr id="29" name="Rounded Rectangle 28"/>
          <p:cNvSpPr/>
          <p:nvPr/>
        </p:nvSpPr>
        <p:spPr>
          <a:xfrm>
            <a:off x="3291840" y="3867911"/>
            <a:ext cx="155448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6 Plan, no write</a:t>
            </a:r>
          </a:p>
        </p:txBody>
      </p:sp>
      <p:cxnSp>
        <p:nvCxnSpPr>
          <p:cNvPr id="31" name="Connector 30"/>
          <p:cNvCxnSpPr/>
          <p:nvPr/>
        </p:nvCxnSpPr>
        <p:spPr>
          <a:xfrm>
            <a:off x="4069080" y="4517136"/>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7 Proposal</a:t>
            </a:r>
          </a:p>
        </p:txBody>
      </p:sp>
      <p:sp>
        <p:nvSpPr>
          <p:cNvPr id="33" name="Rounded Rectangle 32"/>
          <p:cNvSpPr/>
          <p:nvPr/>
        </p:nvSpPr>
        <p:spPr>
          <a:xfrm>
            <a:off x="4114800" y="4562856"/>
            <a:ext cx="2286000" cy="292608"/>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C0392B"/>
                </a:solidFill>
                <a:latin typeface="Calibri"/>
              </a:rPr>
              <a:t>8 Re-check; revise max 2</a:t>
            </a:r>
          </a:p>
        </p:txBody>
      </p:sp>
      <p:cxnSp>
        <p:nvCxnSpPr>
          <p:cNvPr id="35" name="Connector 34"/>
          <p:cNvCxnSpPr/>
          <p:nvPr/>
        </p:nvCxnSpPr>
        <p:spPr>
          <a:xfrm flipH="1">
            <a:off x="4069080" y="5212080"/>
            <a:ext cx="1097280"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9 Force human</a:t>
            </a:r>
          </a:p>
        </p:txBody>
      </p:sp>
      <p:cxnSp>
        <p:nvCxnSpPr>
          <p:cNvPr id="37" name="Connector 36"/>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10 flag_for_human, KW-HQ-00002</a:t>
            </a:r>
          </a:p>
        </p:txBody>
      </p:sp>
      <p:sp>
        <p:nvSpPr>
          <p:cNvPr id="39" name="TextBox 38"/>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M1-M5, LIVE RUN OVER MCP</a:t>
            </a:r>
          </a:p>
        </p:txBody>
      </p:sp>
      <p:sp>
        <p:nvSpPr>
          <p:cNvPr id="40" name="Rounded Rectangle 39"/>
          <p:cNvSpPr/>
          <p:nvPr/>
        </p:nvSpPr>
        <p:spPr>
          <a:xfrm>
            <a:off x="6949440" y="1691640"/>
            <a:ext cx="4709160" cy="160020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7D32"/>
                </a:solidFill>
                <a:latin typeface="Calibri"/>
              </a:rPr>
              <a:t>Ticket A, hostile</a:t>
            </a:r>
          </a:p>
          <a:p>
            <a:pPr>
              <a:spcAft>
                <a:spcPts val="200"/>
              </a:spcAft>
            </a:pPr>
            <a:r>
              <a:rPr sz="1000" b="0">
                <a:solidFill>
                  <a:srgbClr val="222B38"/>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7D32"/>
                </a:solidFill>
                <a:latin typeface="Calibri"/>
              </a:rPr>
              <a:t>Tickets B and C</a:t>
            </a:r>
          </a:p>
          <a:p>
            <a:pPr>
              <a:spcAft>
                <a:spcPts val="200"/>
              </a:spcAft>
            </a:pPr>
            <a:r>
              <a:rPr sz="1000" b="0">
                <a:solidFill>
                  <a:srgbClr val="222B38"/>
                </a:solidFill>
                <a:latin typeface="Calibri"/>
              </a:rPr>
              <a:t>B, plain tracking: fast_track, policy skipped, track_shipment. C, court threat: escalate_now, straight to a human.</a:t>
            </a:r>
          </a:p>
        </p:txBody>
      </p:sp>
      <p:sp>
        <p:nvSpPr>
          <p:cNvPr id="42" name="TextBox 41"/>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TEAM GUARANTEES</a:t>
            </a:r>
          </a:p>
        </p:txBody>
      </p:sp>
      <p:graphicFrame>
        <p:nvGraphicFramePr>
          <p:cNvPr id="43" name="Table 42"/>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142B4D"/>
                    </a:solidFill>
                  </a:tcPr>
                </a:tc>
                <a:tc>
                  <a:txBody>
                    <a:bodyPr wrap="square"/>
                    <a:lstStyle/>
                    <a:p>
                      <a:pPr>
                        <a:spcAft>
                          <a:spcPts val="0"/>
                        </a:spcAft>
                      </a:pPr>
                      <a:r>
                        <a:rPr sz="100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00" b="0">
                          <a:solidFill>
                            <a:srgbClr val="222B38"/>
                          </a:solidFill>
                          <a:latin typeface="Calibri"/>
                        </a:rPr>
                        <a:t>Each agent writes only its own keys</a:t>
                      </a:r>
                    </a:p>
                  </a:txBody>
                  <a:tcPr marT="36576" marB="36576">
                    <a:solidFill>
                      <a:srgbClr val="EEF3F8"/>
                    </a:solidFill>
                  </a:tcPr>
                </a:tc>
                <a:tc>
                  <a:txBody>
                    <a:bodyPr wrap="square"/>
                    <a:lstStyle/>
                    <a:p>
                      <a:pPr>
                        <a:spcAft>
                          <a:spcPts val="0"/>
                        </a:spcAft>
                      </a:pPr>
                      <a:r>
                        <a:rPr sz="1000" b="0">
                          <a:solidFill>
                            <a:srgbClr val="222B38"/>
                          </a:solidFill>
                          <a:latin typeface="Calibri"/>
                        </a:rPr>
                        <a:t>PermissionError,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Routing</a:t>
                      </a:r>
                    </a:p>
                  </a:txBody>
                  <a:tcPr marT="36576" marB="36576">
                    <a:solidFill>
                      <a:srgbClr val="FFFFFF"/>
                    </a:solidFill>
                  </a:tcPr>
                </a:tc>
                <a:tc>
                  <a:txBody>
                    <a:bodyPr wrap="square"/>
                    <a:lstStyle/>
                    <a:p>
                      <a:pPr>
                        <a:spcAft>
                          <a:spcPts val="0"/>
                        </a:spcAft>
                      </a:pPr>
                      <a:r>
                        <a:rPr sz="1000" b="0">
                          <a:solidFill>
                            <a:srgbClr val="222B38"/>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Review before any write</a:t>
                      </a:r>
                    </a:p>
                  </a:txBody>
                  <a:tcPr marT="36576" marB="36576">
                    <a:solidFill>
                      <a:srgbClr val="EEF3F8"/>
                    </a:solidFill>
                  </a:tcPr>
                </a:tc>
                <a:tc>
                  <a:txBody>
                    <a:bodyPr wrap="square"/>
                    <a:lstStyle/>
                    <a:p>
                      <a:pPr>
                        <a:spcAft>
                          <a:spcPts val="0"/>
                        </a:spcAft>
                      </a:pPr>
                      <a:r>
                        <a:rPr sz="1000" b="0">
                          <a:solidFill>
                            <a:srgbClr val="222B38"/>
                          </a:solidFill>
                          <a:latin typeface="Calibri"/>
                        </a:rPr>
                        <a:t>reviewer only tightens,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Revision loop</a:t>
                      </a:r>
                    </a:p>
                  </a:txBody>
                  <a:tcPr marT="36576" marB="36576">
                    <a:solidFill>
                      <a:srgbClr val="FFFFFF"/>
                    </a:solidFill>
                  </a:tcPr>
                </a:tc>
                <a:tc>
                  <a:txBody>
                    <a:bodyPr wrap="square"/>
                    <a:lstStyle/>
                    <a:p>
                      <a:pPr>
                        <a:spcAft>
                          <a:spcPts val="0"/>
                        </a:spcAft>
                      </a:pPr>
                      <a:r>
                        <a:rPr sz="1000" b="0">
                          <a:solidFill>
                            <a:srgbClr val="222B38"/>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MCP: no delete or free-write tool</a:t>
                      </a:r>
                    </a:p>
                  </a:txBody>
                  <a:tcPr marT="36576" marB="36576">
                    <a:solidFill>
                      <a:srgbClr val="EEF3F8"/>
                    </a:solidFill>
                  </a:tcPr>
                </a:tc>
                <a:tc>
                  <a:txBody>
                    <a:bodyPr wrap="square"/>
                    <a:lstStyle/>
                    <a:p>
                      <a:pPr>
                        <a:spcAft>
                          <a:spcPts val="0"/>
                        </a:spcAft>
                      </a:pPr>
                      <a:r>
                        <a:rPr sz="1000" b="0">
                          <a:solidFill>
                            <a:srgbClr val="222B38"/>
                          </a:solidFill>
                          <a:latin typeface="Calibri"/>
                        </a:rPr>
                        <a:t>10 tools + 1 rules resource</a:t>
                      </a:r>
                    </a:p>
                  </a:txBody>
                  <a:tcPr marT="36576" marB="36576">
                    <a:solidFill>
                      <a:srgbClr val="EEF3F8"/>
                    </a:solidFill>
                  </a:tcPr>
                </a:tc>
              </a:tr>
            </a:tbl>
          </a:graphicData>
        </a:graphic>
      </p:graphicFrame>
      <p:sp>
        <p:nvSpPr>
          <p:cNvPr id="44" name="TextBox 43"/>
          <p:cNvSpPr txBox="1"/>
          <p:nvPr/>
        </p:nvSpPr>
        <p:spPr>
          <a:xfrm>
            <a:off x="6949440" y="5230368"/>
            <a:ext cx="4709160" cy="640080"/>
          </a:xfrm>
          <a:prstGeom prst="rect">
            <a:avLst/>
          </a:prstGeom>
          <a:noFill/>
        </p:spPr>
        <p:txBody>
          <a:bodyPr wrap="square" lIns="45720" rIns="45720">
            <a:spAutoFit/>
          </a:bodyPr>
          <a:lstStyle/>
          <a:p>
            <a:pPr>
              <a:spcAft>
                <a:spcPts val="0"/>
              </a:spcAft>
            </a:pPr>
            <a:r>
              <a:rPr sz="1000" b="1">
                <a:solidFill>
                  <a:srgbClr val="222B38"/>
                </a:solidFill>
                <a:latin typeface="Calibri"/>
              </a:rPr>
              <a:t>Revision loop, unit-tested with a forced failure (not seen live): </a:t>
            </a:r>
          </a:p>
          <a:p>
            <a:pPr>
              <a:spcAft>
                <a:spcPts val="0"/>
              </a:spcAft>
            </a:pPr>
            <a:r>
              <a:rPr sz="1000" b="0">
                <a:solidFill>
                  <a:srgbClr val="222B38"/>
                </a:solidFill>
                <a:latin typeface="Calibri"/>
              </a:rPr>
              <a:t>torn-shirt replacement on KW-O-000010 with no policy evidence is sent back for a wider search, then accepted or handed to a human. Triage and the Supervisor call an LLM; the other four stages are code.</a:t>
            </a:r>
          </a:p>
        </p:txBody>
      </p:sp>
      <p:sp>
        <p:nvSpPr>
          <p:cNvPr id="45" name="Rounded Rectangle 44"/>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7  |  TRACING AND RELIABILITY, TICKETS A, B, C</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every step is traced, and failures end at a person</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77240" y="2468879"/>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 track_shipment</a:t>
            </a:r>
          </a:p>
        </p:txBody>
      </p:sp>
      <p:cxnSp>
        <p:nvCxnSpPr>
          <p:cNvPr id="21" name="Connector 20"/>
          <p:cNvCxnSpPr/>
          <p:nvPr/>
        </p:nvCxnSpPr>
        <p:spPr>
          <a:xfrm>
            <a:off x="1874519" y="2926079"/>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MCP call</a:t>
            </a:r>
          </a:p>
        </p:txBody>
      </p:sp>
      <p:cxnSp>
        <p:nvCxnSpPr>
          <p:cNvPr id="23" name="Connector 22"/>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3 MCP down: run here</a:t>
            </a:r>
          </a:p>
        </p:txBody>
      </p:sp>
      <p:sp>
        <p:nvSpPr>
          <p:cNvPr id="25" name="Rounded Rectangle 24"/>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Result says failover: python</a:t>
            </a:r>
          </a:p>
        </p:txBody>
      </p:sp>
      <p:cxnSp>
        <p:nvCxnSpPr>
          <p:cNvPr id="27" name="Connector 26"/>
          <p:cNvCxnSpPr/>
          <p:nvPr/>
        </p:nvCxnSpPr>
        <p:spPr>
          <a:xfrm>
            <a:off x="1874519" y="4297680"/>
            <a:ext cx="3291841"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Still failing or breaker open</a:t>
            </a:r>
          </a:p>
        </p:txBody>
      </p:sp>
      <p:cxnSp>
        <p:nvCxnSpPr>
          <p:cNvPr id="29" name="Connector 28"/>
          <p:cNvCxnSpPr/>
          <p:nvPr/>
        </p:nvCxnSpPr>
        <p:spPr>
          <a:xfrm>
            <a:off x="777240" y="4754880"/>
            <a:ext cx="5486400" cy="0"/>
          </a:xfrm>
          <a:prstGeom prst="line">
            <a:avLst/>
          </a:prstGeom>
          <a:ln w="25400">
            <a:solidFill>
              <a:srgbClr val="0F8B8D"/>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6 Spans, tokens, cost (batched)</a:t>
            </a:r>
          </a:p>
        </p:txBody>
      </p:sp>
      <p:sp>
        <p:nvSpPr>
          <p:cNvPr id="31" name="Rounded Rectangle 30"/>
          <p:cNvSpPr/>
          <p:nvPr/>
        </p:nvSpPr>
        <p:spPr>
          <a:xfrm>
            <a:off x="274320" y="4892040"/>
            <a:ext cx="3566160" cy="31089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7 LLM down: /chat queues the case</a:t>
            </a:r>
          </a:p>
        </p:txBody>
      </p:sp>
      <p:sp>
        <p:nvSpPr>
          <p:cNvPr id="33" name="TextBox 32"/>
          <p:cNvSpPr txBox="1"/>
          <p:nvPr/>
        </p:nvSpPr>
        <p:spPr>
          <a:xfrm>
            <a:off x="6949440" y="1325880"/>
            <a:ext cx="4709160" cy="274320"/>
          </a:xfrm>
          <a:prstGeom prst="rect">
            <a:avLst/>
          </a:prstGeom>
          <a:noFill/>
        </p:spPr>
        <p:txBody>
          <a:bodyPr wrap="square" lIns="45720" rIns="45720">
            <a:spAutoFit/>
          </a:bodyPr>
          <a:lstStyle/>
          <a:p>
            <a:pPr>
              <a:spcAft>
                <a:spcPts val="600"/>
              </a:spcAft>
            </a:pPr>
            <a:r>
              <a:rPr sz="1050" b="1">
                <a:solidFill>
                  <a:srgbClr val="0F8B8D"/>
                </a:solidFill>
                <a:latin typeface="Calibri"/>
              </a:rPr>
              <a:t>TICKETS A, B, C IN LANGFUSE (LIVE, MCP; CLICK AN ID)</a:t>
            </a:r>
          </a:p>
        </p:txBody>
      </p:sp>
      <p:graphicFrame>
        <p:nvGraphicFramePr>
          <p:cNvPr id="34" name="Table 33"/>
          <p:cNvGraphicFramePr>
            <a:graphicFrameLocks noGrp="1"/>
          </p:cNvGraphicFramePr>
          <p:nvPr/>
        </p:nvGraphicFramePr>
        <p:xfrm>
          <a:off x="6949440" y="1581912"/>
          <a:ext cx="4709160" cy="987552"/>
        </p:xfrm>
        <a:graphic>
          <a:graphicData uri="http://schemas.openxmlformats.org/drawingml/2006/table">
            <a:tbl>
              <a:tblPr firstRow="1" bandRow="1">
                <a:tableStyleId>{5C22544A-7EE6-4342-B048-85BDC9FD1C3A}</a:tableStyleId>
              </a:tblPr>
              <a:tblGrid>
                <a:gridCol w="1051560"/>
                <a:gridCol w="960120"/>
                <a:gridCol w="457200"/>
                <a:gridCol w="914400"/>
                <a:gridCol w="685800"/>
                <a:gridCol w="640080"/>
              </a:tblGrid>
              <a:tr h="246888">
                <a:tc>
                  <a:txBody>
                    <a:bodyPr wrap="square"/>
                    <a:lstStyle/>
                    <a:p>
                      <a:pPr>
                        <a:spcAft>
                          <a:spcPts val="0"/>
                        </a:spcAft>
                      </a:pPr>
                      <a:r>
                        <a:rPr sz="900" b="1">
                          <a:solidFill>
                            <a:srgbClr val="FFFFFF"/>
                          </a:solidFill>
                          <a:latin typeface="Calibri"/>
                        </a:rPr>
                        <a:t>Ticket / trace</a:t>
                      </a:r>
                    </a:p>
                  </a:txBody>
                  <a:tcPr marT="36576" marB="36576">
                    <a:solidFill>
                      <a:srgbClr val="142B4D"/>
                    </a:solidFill>
                  </a:tcPr>
                </a:tc>
                <a:tc>
                  <a:txBody>
                    <a:bodyPr wrap="square"/>
                    <a:lstStyle/>
                    <a:p>
                      <a:pPr>
                        <a:spcAft>
                          <a:spcPts val="0"/>
                        </a:spcAft>
                      </a:pPr>
                      <a:r>
                        <a:rPr sz="900" b="1">
                          <a:solidFill>
                            <a:srgbClr val="FFFFFF"/>
                          </a:solidFill>
                          <a:latin typeface="Calibri"/>
                        </a:rPr>
                        <a:t>Route</a:t>
                      </a:r>
                    </a:p>
                  </a:txBody>
                  <a:tcPr marT="36576" marB="36576">
                    <a:solidFill>
                      <a:srgbClr val="142B4D"/>
                    </a:solidFill>
                  </a:tcPr>
                </a:tc>
                <a:tc>
                  <a:txBody>
                    <a:bodyPr wrap="square"/>
                    <a:lstStyle/>
                    <a:p>
                      <a:pPr>
                        <a:spcAft>
                          <a:spcPts val="0"/>
                        </a:spcAft>
                      </a:pPr>
                      <a:r>
                        <a:rPr sz="900" b="1">
                          <a:solidFill>
                            <a:srgbClr val="FFFFFF"/>
                          </a:solidFill>
                          <a:latin typeface="Calibri"/>
                        </a:rPr>
                        <a:t>Spans</a:t>
                      </a:r>
                    </a:p>
                  </a:txBody>
                  <a:tcPr marT="36576" marB="36576">
                    <a:solidFill>
                      <a:srgbClr val="142B4D"/>
                    </a:solidFill>
                  </a:tcPr>
                </a:tc>
                <a:tc>
                  <a:txBody>
                    <a:bodyPr wrap="square"/>
                    <a:lstStyle/>
                    <a:p>
                      <a:pPr>
                        <a:spcAft>
                          <a:spcPts val="0"/>
                        </a:spcAft>
                      </a:pPr>
                      <a:r>
                        <a:rPr sz="900" b="1">
                          <a:solidFill>
                            <a:srgbClr val="FFFFFF"/>
                          </a:solidFill>
                          <a:latin typeface="Calibri"/>
                        </a:rPr>
                        <a:t>Tokens in/out</a:t>
                      </a:r>
                    </a:p>
                  </a:txBody>
                  <a:tcPr marT="36576" marB="36576">
                    <a:solidFill>
                      <a:srgbClr val="142B4D"/>
                    </a:solidFill>
                  </a:tcPr>
                </a:tc>
                <a:tc>
                  <a:txBody>
                    <a:bodyPr wrap="square"/>
                    <a:lstStyle/>
                    <a:p>
                      <a:pPr>
                        <a:spcAft>
                          <a:spcPts val="0"/>
                        </a:spcAft>
                      </a:pPr>
                      <a:r>
                        <a:rPr sz="900" b="1">
                          <a:solidFill>
                            <a:srgbClr val="FFFFFF"/>
                          </a:solidFill>
                          <a:latin typeface="Calibri"/>
                        </a:rPr>
                        <a:t>Cost</a:t>
                      </a:r>
                    </a:p>
                  </a:txBody>
                  <a:tcPr marT="36576" marB="36576">
                    <a:solidFill>
                      <a:srgbClr val="142B4D"/>
                    </a:solidFill>
                  </a:tcPr>
                </a:tc>
                <a:tc>
                  <a:txBody>
                    <a:bodyPr wrap="square"/>
                    <a:lstStyle/>
                    <a:p>
                      <a:pPr>
                        <a:spcAft>
                          <a:spcPts val="0"/>
                        </a:spcAft>
                      </a:pPr>
                      <a:r>
                        <a:rPr sz="900" b="1">
                          <a:solidFill>
                            <a:srgbClr val="FFFFFF"/>
                          </a:solidFill>
                          <a:latin typeface="Calibri"/>
                        </a:rPr>
                        <a:t>Time</a:t>
                      </a:r>
                    </a:p>
                  </a:txBody>
                  <a:tcPr marT="36576" marB="36576">
                    <a:solidFill>
                      <a:srgbClr val="142B4D"/>
                    </a:solidFill>
                  </a:tcPr>
                </a:tc>
              </a:tr>
              <a:tr h="246888">
                <a:tc>
                  <a:txBody>
                    <a:bodyPr wrap="square"/>
                    <a:lstStyle/>
                    <a:p>
                      <a:pPr>
                        <a:spcAft>
                          <a:spcPts val="0"/>
                        </a:spcAft>
                      </a:pPr>
                      <a:r>
                        <a:rPr sz="900" b="0">
                          <a:solidFill>
                            <a:srgbClr val="222B38"/>
                          </a:solidFill>
                          <a:latin typeface="Calibri"/>
                          <a:hlinkClick r:id="rId3"/>
                        </a:rPr>
                        <a:t>A  62f3393f</a:t>
                      </a:r>
                    </a:p>
                  </a:txBody>
                  <a:tcPr marT="36576" marB="36576">
                    <a:solidFill>
                      <a:srgbClr val="EEF3F8"/>
                    </a:solidFill>
                  </a:tcPr>
                </a:tc>
                <a:tc>
                  <a:txBody>
                    <a:bodyPr wrap="square"/>
                    <a:lstStyle/>
                    <a:p>
                      <a:pPr>
                        <a:spcAft>
                          <a:spcPts val="0"/>
                        </a:spcAft>
                      </a:pPr>
                      <a:r>
                        <a:rPr sz="900" b="0">
                          <a:solidFill>
                            <a:srgbClr val="222B38"/>
                          </a:solidFill>
                          <a:latin typeface="Calibri"/>
                        </a:rPr>
                        <a:t>full, human</a:t>
                      </a:r>
                    </a:p>
                  </a:txBody>
                  <a:tcPr marT="36576" marB="36576">
                    <a:solidFill>
                      <a:srgbClr val="EEF3F8"/>
                    </a:solidFill>
                  </a:tcPr>
                </a:tc>
                <a:tc>
                  <a:txBody>
                    <a:bodyPr wrap="square"/>
                    <a:lstStyle/>
                    <a:p>
                      <a:pPr>
                        <a:spcAft>
                          <a:spcPts val="0"/>
                        </a:spcAft>
                      </a:pPr>
                      <a:r>
                        <a:rPr sz="900" b="0">
                          <a:solidFill>
                            <a:srgbClr val="222B38"/>
                          </a:solidFill>
                          <a:latin typeface="Calibri"/>
                        </a:rPr>
                        <a:t>9</a:t>
                      </a:r>
                    </a:p>
                  </a:txBody>
                  <a:tcPr marT="36576" marB="36576">
                    <a:solidFill>
                      <a:srgbClr val="EEF3F8"/>
                    </a:solidFill>
                  </a:tcPr>
                </a:tc>
                <a:tc>
                  <a:txBody>
                    <a:bodyPr wrap="square"/>
                    <a:lstStyle/>
                    <a:p>
                      <a:pPr>
                        <a:spcAft>
                          <a:spcPts val="0"/>
                        </a:spcAft>
                      </a:pPr>
                      <a:r>
                        <a:rPr sz="900" b="0">
                          <a:solidFill>
                            <a:srgbClr val="222B38"/>
                          </a:solidFill>
                          <a:latin typeface="Calibri"/>
                        </a:rPr>
                        <a:t>1079 / 193</a:t>
                      </a:r>
                    </a:p>
                  </a:txBody>
                  <a:tcPr marT="36576" marB="36576">
                    <a:solidFill>
                      <a:srgbClr val="EEF3F8"/>
                    </a:solidFill>
                  </a:tcPr>
                </a:tc>
                <a:tc>
                  <a:txBody>
                    <a:bodyPr wrap="square"/>
                    <a:lstStyle/>
                    <a:p>
                      <a:pPr>
                        <a:spcAft>
                          <a:spcPts val="0"/>
                        </a:spcAft>
                      </a:pPr>
                      <a:r>
                        <a:rPr sz="900" b="0">
                          <a:solidFill>
                            <a:srgbClr val="222B38"/>
                          </a:solidFill>
                          <a:latin typeface="Calibri"/>
                        </a:rPr>
                        <a:t>$0.00081</a:t>
                      </a:r>
                    </a:p>
                  </a:txBody>
                  <a:tcPr marT="36576" marB="36576">
                    <a:solidFill>
                      <a:srgbClr val="EEF3F8"/>
                    </a:solidFill>
                  </a:tcPr>
                </a:tc>
                <a:tc>
                  <a:txBody>
                    <a:bodyPr wrap="square"/>
                    <a:lstStyle/>
                    <a:p>
                      <a:pPr>
                        <a:spcAft>
                          <a:spcPts val="0"/>
                        </a:spcAft>
                      </a:pPr>
                      <a:r>
                        <a:rPr sz="900" b="0">
                          <a:solidFill>
                            <a:srgbClr val="222B38"/>
                          </a:solidFill>
                          <a:latin typeface="Calibri"/>
                        </a:rPr>
                        <a:t>7.6 s</a:t>
                      </a:r>
                    </a:p>
                  </a:txBody>
                  <a:tcPr marT="36576" marB="36576">
                    <a:solidFill>
                      <a:srgbClr val="EEF3F8"/>
                    </a:solidFill>
                  </a:tcPr>
                </a:tc>
              </a:tr>
              <a:tr h="246888">
                <a:tc>
                  <a:txBody>
                    <a:bodyPr wrap="square"/>
                    <a:lstStyle/>
                    <a:p>
                      <a:pPr>
                        <a:spcAft>
                          <a:spcPts val="0"/>
                        </a:spcAft>
                      </a:pPr>
                      <a:r>
                        <a:rPr sz="900" b="0">
                          <a:solidFill>
                            <a:srgbClr val="222B38"/>
                          </a:solidFill>
                          <a:latin typeface="Calibri"/>
                          <a:hlinkClick r:id="rId4"/>
                        </a:rPr>
                        <a:t>B  697de7ea</a:t>
                      </a:r>
                    </a:p>
                  </a:txBody>
                  <a:tcPr marT="36576" marB="36576">
                    <a:solidFill>
                      <a:srgbClr val="FFFFFF"/>
                    </a:solidFill>
                  </a:tcPr>
                </a:tc>
                <a:tc>
                  <a:txBody>
                    <a:bodyPr wrap="square"/>
                    <a:lstStyle/>
                    <a:p>
                      <a:pPr>
                        <a:spcAft>
                          <a:spcPts val="0"/>
                        </a:spcAft>
                      </a:pPr>
                      <a:r>
                        <a:rPr sz="900" b="0">
                          <a:solidFill>
                            <a:srgbClr val="222B38"/>
                          </a:solidFill>
                          <a:latin typeface="Calibri"/>
                        </a:rPr>
                        <a:t>fast_track</a:t>
                      </a:r>
                    </a:p>
                  </a:txBody>
                  <a:tcPr marT="36576" marB="36576">
                    <a:solidFill>
                      <a:srgbClr val="FFFFFF"/>
                    </a:solidFill>
                  </a:tcPr>
                </a:tc>
                <a:tc>
                  <a:txBody>
                    <a:bodyPr wrap="square"/>
                    <a:lstStyle/>
                    <a:p>
                      <a:pPr>
                        <a:spcAft>
                          <a:spcPts val="0"/>
                        </a:spcAft>
                      </a:pPr>
                      <a:r>
                        <a:rPr sz="900" b="0">
                          <a:solidFill>
                            <a:srgbClr val="222B38"/>
                          </a:solidFill>
                          <a:latin typeface="Calibri"/>
                        </a:rPr>
                        <a:t>7</a:t>
                      </a:r>
                    </a:p>
                  </a:txBody>
                  <a:tcPr marT="36576" marB="36576">
                    <a:solidFill>
                      <a:srgbClr val="FFFFFF"/>
                    </a:solidFill>
                  </a:tcPr>
                </a:tc>
                <a:tc>
                  <a:txBody>
                    <a:bodyPr wrap="square"/>
                    <a:lstStyle/>
                    <a:p>
                      <a:pPr>
                        <a:spcAft>
                          <a:spcPts val="0"/>
                        </a:spcAft>
                      </a:pPr>
                      <a:r>
                        <a:rPr sz="900" b="0">
                          <a:solidFill>
                            <a:srgbClr val="222B38"/>
                          </a:solidFill>
                          <a:latin typeface="Calibri"/>
                        </a:rPr>
                        <a:t>1029 / 177</a:t>
                      </a:r>
                    </a:p>
                  </a:txBody>
                  <a:tcPr marT="36576" marB="36576">
                    <a:solidFill>
                      <a:srgbClr val="FFFFFF"/>
                    </a:solidFill>
                  </a:tcPr>
                </a:tc>
                <a:tc>
                  <a:txBody>
                    <a:bodyPr wrap="square"/>
                    <a:lstStyle/>
                    <a:p>
                      <a:pPr>
                        <a:spcAft>
                          <a:spcPts val="0"/>
                        </a:spcAft>
                      </a:pPr>
                      <a:r>
                        <a:rPr sz="900" b="0">
                          <a:solidFill>
                            <a:srgbClr val="222B38"/>
                          </a:solidFill>
                          <a:latin typeface="Calibri"/>
                        </a:rPr>
                        <a:t>$0.00075</a:t>
                      </a:r>
                    </a:p>
                  </a:txBody>
                  <a:tcPr marT="36576" marB="36576">
                    <a:solidFill>
                      <a:srgbClr val="FFFFFF"/>
                    </a:solidFill>
                  </a:tcPr>
                </a:tc>
                <a:tc>
                  <a:txBody>
                    <a:bodyPr wrap="square"/>
                    <a:lstStyle/>
                    <a:p>
                      <a:pPr>
                        <a:spcAft>
                          <a:spcPts val="0"/>
                        </a:spcAft>
                      </a:pPr>
                      <a:r>
                        <a:rPr sz="900" b="0">
                          <a:solidFill>
                            <a:srgbClr val="222B38"/>
                          </a:solidFill>
                          <a:latin typeface="Calibri"/>
                        </a:rPr>
                        <a:t>4.1 s</a:t>
                      </a:r>
                    </a:p>
                  </a:txBody>
                  <a:tcPr marT="36576" marB="36576">
                    <a:solidFill>
                      <a:srgbClr val="FFFFFF"/>
                    </a:solidFill>
                  </a:tcPr>
                </a:tc>
              </a:tr>
              <a:tr h="246888">
                <a:tc>
                  <a:txBody>
                    <a:bodyPr wrap="square"/>
                    <a:lstStyle/>
                    <a:p>
                      <a:pPr>
                        <a:spcAft>
                          <a:spcPts val="0"/>
                        </a:spcAft>
                      </a:pPr>
                      <a:r>
                        <a:rPr sz="900" b="0">
                          <a:solidFill>
                            <a:srgbClr val="222B38"/>
                          </a:solidFill>
                          <a:latin typeface="Calibri"/>
                          <a:hlinkClick r:id="rId5"/>
                        </a:rPr>
                        <a:t>C  72b4b6c3</a:t>
                      </a:r>
                    </a:p>
                  </a:txBody>
                  <a:tcPr marT="36576" marB="36576">
                    <a:solidFill>
                      <a:srgbClr val="EEF3F8"/>
                    </a:solidFill>
                  </a:tcPr>
                </a:tc>
                <a:tc>
                  <a:txBody>
                    <a:bodyPr wrap="square"/>
                    <a:lstStyle/>
                    <a:p>
                      <a:pPr>
                        <a:spcAft>
                          <a:spcPts val="0"/>
                        </a:spcAft>
                      </a:pPr>
                      <a:r>
                        <a:rPr sz="900" b="0">
                          <a:solidFill>
                            <a:srgbClr val="222B38"/>
                          </a:solidFill>
                          <a:latin typeface="Calibri"/>
                        </a:rPr>
                        <a:t>escalate_now</a:t>
                      </a:r>
                    </a:p>
                  </a:txBody>
                  <a:tcPr marT="36576" marB="36576">
                    <a:solidFill>
                      <a:srgbClr val="EEF3F8"/>
                    </a:solidFill>
                  </a:tcPr>
                </a:tc>
                <a:tc>
                  <a:txBody>
                    <a:bodyPr wrap="square"/>
                    <a:lstStyle/>
                    <a:p>
                      <a:pPr>
                        <a:spcAft>
                          <a:spcPts val="0"/>
                        </a:spcAft>
                      </a:pPr>
                      <a:r>
                        <a:rPr sz="900" b="0">
                          <a:solidFill>
                            <a:srgbClr val="222B38"/>
                          </a:solidFill>
                          <a:latin typeface="Calibri"/>
                        </a:rPr>
                        <a:t>7</a:t>
                      </a:r>
                    </a:p>
                  </a:txBody>
                  <a:tcPr marT="36576" marB="36576">
                    <a:solidFill>
                      <a:srgbClr val="EEF3F8"/>
                    </a:solidFill>
                  </a:tcPr>
                </a:tc>
                <a:tc>
                  <a:txBody>
                    <a:bodyPr wrap="square"/>
                    <a:lstStyle/>
                    <a:p>
                      <a:pPr>
                        <a:spcAft>
                          <a:spcPts val="0"/>
                        </a:spcAft>
                      </a:pPr>
                      <a:r>
                        <a:rPr sz="900" b="0">
                          <a:solidFill>
                            <a:srgbClr val="222B38"/>
                          </a:solidFill>
                          <a:latin typeface="Calibri"/>
                        </a:rPr>
                        <a:t>1045 / 145</a:t>
                      </a:r>
                    </a:p>
                  </a:txBody>
                  <a:tcPr marT="36576" marB="36576">
                    <a:solidFill>
                      <a:srgbClr val="EEF3F8"/>
                    </a:solidFill>
                  </a:tcPr>
                </a:tc>
                <a:tc>
                  <a:txBody>
                    <a:bodyPr wrap="square"/>
                    <a:lstStyle/>
                    <a:p>
                      <a:pPr>
                        <a:spcAft>
                          <a:spcPts val="0"/>
                        </a:spcAft>
                      </a:pPr>
                      <a:r>
                        <a:rPr sz="900" b="0">
                          <a:solidFill>
                            <a:srgbClr val="222B38"/>
                          </a:solidFill>
                          <a:latin typeface="Calibri"/>
                        </a:rPr>
                        <a:t>$0.00068</a:t>
                      </a:r>
                    </a:p>
                  </a:txBody>
                  <a:tcPr marT="36576" marB="36576">
                    <a:solidFill>
                      <a:srgbClr val="EEF3F8"/>
                    </a:solidFill>
                  </a:tcPr>
                </a:tc>
                <a:tc>
                  <a:txBody>
                    <a:bodyPr wrap="square"/>
                    <a:lstStyle/>
                    <a:p>
                      <a:pPr>
                        <a:spcAft>
                          <a:spcPts val="0"/>
                        </a:spcAft>
                      </a:pPr>
                      <a:r>
                        <a:rPr sz="900" b="0">
                          <a:solidFill>
                            <a:srgbClr val="222B38"/>
                          </a:solidFill>
                          <a:latin typeface="Calibri"/>
                        </a:rPr>
                        <a:t>4.4 s</a:t>
                      </a:r>
                    </a:p>
                  </a:txBody>
                  <a:tcPr marT="36576" marB="36576">
                    <a:solidFill>
                      <a:srgbClr val="EEF3F8"/>
                    </a:solidFill>
                  </a:tcPr>
                </a:tc>
              </a:tr>
            </a:tbl>
          </a:graphicData>
        </a:graphic>
      </p:graphicFrame>
      <p:sp>
        <p:nvSpPr>
          <p:cNvPr id="35" name="Rounded Rectangle 34"/>
          <p:cNvSpPr/>
          <p:nvPr/>
        </p:nvSpPr>
        <p:spPr>
          <a:xfrm>
            <a:off x="6949440" y="2651760"/>
            <a:ext cx="4709160" cy="96012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0" y="2670048"/>
            <a:ext cx="4526280" cy="914400"/>
          </a:xfrm>
          <a:prstGeom prst="rect">
            <a:avLst/>
          </a:prstGeom>
          <a:noFill/>
        </p:spPr>
        <p:txBody>
          <a:bodyPr wrap="square" lIns="45720" rIns="45720">
            <a:spAutoFit/>
          </a:bodyPr>
          <a:lstStyle/>
          <a:p>
            <a:pPr>
              <a:spcAft>
                <a:spcPts val="100"/>
              </a:spcAft>
            </a:pPr>
            <a:r>
              <a:rPr sz="950" b="1">
                <a:solidFill>
                  <a:srgbClr val="2E7D32"/>
                </a:solidFill>
                <a:latin typeface="Calibri"/>
              </a:rPr>
              <a:t>Failure checks</a:t>
            </a:r>
          </a:p>
          <a:p>
            <a:pPr>
              <a:spcAft>
                <a:spcPts val="100"/>
              </a:spcAft>
            </a:pPr>
            <a:r>
              <a:rPr sz="950" b="0">
                <a:solidFill>
                  <a:srgbClr val="222B38"/>
                </a:solidFill>
                <a:latin typeface="Calibri"/>
              </a:rPr>
              <a:t>MCP unreachable: ticket B still resolved, the result says failover. LLM unavailable: /chat answered 200 and queued the case (KW-HQ-00003).</a:t>
            </a:r>
          </a:p>
          <a:p>
            <a:pPr>
              <a:spcAft>
                <a:spcPts val="100"/>
              </a:spcAft>
            </a:pPr>
            <a:r>
              <a:rPr sz="950" b="0">
                <a:solidFill>
                  <a:srgbClr val="222B38"/>
                </a:solidFill>
                <a:latin typeface="Calibri"/>
              </a:rPr>
              <a:t>A and C already end at a person, so an outage changes nothing for them.</a:t>
            </a:r>
          </a:p>
        </p:txBody>
      </p:sp>
      <p:sp>
        <p:nvSpPr>
          <p:cNvPr id="37" name="TextBox 36"/>
          <p:cNvSpPr txBox="1"/>
          <p:nvPr/>
        </p:nvSpPr>
        <p:spPr>
          <a:xfrm>
            <a:off x="6949440" y="3675887"/>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M7 GUARANTEES</a:t>
            </a:r>
          </a:p>
        </p:txBody>
      </p:sp>
      <p:graphicFrame>
        <p:nvGraphicFramePr>
          <p:cNvPr id="38" name="Table 37"/>
          <p:cNvGraphicFramePr>
            <a:graphicFrameLocks noGrp="1"/>
          </p:cNvGraphicFramePr>
          <p:nvPr/>
        </p:nvGraphicFramePr>
        <p:xfrm>
          <a:off x="6949440" y="3913632"/>
          <a:ext cx="4709160" cy="1481328"/>
        </p:xfrm>
        <a:graphic>
          <a:graphicData uri="http://schemas.openxmlformats.org/drawingml/2006/table">
            <a:tbl>
              <a:tblPr firstRow="1" bandRow="1">
                <a:tableStyleId>{5C22544A-7EE6-4342-B048-85BDC9FD1C3A}</a:tableStyleId>
              </a:tblPr>
              <a:tblGrid>
                <a:gridCol w="2011680"/>
                <a:gridCol w="2697480"/>
              </a:tblGrid>
              <a:tr h="246888">
                <a:tc>
                  <a:txBody>
                    <a:bodyPr wrap="square"/>
                    <a:lstStyle/>
                    <a:p>
                      <a:pPr>
                        <a:spcAft>
                          <a:spcPts val="0"/>
                        </a:spcAft>
                      </a:pPr>
                      <a:r>
                        <a:rPr sz="950" b="1">
                          <a:solidFill>
                            <a:srgbClr val="FFFFFF"/>
                          </a:solidFill>
                          <a:latin typeface="Calibri"/>
                        </a:rPr>
                        <a:t>Guarantee</a:t>
                      </a:r>
                    </a:p>
                  </a:txBody>
                  <a:tcPr marT="36576" marB="36576">
                    <a:solidFill>
                      <a:srgbClr val="142B4D"/>
                    </a:solidFill>
                  </a:tcPr>
                </a:tc>
                <a:tc>
                  <a:txBody>
                    <a:bodyPr wrap="square"/>
                    <a:lstStyle/>
                    <a:p>
                      <a:pPr>
                        <a:spcAft>
                          <a:spcPts val="0"/>
                        </a:spcAft>
                      </a:pPr>
                      <a:r>
                        <a:rPr sz="950" b="1">
                          <a:solidFill>
                            <a:srgbClr val="FFFFFF"/>
                          </a:solidFill>
                          <a:latin typeface="Calibri"/>
                        </a:rPr>
                        <a:t>How</a:t>
                      </a:r>
                    </a:p>
                  </a:txBody>
                  <a:tcPr marT="36576" marB="36576">
                    <a:solidFill>
                      <a:srgbClr val="142B4D"/>
                    </a:solidFill>
                  </a:tcPr>
                </a:tc>
              </a:tr>
              <a:tr h="246888">
                <a:tc>
                  <a:txBody>
                    <a:bodyPr wrap="square"/>
                    <a:lstStyle/>
                    <a:p>
                      <a:pPr>
                        <a:spcAft>
                          <a:spcPts val="0"/>
                        </a:spcAft>
                      </a:pPr>
                      <a:r>
                        <a:rPr sz="950" b="0">
                          <a:solidFill>
                            <a:srgbClr val="222B38"/>
                          </a:solidFill>
                          <a:latin typeface="Calibri"/>
                        </a:rPr>
                        <a:t>Retries only for transient errors</a:t>
                      </a:r>
                    </a:p>
                  </a:txBody>
                  <a:tcPr marT="36576" marB="36576">
                    <a:solidFill>
                      <a:srgbClr val="EEF3F8"/>
                    </a:solidFill>
                  </a:tcPr>
                </a:tc>
                <a:tc>
                  <a:txBody>
                    <a:bodyPr wrap="square"/>
                    <a:lstStyle/>
                    <a:p>
                      <a:pPr>
                        <a:spcAft>
                          <a:spcPts val="0"/>
                        </a:spcAft>
                      </a:pPr>
                      <a:r>
                        <a:rPr sz="950" b="0">
                          <a:solidFill>
                            <a:srgbClr val="222B38"/>
                          </a:solidFill>
                          <a:latin typeface="Calibri"/>
                        </a:rPr>
                        <a:t>backoff; malformed goes to a human</a:t>
                      </a:r>
                    </a:p>
                  </a:txBody>
                  <a:tcPr marT="36576" marB="36576">
                    <a:solidFill>
                      <a:srgbClr val="EEF3F8"/>
                    </a:solidFill>
                  </a:tcPr>
                </a:tc>
              </a:tr>
              <a:tr h="246888">
                <a:tc>
                  <a:txBody>
                    <a:bodyPr wrap="square"/>
                    <a:lstStyle/>
                    <a:p>
                      <a:pPr>
                        <a:spcAft>
                          <a:spcPts val="0"/>
                        </a:spcAft>
                      </a:pPr>
                      <a:r>
                        <a:rPr sz="950" b="0">
                          <a:solidFill>
                            <a:srgbClr val="222B38"/>
                          </a:solidFill>
                          <a:latin typeface="Calibri"/>
                        </a:rPr>
                        <a:t>Breaker</a:t>
                      </a:r>
                    </a:p>
                  </a:txBody>
                  <a:tcPr marT="36576" marB="36576">
                    <a:solidFill>
                      <a:srgbClr val="FFFFFF"/>
                    </a:solidFill>
                  </a:tcPr>
                </a:tc>
                <a:tc>
                  <a:txBody>
                    <a:bodyPr wrap="square"/>
                    <a:lstStyle/>
                    <a:p>
                      <a:pPr>
                        <a:spcAft>
                          <a:spcPts val="0"/>
                        </a:spcAft>
                      </a:pPr>
                      <a:r>
                        <a:rPr sz="950" b="0">
                          <a:solidFill>
                            <a:srgbClr val="222B38"/>
                          </a:solidFill>
                          <a:latin typeface="Calibri"/>
                        </a:rPr>
                        <a:t>half-open: one trial call</a:t>
                      </a:r>
                    </a:p>
                  </a:txBody>
                  <a:tcPr marT="36576" marB="36576">
                    <a:solidFill>
                      <a:srgbClr val="FFFFFF"/>
                    </a:solidFill>
                  </a:tcPr>
                </a:tc>
              </a:tr>
              <a:tr h="246888">
                <a:tc>
                  <a:txBody>
                    <a:bodyPr wrap="square"/>
                    <a:lstStyle/>
                    <a:p>
                      <a:pPr>
                        <a:spcAft>
                          <a:spcPts val="0"/>
                        </a:spcAft>
                      </a:pPr>
                      <a:r>
                        <a:rPr sz="950" b="0">
                          <a:solidFill>
                            <a:srgbClr val="222B38"/>
                          </a:solidFill>
                          <a:latin typeface="Calibri"/>
                        </a:rPr>
                        <a:t>200 seeded calls</a:t>
                      </a:r>
                    </a:p>
                  </a:txBody>
                  <a:tcPr marT="36576" marB="36576">
                    <a:solidFill>
                      <a:srgbClr val="EEF3F8"/>
                    </a:solidFill>
                  </a:tcPr>
                </a:tc>
                <a:tc>
                  <a:txBody>
                    <a:bodyPr wrap="square"/>
                    <a:lstStyle/>
                    <a:p>
                      <a:pPr>
                        <a:spcAft>
                          <a:spcPts val="0"/>
                        </a:spcAft>
                      </a:pPr>
                      <a:r>
                        <a:rPr sz="950" b="0">
                          <a:solidFill>
                            <a:srgbClr val="222B38"/>
                          </a:solidFill>
                          <a:latin typeface="Calibri"/>
                        </a:rPr>
                        <a:t>57% clean, then 179 + 21 to a human</a:t>
                      </a:r>
                    </a:p>
                  </a:txBody>
                  <a:tcPr marT="36576" marB="36576">
                    <a:solidFill>
                      <a:srgbClr val="EEF3F8"/>
                    </a:solidFill>
                  </a:tcPr>
                </a:tc>
              </a:tr>
              <a:tr h="246888">
                <a:tc>
                  <a:txBody>
                    <a:bodyPr wrap="square"/>
                    <a:lstStyle/>
                    <a:p>
                      <a:pPr>
                        <a:spcAft>
                          <a:spcPts val="0"/>
                        </a:spcAft>
                      </a:pPr>
                      <a:r>
                        <a:rPr sz="950" b="0">
                          <a:solidFill>
                            <a:srgbClr val="222B38"/>
                          </a:solidFill>
                          <a:latin typeface="Calibri"/>
                        </a:rPr>
                        <a:t>Dead tool</a:t>
                      </a:r>
                    </a:p>
                  </a:txBody>
                  <a:tcPr marT="36576" marB="36576">
                    <a:solidFill>
                      <a:srgbClr val="FFFFFF"/>
                    </a:solidFill>
                  </a:tcPr>
                </a:tc>
                <a:tc>
                  <a:txBody>
                    <a:bodyPr wrap="square"/>
                    <a:lstStyle/>
                    <a:p>
                      <a:pPr>
                        <a:spcAft>
                          <a:spcPts val="0"/>
                        </a:spcAft>
                      </a:pPr>
                      <a:r>
                        <a:rPr sz="950" b="0">
                          <a:solidFill>
                            <a:srgbClr val="222B38"/>
                          </a:solidFill>
                          <a:latin typeface="Calibri"/>
                        </a:rPr>
                        <a:t>3 real calls, 7 short-circuited</a:t>
                      </a:r>
                    </a:p>
                  </a:txBody>
                  <a:tcPr marT="36576" marB="36576">
                    <a:solidFill>
                      <a:srgbClr val="FFFFFF"/>
                    </a:solidFill>
                  </a:tcPr>
                </a:tc>
              </a:tr>
              <a:tr h="246888">
                <a:tc>
                  <a:txBody>
                    <a:bodyPr wrap="square"/>
                    <a:lstStyle/>
                    <a:p>
                      <a:pPr>
                        <a:spcAft>
                          <a:spcPts val="0"/>
                        </a:spcAft>
                      </a:pPr>
                      <a:r>
                        <a:rPr sz="950" b="0">
                          <a:solidFill>
                            <a:srgbClr val="222B38"/>
                          </a:solidFill>
                          <a:latin typeface="Calibri"/>
                        </a:rPr>
                        <a:t>Tracing cost</a:t>
                      </a:r>
                    </a:p>
                  </a:txBody>
                  <a:tcPr marT="36576" marB="36576">
                    <a:solidFill>
                      <a:srgbClr val="EEF3F8"/>
                    </a:solidFill>
                  </a:tcPr>
                </a:tc>
                <a:tc>
                  <a:txBody>
                    <a:bodyPr wrap="square"/>
                    <a:lstStyle/>
                    <a:p>
                      <a:pPr>
                        <a:spcAft>
                          <a:spcPts val="0"/>
                        </a:spcAft>
                      </a:pPr>
                      <a:r>
                        <a:rPr sz="950" b="0">
                          <a:solidFill>
                            <a:srgbClr val="222B38"/>
                          </a:solidFill>
                          <a:latin typeface="Calibri"/>
                        </a:rPr>
                        <a:t>+1.3 ms per ticket (a flush per ticket cost 200 ms, now batched)</a:t>
                      </a:r>
                    </a:p>
                  </a:txBody>
                  <a:tcPr marT="36576" marB="36576">
                    <a:solidFill>
                      <a:srgbClr val="EEF3F8"/>
                    </a:solidFill>
                  </a:tcPr>
                </a:tc>
              </a:tr>
            </a:tbl>
          </a:graphicData>
        </a:graphic>
      </p:graphicFrame>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8 AND EVALUATION  |  RUN IT YOURSELF</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M8 and results: honest limits, and the five-minute demo</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371600"/>
          <a:ext cx="4206240" cy="2487168"/>
        </p:xfrm>
        <a:graphic>
          <a:graphicData uri="http://schemas.openxmlformats.org/drawingml/2006/table">
            <a:tbl>
              <a:tblPr firstRow="1" bandRow="1">
                <a:tableStyleId>{5C22544A-7EE6-4342-B048-85BDC9FD1C3A}</a:tableStyleId>
              </a:tblPr>
              <a:tblGrid>
                <a:gridCol w="2743200"/>
                <a:gridCol w="1463040"/>
              </a:tblGrid>
              <a:tr h="310896">
                <a:tc>
                  <a:txBody>
                    <a:bodyPr wrap="square"/>
                    <a:lstStyle/>
                    <a:p>
                      <a:pPr>
                        <a:spcAft>
                          <a:spcPts val="0"/>
                        </a:spcAft>
                      </a:pPr>
                      <a:r>
                        <a:rPr sz="1100" b="1">
                          <a:solidFill>
                            <a:srgbClr val="FFFFFF"/>
                          </a:solidFill>
                          <a:latin typeface="Calibri"/>
                        </a:rPr>
                        <a:t>Check</a:t>
                      </a:r>
                    </a:p>
                  </a:txBody>
                  <a:tcPr marT="36576" marB="36576">
                    <a:solidFill>
                      <a:srgbClr val="142B4D"/>
                    </a:solidFill>
                  </a:tcPr>
                </a:tc>
                <a:tc>
                  <a:txBody>
                    <a:bodyPr wrap="square"/>
                    <a:lstStyle/>
                    <a:p>
                      <a:pPr>
                        <a:spcAft>
                          <a:spcPts val="0"/>
                        </a:spcAft>
                      </a:pPr>
                      <a:r>
                        <a:rPr sz="1100" b="1">
                          <a:solidFill>
                            <a:srgbClr val="FFFFFF"/>
                          </a:solidFill>
                          <a:latin typeface="Calibri"/>
                        </a:rPr>
                        <a:t>Result</a:t>
                      </a:r>
                    </a:p>
                  </a:txBody>
                  <a:tcPr marT="36576" marB="36576">
                    <a:solidFill>
                      <a:srgbClr val="142B4D"/>
                    </a:solidFill>
                  </a:tcPr>
                </a:tc>
              </a:tr>
              <a:tr h="310896">
                <a:tc>
                  <a:txBody>
                    <a:bodyPr wrap="square"/>
                    <a:lstStyle/>
                    <a:p>
                      <a:pPr>
                        <a:spcAft>
                          <a:spcPts val="0"/>
                        </a:spcAft>
                      </a:pPr>
                      <a:r>
                        <a:rPr sz="11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100" b="0">
                          <a:solidFill>
                            <a:srgbClr val="222B38"/>
                          </a:solidFill>
                          <a:latin typeface="Calibri"/>
                        </a:rPr>
                        <a:t>98 passed</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100" b="0">
                          <a:solidFill>
                            <a:srgbClr val="222B38"/>
                          </a:solidFill>
                          <a:latin typeface="Calibri"/>
                        </a:rPr>
                        <a:t>20 / 20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100" b="0">
                          <a:solidFill>
                            <a:srgbClr val="222B38"/>
                          </a:solidFill>
                          <a:latin typeface="Calibri"/>
                        </a:rPr>
                        <a:t>20 / 20</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100" b="0">
                          <a:solidFill>
                            <a:srgbClr val="222B38"/>
                          </a:solidFill>
                          <a:latin typeface="Calibri"/>
                        </a:rPr>
                        <a:t>1.000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M8 components (4 x 5 items)</a:t>
                      </a:r>
                    </a:p>
                  </a:txBody>
                  <a:tcPr marT="36576" marB="36576">
                    <a:solidFill>
                      <a:srgbClr val="EEF3F8"/>
                    </a:solidFill>
                  </a:tcPr>
                </a:tc>
                <a:tc>
                  <a:txBody>
                    <a:bodyPr wrap="square"/>
                    <a:lstStyle/>
                    <a:p>
                      <a:pPr>
                        <a:spcAft>
                          <a:spcPts val="0"/>
                        </a:spcAft>
                      </a:pPr>
                      <a:r>
                        <a:rPr sz="1100" b="0">
                          <a:solidFill>
                            <a:srgbClr val="222B38"/>
                          </a:solidFill>
                          <a:latin typeface="Calibri"/>
                        </a:rPr>
                        <a:t>1.0 / judge 0.64</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100" b="0">
                          <a:solidFill>
                            <a:srgbClr val="222B38"/>
                          </a:solidFill>
                          <a:latin typeface="Calibri"/>
                        </a:rPr>
                        <a:t>0.82</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1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F8B8D"/>
                </a:solidFill>
                <a:latin typeface="Calibri"/>
              </a:rPr>
              <a:t>FOUND BY RUNNING IT, THEN FIXED</a:t>
            </a:r>
          </a:p>
        </p:txBody>
      </p:sp>
      <p:sp>
        <p:nvSpPr>
          <p:cNvPr id="9" name="TextBox 8"/>
          <p:cNvSpPr txBox="1"/>
          <p:nvPr/>
        </p:nvSpPr>
        <p:spPr>
          <a:xfrm>
            <a:off x="4983480" y="1600200"/>
            <a:ext cx="3383280" cy="1828800"/>
          </a:xfrm>
          <a:prstGeom prst="rect">
            <a:avLst/>
          </a:prstGeom>
          <a:noFill/>
        </p:spPr>
        <p:txBody>
          <a:bodyPr wrap="square" lIns="45720" rIns="45720">
            <a:spAutoFit/>
          </a:bodyPr>
          <a:lstStyle/>
          <a:p>
            <a:pPr>
              <a:spcAft>
                <a:spcPts val="300"/>
              </a:spcAft>
            </a:pPr>
            <a:r>
              <a:rPr sz="1100" b="0">
                <a:solidFill>
                  <a:srgbClr val="222B38"/>
                </a:solidFill>
                <a:latin typeface="Calibri"/>
              </a:rPr>
              <a:t>•  Hash 'embeddings': Gemini + BM25 (recall@3 1.0)</a:t>
            </a:r>
          </a:p>
          <a:p>
            <a:pPr>
              <a:spcAft>
                <a:spcPts val="300"/>
              </a:spcAft>
            </a:pPr>
            <a:r>
              <a:rPr sz="1100" b="0">
                <a:solidFill>
                  <a:srgbClr val="222B38"/>
                </a:solidFill>
                <a:latin typeface="Calibri"/>
              </a:rPr>
              <a:t>•  Wrong category's window: category filter (22 to 24 of 24)</a:t>
            </a:r>
          </a:p>
          <a:p>
            <a:pPr>
              <a:spcAft>
                <a:spcPts val="300"/>
              </a:spcAft>
            </a:pPr>
            <a:r>
              <a:rPr sz="1100" b="0">
                <a:solidFill>
                  <a:srgbClr val="222B38"/>
                </a:solidFill>
                <a:latin typeface="Calibri"/>
              </a:rPr>
              <a:t>•  Hinglish injection missed: regex screen</a:t>
            </a:r>
          </a:p>
          <a:p>
            <a:pPr>
              <a:spcAft>
                <a:spcPts val="300"/>
              </a:spcAft>
            </a:pPr>
            <a:r>
              <a:rPr sz="1100" b="0">
                <a:solidFill>
                  <a:srgbClr val="222B38"/>
                </a:solidFill>
                <a:latin typeface="Calibri"/>
              </a:rPr>
              <a:t>•  Refund could run before the reviewer: reviewer now first</a:t>
            </a:r>
          </a:p>
        </p:txBody>
      </p:sp>
      <p:sp>
        <p:nvSpPr>
          <p:cNvPr id="10" name="TextBox 9"/>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C0392B"/>
                </a:solidFill>
                <a:latin typeface="Calibri"/>
              </a:rPr>
              <a:t>NOT COVERED</a:t>
            </a:r>
          </a:p>
        </p:txBody>
      </p:sp>
      <p:sp>
        <p:nvSpPr>
          <p:cNvPr id="11" name="TextBox 10"/>
          <p:cNvSpPr txBox="1"/>
          <p:nvPr/>
        </p:nvSpPr>
        <p:spPr>
          <a:xfrm>
            <a:off x="8549640" y="1600200"/>
            <a:ext cx="3108960" cy="2194560"/>
          </a:xfrm>
          <a:prstGeom prst="rect">
            <a:avLst/>
          </a:prstGeom>
          <a:noFill/>
        </p:spPr>
        <p:txBody>
          <a:bodyPr wrap="square" lIns="45720" rIns="45720">
            <a:spAutoFit/>
          </a:bodyPr>
          <a:lstStyle/>
          <a:p>
            <a:pPr>
              <a:spcAft>
                <a:spcPts val="300"/>
              </a:spcAft>
            </a:pPr>
            <a:r>
              <a:rPr sz="1100" b="0">
                <a:solidFill>
                  <a:srgbClr val="222B38"/>
                </a:solidFill>
                <a:latin typeface="Calibri"/>
              </a:rPr>
              <a:t>•  No PII redaction in traces; no auth on /chat</a:t>
            </a:r>
          </a:p>
          <a:p>
            <a:pPr>
              <a:spcAft>
                <a:spcPts val="300"/>
              </a:spcAft>
            </a:pPr>
            <a:r>
              <a:rPr sz="1100" b="0">
                <a:solidFill>
                  <a:srgbClr val="222B38"/>
                </a:solidFill>
                <a:latin typeface="Calibri"/>
              </a:rPr>
              <a:t>•  Injection regex can be evaded</a:t>
            </a:r>
          </a:p>
          <a:p>
            <a:pPr>
              <a:spcAft>
                <a:spcPts val="300"/>
              </a:spcAft>
            </a:pPr>
            <a:r>
              <a:rPr sz="1100" b="0">
                <a:solidFill>
                  <a:srgbClr val="222B38"/>
                </a:solidFill>
                <a:latin typeface="Calibri"/>
              </a:rPr>
              <a:t>•  Small corpus: retrieval numbers optimistic</a:t>
            </a:r>
          </a:p>
          <a:p>
            <a:pPr>
              <a:spcAft>
                <a:spcPts val="300"/>
              </a:spcAft>
            </a:pPr>
            <a:r>
              <a:rPr sz="1100" b="0">
                <a:solidFill>
                  <a:srgbClr val="222B38"/>
                </a:solidFill>
                <a:latin typeface="Calibri"/>
              </a:rPr>
              <a:t>•  Supervisor has a menu, not the lab's free star</a:t>
            </a:r>
          </a:p>
          <a:p>
            <a:pPr>
              <a:spcAft>
                <a:spcPts val="300"/>
              </a:spcAft>
            </a:pPr>
            <a:r>
              <a:rPr sz="1100" b="0">
                <a:solidFill>
                  <a:srgbClr val="222B38"/>
                </a:solidFill>
                <a:latin typeface="Calibri"/>
              </a:rPr>
              <a:t>•  Docker image written, not built</a:t>
            </a:r>
          </a:p>
        </p:txBody>
      </p:sp>
      <p:sp>
        <p:nvSpPr>
          <p:cNvPr id="12" name="Rounded Rectangle 11"/>
          <p:cNvSpPr/>
          <p:nvPr/>
        </p:nvSpPr>
        <p:spPr>
          <a:xfrm>
            <a:off x="4983480" y="2926080"/>
            <a:ext cx="6675120" cy="9601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2944368"/>
            <a:ext cx="6492240" cy="914400"/>
          </a:xfrm>
          <a:prstGeom prst="rect">
            <a:avLst/>
          </a:prstGeom>
          <a:noFill/>
        </p:spPr>
        <p:txBody>
          <a:bodyPr wrap="square" lIns="45720" rIns="45720">
            <a:spAutoFit/>
          </a:bodyPr>
          <a:lstStyle/>
          <a:p>
            <a:pPr>
              <a:spcAft>
                <a:spcPts val="100"/>
              </a:spcAft>
            </a:pPr>
            <a:r>
              <a:rPr sz="1000" b="1">
                <a:solidFill>
                  <a:srgbClr val="0F8B8D"/>
                </a:solidFill>
                <a:latin typeface="Calibri"/>
              </a:rPr>
              <a:t>M8 package, checked against its lab</a:t>
            </a:r>
          </a:p>
          <a:p>
            <a:pPr>
              <a:spcAft>
                <a:spcPts val="100"/>
              </a:spcAft>
            </a:pPr>
            <a:r>
              <a:rPr sz="1000" b="0">
                <a:solidFill>
                  <a:srgbClr val="222B38"/>
                </a:solidFill>
                <a:latin typeface="Calibri"/>
              </a:rPr>
              <a:t>FastAPI /chat and /health, Dockerfile, Postman run for A, B, C on localhost. Blocked ticket: 200 + human review; bad input: 422.</a:t>
            </a:r>
          </a:p>
          <a:p>
            <a:pPr>
              <a:spcAft>
                <a:spcPts val="100"/>
              </a:spcAft>
            </a:pPr>
            <a:r>
              <a:rPr sz="1000" b="0">
                <a:solidFill>
                  <a:srgbClr val="222B38"/>
                </a:solidFill>
                <a:latin typeface="Calibri"/>
              </a:rPr>
              <a:t>Judge found weak retrieval the keyword check missed (product safety, double charge): context relevance 0.64.</a:t>
            </a:r>
          </a:p>
        </p:txBody>
      </p:sp>
      <p:graphicFrame>
        <p:nvGraphicFramePr>
          <p:cNvPr id="14" name="Table 13"/>
          <p:cNvGraphicFramePr>
            <a:graphicFrameLocks noGrp="1"/>
          </p:cNvGraphicFramePr>
          <p:nvPr/>
        </p:nvGraphicFramePr>
        <p:xfrm>
          <a:off x="548640" y="3977639"/>
          <a:ext cx="11109960" cy="1371600"/>
        </p:xfrm>
        <a:graphic>
          <a:graphicData uri="http://schemas.openxmlformats.org/drawingml/2006/table">
            <a:tbl>
              <a:tblPr firstRow="1" bandRow="1">
                <a:tableStyleId>{5C22544A-7EE6-4342-B048-85BDC9FD1C3A}</a:tableStyleId>
              </a:tblPr>
              <a:tblGrid>
                <a:gridCol w="1645920"/>
                <a:gridCol w="5120640"/>
                <a:gridCol w="4343400"/>
              </a:tblGrid>
              <a:tr h="274320">
                <a:tc>
                  <a:txBody>
                    <a:bodyPr wrap="square"/>
                    <a:lstStyle/>
                    <a:p>
                      <a:pPr>
                        <a:spcAft>
                          <a:spcPts val="0"/>
                        </a:spcAft>
                      </a:pPr>
                      <a:r>
                        <a:rPr sz="1050" b="1">
                          <a:solidFill>
                            <a:srgbClr val="FFFFFF"/>
                          </a:solidFill>
                          <a:latin typeface="Calibri"/>
                        </a:rPr>
                        <a:t>Demo step</a:t>
                      </a:r>
                    </a:p>
                  </a:txBody>
                  <a:tcPr marT="36576" marB="36576">
                    <a:solidFill>
                      <a:srgbClr val="142B4D"/>
                    </a:solidFill>
                  </a:tcPr>
                </a:tc>
                <a:tc>
                  <a:txBody>
                    <a:bodyPr wrap="square"/>
                    <a:lstStyle/>
                    <a:p>
                      <a:pPr>
                        <a:spcAft>
                          <a:spcPts val="0"/>
                        </a:spcAft>
                      </a:pPr>
                      <a:r>
                        <a:rPr sz="1050" b="1">
                          <a:solidFill>
                            <a:srgbClr val="FFFFFF"/>
                          </a:solidFill>
                          <a:latin typeface="Calibri"/>
                        </a:rPr>
                        <a:t>Command</a:t>
                      </a:r>
                    </a:p>
                  </a:txBody>
                  <a:tcPr marT="36576" marB="36576">
                    <a:solidFill>
                      <a:srgbClr val="142B4D"/>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1  Tests</a:t>
                      </a:r>
                    </a:p>
                  </a:txBody>
                  <a:tcPr marT="36576" marB="36576">
                    <a:solidFill>
                      <a:srgbClr val="EEF3F8"/>
                    </a:solidFill>
                  </a:tcPr>
                </a:tc>
                <a:tc>
                  <a:txBody>
                    <a:bodyPr wrap="square"/>
                    <a:lstStyle/>
                    <a:p>
                      <a:pPr>
                        <a:spcAft>
                          <a:spcPts val="0"/>
                        </a:spcAft>
                      </a:pPr>
                      <a:r>
                        <a:rPr sz="105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050" b="0">
                          <a:solidFill>
                            <a:srgbClr val="222B38"/>
                          </a:solidFill>
                          <a:latin typeface="Calibri"/>
                        </a:rPr>
                        <a:t>98 passed</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2  Milestones</a:t>
                      </a:r>
                    </a:p>
                  </a:txBody>
                  <a:tcPr marT="36576" marB="36576">
                    <a:solidFill>
                      <a:srgbClr val="FFFFFF"/>
                    </a:solidFill>
                  </a:tcPr>
                </a:tc>
                <a:tc>
                  <a:txBody>
                    <a:bodyPr wrap="square"/>
                    <a:lstStyle/>
                    <a:p>
                      <a:pPr>
                        <a:spcAft>
                          <a:spcPts val="0"/>
                        </a:spcAft>
                      </a:pPr>
                      <a:r>
                        <a:rPr sz="105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050" b="0">
                          <a:solidFill>
                            <a:srgbClr val="222B38"/>
                          </a:solidFill>
                          <a:latin typeface="Calibri"/>
                        </a:rPr>
                        <a:t>M1 to M8 on live LLM, Qdrant Cloud, LangFuse</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3  Golden eval</a:t>
                      </a:r>
                    </a:p>
                  </a:txBody>
                  <a:tcPr marT="36576" marB="36576">
                    <a:solidFill>
                      <a:srgbClr val="EEF3F8"/>
                    </a:solidFill>
                  </a:tcPr>
                </a:tc>
                <a:tc>
                  <a:txBody>
                    <a:bodyPr wrap="square"/>
                    <a:lstStyle/>
                    <a:p>
                      <a:pPr>
                        <a:spcAft>
                          <a:spcPts val="0"/>
                        </a:spcAft>
                      </a:pPr>
                      <a:r>
                        <a:rPr sz="105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050" b="0">
                          <a:solidFill>
                            <a:srgbClr val="222B38"/>
                          </a:solidFill>
                          <a:latin typeface="Calibri"/>
                        </a:rPr>
                        <a:t>20 of 20 + run_m8_component_eval --judge scores</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4  API</a:t>
                      </a:r>
                    </a:p>
                  </a:txBody>
                  <a:tcPr marT="36576" marB="36576">
                    <a:solidFill>
                      <a:srgbClr val="FFFFFF"/>
                    </a:solidFill>
                  </a:tcPr>
                </a:tc>
                <a:tc>
                  <a:txBody>
                    <a:bodyPr wrap="square"/>
                    <a:lstStyle/>
                    <a:p>
                      <a:pPr>
                        <a:spcAft>
                          <a:spcPts val="0"/>
                        </a:spcAft>
                      </a:pPr>
                      <a:r>
                        <a:rPr sz="1050" b="0">
                          <a:solidFill>
                            <a:srgbClr val="222B38"/>
                          </a:solidFill>
                          <a:latin typeface="Calibri"/>
                        </a:rPr>
                        <a:t>uvicorn capstone.api:app, then the Postman collection</a:t>
                      </a:r>
                    </a:p>
                  </a:txBody>
                  <a:tcPr marT="36576" marB="36576">
                    <a:solidFill>
                      <a:srgbClr val="FFFFFF"/>
                    </a:solidFill>
                  </a:tcPr>
                </a:tc>
                <a:tc>
                  <a:txBody>
                    <a:bodyPr wrap="square"/>
                    <a:lstStyle/>
                    <a:p>
                      <a:pPr>
                        <a:spcAft>
                          <a:spcPts val="0"/>
                        </a:spcAft>
                      </a:pPr>
                      <a:r>
                        <a:rPr sz="1050" b="0">
                          <a:solidFill>
                            <a:srgbClr val="222B38"/>
                          </a:solidFill>
                          <a:latin typeface="Calibri"/>
                        </a:rPr>
                        <a:t>/chat for tickets A, B, C; empty text gives 422</a:t>
                      </a:r>
                    </a:p>
                  </a:txBody>
                  <a:tcPr marT="36576" marB="36576">
                    <a:solidFill>
                      <a:srgbClr val="FFFFFF"/>
                    </a:solidFill>
                  </a:tcPr>
                </a:tc>
              </a:tr>
            </a:tbl>
          </a:graphicData>
        </a:graphic>
      </p:graphicFrame>
      <p:sp>
        <p:nvSpPr>
          <p:cNvPr id="15" name="Rounded Rectangle 14"/>
          <p:cNvSpPr/>
          <p:nvPr/>
        </p:nvSpPr>
        <p:spPr>
          <a:xfrm>
            <a:off x="548640" y="5486400"/>
            <a:ext cx="11109960" cy="8686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513832"/>
            <a:ext cx="10789920" cy="822960"/>
          </a:xfrm>
          <a:prstGeom prst="rect">
            <a:avLst/>
          </a:prstGeom>
          <a:noFill/>
        </p:spPr>
        <p:txBody>
          <a:bodyPr wrap="square" lIns="45720" rIns="45720">
            <a:spAutoFit/>
          </a:bodyPr>
          <a:lstStyle/>
          <a:p>
            <a:pPr>
              <a:spcAft>
                <a:spcPts val="300"/>
              </a:spcAft>
            </a:pPr>
            <a:r>
              <a:rPr sz="1400" b="1">
                <a:solidFill>
                  <a:srgbClr val="FFFFFF"/>
                </a:solidFill>
                <a:latin typeface="Calibri"/>
              </a:rPr>
              <a:t>Let the model read, let code decide. A fooled model still cannot move money.</a:t>
            </a:r>
          </a:p>
          <a:p>
            <a:pPr>
              <a:spcAft>
                <a:spcPts val="300"/>
              </a:spcAft>
            </a:pPr>
            <a:r>
              <a:rPr sz="1200" b="1">
                <a:solidFill>
                  <a:srgbClr val="FFFFFF"/>
                </a:solidFill>
                <a:latin typeface="Calibri"/>
              </a:rPr>
              <a:t>Measure, then fix. Every claim is runnable: 98 tests, 40 golden items.   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