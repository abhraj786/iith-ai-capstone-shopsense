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chips under it wrap everything: LangGraph pause and resume, the supervised team, tracing, and the API with evaluation.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(tickets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931920"/>
            <a:ext cx="1005840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7" name="TextBox 6"/>
          <p:cNvSpPr txBox="1"/>
          <p:nvPr/>
        </p:nvSpPr>
        <p:spPr>
          <a:xfrm>
            <a:off x="1005840" y="4434840"/>
            <a:ext cx="10058400" cy="457200"/>
          </a:xfrm>
          <a:prstGeom prst="rect">
            <a:avLst/>
          </a:prstGeom>
          <a:noFill/>
        </p:spPr>
        <p:txBody>
          <a:bodyPr wrap="square" lIns="45720" rIns="45720">
            <a:spAutoFit/>
          </a:bodyPr>
          <a:lstStyle/>
          <a:p>
            <a:pPr>
              <a:spcAft>
                <a:spcPts val="600"/>
              </a:spcAft>
            </a:pPr>
            <a:r>
              <a:rPr sz="1800" b="0">
                <a:solidFill>
                  <a:srgbClr val="B8C7DA"/>
                </a:solidFill>
                <a:latin typeface="Calibri"/>
              </a:rPr>
              <a:t>Lead Member of Technical Staff, Salesforce</a:t>
            </a:r>
          </a:p>
        </p:txBody>
      </p:sp>
      <p:sp>
        <p:nvSpPr>
          <p:cNvPr id="8" name="TextBox 7"/>
          <p:cNvSpPr txBox="1"/>
          <p:nvPr/>
        </p:nvSpPr>
        <p:spPr>
          <a:xfrm>
            <a:off x="1005840" y="512064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hlinkClick r:id="rId2"/>
              </a:rPr>
              <a:t>Github Link: github.com/abhraj786/iith-ai-capstone-shopsense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600200"/>
            <a:ext cx="1371600" cy="11430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103120" y="1600200"/>
            <a:ext cx="1371600" cy="1143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9" name="Connector 8"/>
          <p:cNvCxnSpPr/>
          <p:nvPr/>
        </p:nvCxnSpPr>
        <p:spPr>
          <a:xfrm>
            <a:off x="1828799" y="2171700"/>
            <a:ext cx="27432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49039" y="1600200"/>
            <a:ext cx="1371600" cy="1143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1" name="Connector 10"/>
          <p:cNvCxnSpPr/>
          <p:nvPr/>
        </p:nvCxnSpPr>
        <p:spPr>
          <a:xfrm>
            <a:off x="3474720" y="2171700"/>
            <a:ext cx="27431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394960" y="1600200"/>
            <a:ext cx="1371600" cy="1143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3" name="Connector 12"/>
          <p:cNvCxnSpPr/>
          <p:nvPr/>
        </p:nvCxnSpPr>
        <p:spPr>
          <a:xfrm>
            <a:off x="5120640" y="2171700"/>
            <a:ext cx="274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040880" y="1600200"/>
            <a:ext cx="1371600" cy="11430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5" name="Connector 14"/>
          <p:cNvCxnSpPr/>
          <p:nvPr/>
        </p:nvCxnSpPr>
        <p:spPr>
          <a:xfrm>
            <a:off x="6766560" y="2171700"/>
            <a:ext cx="274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686800" y="1600200"/>
            <a:ext cx="1371600" cy="114300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7" name="Connector 16"/>
          <p:cNvCxnSpPr/>
          <p:nvPr/>
        </p:nvCxnSpPr>
        <p:spPr>
          <a:xfrm>
            <a:off x="8412480" y="2171700"/>
            <a:ext cx="274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0332720" y="1325880"/>
            <a:ext cx="13716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9" name="Rounded Rectangle 18"/>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0" name="Connector 19"/>
          <p:cNvCxnSpPr/>
          <p:nvPr/>
        </p:nvCxnSpPr>
        <p:spPr>
          <a:xfrm flipV="1">
            <a:off x="10058400" y="1783080"/>
            <a:ext cx="274320" cy="2286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058400" y="2331720"/>
            <a:ext cx="274320" cy="5029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WRAPPED AROUND THE WHOLE PIPELINE</a:t>
            </a:r>
          </a:p>
        </p:txBody>
      </p:sp>
      <p:sp>
        <p:nvSpPr>
          <p:cNvPr id="23" name="Rounded Rectangle 22"/>
          <p:cNvSpPr/>
          <p:nvPr/>
        </p:nvSpPr>
        <p:spPr>
          <a:xfrm>
            <a:off x="457200" y="3456432"/>
            <a:ext cx="2674620" cy="5486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474720"/>
            <a:ext cx="2514600" cy="512064"/>
          </a:xfrm>
          <a:prstGeom prst="rect">
            <a:avLst/>
          </a:prstGeom>
          <a:noFill/>
        </p:spPr>
        <p:txBody>
          <a:bodyPr wrap="square" lIns="45720" rIns="45720">
            <a:spAutoFit/>
          </a:bodyPr>
          <a:lstStyle/>
          <a:p>
            <a:pPr>
              <a:spcAft>
                <a:spcPts val="0"/>
              </a:spcAft>
            </a:pPr>
            <a:r>
              <a:rPr sz="1200" b="1">
                <a:solidFill>
                  <a:srgbClr val="142B4D"/>
                </a:solidFill>
                <a:latin typeface="Calibri"/>
              </a:rPr>
              <a:t>M5 LangGraph</a:t>
            </a:r>
          </a:p>
          <a:p>
            <a:pPr>
              <a:spcAft>
                <a:spcPts val="0"/>
              </a:spcAft>
            </a:pPr>
            <a:r>
              <a:rPr sz="1000" b="0">
                <a:solidFill>
                  <a:srgbClr val="5F6B7A"/>
                </a:solidFill>
                <a:latin typeface="Calibri"/>
              </a:rPr>
              <a:t>human interrupt, resume</a:t>
            </a:r>
          </a:p>
        </p:txBody>
      </p:sp>
      <p:sp>
        <p:nvSpPr>
          <p:cNvPr id="25" name="Rounded Rectangle 24"/>
          <p:cNvSpPr/>
          <p:nvPr/>
        </p:nvSpPr>
        <p:spPr>
          <a:xfrm>
            <a:off x="3314700" y="3456432"/>
            <a:ext cx="2674620" cy="5486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06140" y="3474720"/>
            <a:ext cx="2514600" cy="512064"/>
          </a:xfrm>
          <a:prstGeom prst="rect">
            <a:avLst/>
          </a:prstGeom>
          <a:noFill/>
        </p:spPr>
        <p:txBody>
          <a:bodyPr wrap="square" lIns="45720" rIns="45720">
            <a:spAutoFit/>
          </a:bodyPr>
          <a:lstStyle/>
          <a:p>
            <a:pPr>
              <a:spcAft>
                <a:spcPts val="0"/>
              </a:spcAft>
            </a:pPr>
            <a:r>
              <a:rPr sz="1200" b="1">
                <a:solidFill>
                  <a:srgbClr val="142B4D"/>
                </a:solidFill>
                <a:latin typeface="Calibri"/>
              </a:rPr>
              <a:t>M6 supervised team</a:t>
            </a:r>
          </a:p>
          <a:p>
            <a:pPr>
              <a:spcAft>
                <a:spcPts val="0"/>
              </a:spcAft>
            </a:pPr>
            <a:r>
              <a:rPr sz="1000" b="0">
                <a:solidFill>
                  <a:srgbClr val="5F6B7A"/>
                </a:solidFill>
                <a:latin typeface="Calibri"/>
              </a:rPr>
              <a:t>route, review, revise</a:t>
            </a:r>
          </a:p>
        </p:txBody>
      </p:sp>
      <p:sp>
        <p:nvSpPr>
          <p:cNvPr id="27" name="Rounded Rectangle 26"/>
          <p:cNvSpPr/>
          <p:nvPr/>
        </p:nvSpPr>
        <p:spPr>
          <a:xfrm>
            <a:off x="6172200" y="3456432"/>
            <a:ext cx="2674620" cy="5486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3474720"/>
            <a:ext cx="2514600" cy="512064"/>
          </a:xfrm>
          <a:prstGeom prst="rect">
            <a:avLst/>
          </a:prstGeom>
          <a:noFill/>
        </p:spPr>
        <p:txBody>
          <a:bodyPr wrap="square" lIns="45720" rIns="45720">
            <a:spAutoFit/>
          </a:bodyPr>
          <a:lstStyle/>
          <a:p>
            <a:pPr>
              <a:spcAft>
                <a:spcPts val="0"/>
              </a:spcAft>
            </a:pPr>
            <a:r>
              <a:rPr sz="1200" b="1">
                <a:solidFill>
                  <a:srgbClr val="142B4D"/>
                </a:solidFill>
                <a:latin typeface="Calibri"/>
              </a:rPr>
              <a:t>M7 tracing + fallback</a:t>
            </a:r>
          </a:p>
          <a:p>
            <a:pPr>
              <a:spcAft>
                <a:spcPts val="0"/>
              </a:spcAft>
            </a:pPr>
            <a:r>
              <a:rPr sz="1000" b="0">
                <a:solidFill>
                  <a:srgbClr val="5F6B7A"/>
                </a:solidFill>
                <a:latin typeface="Calibri"/>
              </a:rPr>
              <a:t>Langfuse, retries, breaker</a:t>
            </a:r>
          </a:p>
        </p:txBody>
      </p:sp>
      <p:sp>
        <p:nvSpPr>
          <p:cNvPr id="29" name="Rounded Rectangle 28"/>
          <p:cNvSpPr/>
          <p:nvPr/>
        </p:nvSpPr>
        <p:spPr>
          <a:xfrm>
            <a:off x="9029700" y="3456432"/>
            <a:ext cx="2674620" cy="5486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21140" y="3474720"/>
            <a:ext cx="2514600" cy="512064"/>
          </a:xfrm>
          <a:prstGeom prst="rect">
            <a:avLst/>
          </a:prstGeom>
          <a:noFill/>
        </p:spPr>
        <p:txBody>
          <a:bodyPr wrap="square" lIns="45720" rIns="45720">
            <a:spAutoFit/>
          </a:bodyPr>
          <a:lstStyle/>
          <a:p>
            <a:pPr>
              <a:spcAft>
                <a:spcPts val="0"/>
              </a:spcAft>
            </a:pPr>
            <a:r>
              <a:rPr sz="1200" b="1">
                <a:solidFill>
                  <a:srgbClr val="142B4D"/>
                </a:solidFill>
                <a:latin typeface="Calibri"/>
              </a:rPr>
              <a:t>M8 /chat + golden eval</a:t>
            </a:r>
          </a:p>
          <a:p>
            <a:pPr>
              <a:spcAft>
                <a:spcPts val="0"/>
              </a:spcAft>
            </a:pPr>
            <a:r>
              <a:rPr sz="1000" b="0">
                <a:solidFill>
                  <a:srgbClr val="5F6B7A"/>
                </a:solidFill>
                <a:latin typeface="Calibri"/>
              </a:rPr>
              <a:t>guardrails, judge, Docker</a:t>
            </a:r>
          </a:p>
        </p:txBody>
      </p:sp>
      <p:sp>
        <p:nvSpPr>
          <p:cNvPr id="31" name="TextBox 30"/>
          <p:cNvSpPr txBox="1"/>
          <p:nvPr/>
        </p:nvSpPr>
        <p:spPr>
          <a:xfrm>
            <a:off x="457200" y="4206240"/>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SAME CODE FOR ALL  (bar colour = where the ticket ends up)</a:t>
            </a:r>
          </a:p>
        </p:txBody>
      </p:sp>
      <p:graphicFrame>
        <p:nvGraphicFramePr>
          <p:cNvPr id="32" name="Table 31"/>
          <p:cNvGraphicFramePr>
            <a:graphicFrameLocks noGrp="1"/>
          </p:cNvGraphicFramePr>
          <p:nvPr/>
        </p:nvGraphicFramePr>
        <p:xfrm>
          <a:off x="548640" y="4526280"/>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Ticket</a:t>
                      </a:r>
                    </a:p>
                  </a:txBody>
                  <a:tcPr marT="36576" marB="36576">
                    <a:solidFill>
                      <a:srgbClr val="142B4D"/>
                    </a:solidFill>
                  </a:tcPr>
                </a:tc>
                <a:tc>
                  <a:txBody>
                    <a:bodyPr wrap="square"/>
                    <a:lstStyle/>
                    <a:p>
                      <a:pPr>
                        <a:spcAft>
                          <a:spcPts val="0"/>
                        </a:spcAft>
                      </a:pPr>
                      <a:r>
                        <a:rPr sz="1050" b="1">
                          <a:solidFill>
                            <a:srgbClr val="FFFFFF"/>
                          </a:solidFill>
                          <a:latin typeface="Calibri"/>
                        </a:rPr>
                        <a:t>M1 reads</a:t>
                      </a:r>
                    </a:p>
                  </a:txBody>
                  <a:tcPr marT="36576" marB="36576">
                    <a:solidFill>
                      <a:srgbClr val="142B4D"/>
                    </a:solidFill>
                  </a:tcPr>
                </a:tc>
                <a:tc>
                  <a:txBody>
                    <a:bodyPr wrap="square"/>
                    <a:lstStyle/>
                    <a:p>
                      <a:pPr>
                        <a:spcAft>
                          <a:spcPts val="0"/>
                        </a:spcAft>
                      </a:pPr>
                      <a:r>
                        <a:rPr sz="10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1050" b="1">
                          <a:solidFill>
                            <a:srgbClr val="FFFFFF"/>
                          </a:solidFill>
                          <a:latin typeface="Calibri"/>
                        </a:rPr>
                        <a:t>M5 workflow</a:t>
                      </a:r>
                    </a:p>
                  </a:txBody>
                  <a:tcPr marT="36576" marB="36576">
                    <a:solidFill>
                      <a:srgbClr val="142B4D"/>
                    </a:solidFill>
                  </a:tcPr>
                </a:tc>
                <a:tc>
                  <a:txBody>
                    <a:bodyPr wrap="square"/>
                    <a:lstStyle/>
                    <a:p>
                      <a:pPr>
                        <a:spcAft>
                          <a:spcPts val="0"/>
                        </a:spcAft>
                      </a:pPr>
                      <a:r>
                        <a:rPr sz="1050" b="1">
                          <a:solidFill>
                            <a:srgbClr val="FFFFFF"/>
                          </a:solidFill>
                          <a:latin typeface="Calibri"/>
                        </a:rPr>
                        <a:t>M6 route</a:t>
                      </a:r>
                    </a:p>
                  </a:txBody>
                  <a:tcPr marT="36576" marB="36576">
                    <a:solidFill>
                      <a:srgbClr val="142B4D"/>
                    </a:solidFill>
                  </a:tcPr>
                </a:tc>
              </a:tr>
              <a:tr h="329184">
                <a:tc>
                  <a:txBody>
                    <a:bodyPr wrap="square"/>
                    <a:lstStyle/>
                    <a:p>
                      <a:pPr>
                        <a:spcAft>
                          <a:spcPts val="0"/>
                        </a:spcAft>
                      </a:pPr>
                      <a:r>
                        <a:rPr sz="1050" b="0">
                          <a:solidFill>
                            <a:srgbClr val="222B38"/>
                          </a:solidFill>
                          <a:latin typeface="Calibri"/>
                        </a:rPr>
                        <a:t>A  Hostile, Rs 12,999 (KW-O-000000)</a:t>
                      </a:r>
                    </a:p>
                  </a:txBody>
                  <a:tcPr marT="36576" marB="36576">
                    <a:solidFill>
                      <a:srgbClr val="EEF3F8"/>
                    </a:solidFill>
                  </a:tcPr>
                </a:tc>
                <a:tc>
                  <a:txBody>
                    <a:bodyPr wrap="square"/>
                    <a:lstStyle/>
                    <a:p>
                      <a:pPr>
                        <a:spcAft>
                          <a:spcPts val="0"/>
                        </a:spcAft>
                      </a:pPr>
                      <a:r>
                        <a:rPr sz="10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10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10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1050" b="0">
                          <a:solidFill>
                            <a:srgbClr val="222B38"/>
                          </a:solidFill>
                          <a:latin typeface="Calibri"/>
                        </a:rPr>
                        <a:t>full, then human</a:t>
                      </a:r>
                    </a:p>
                  </a:txBody>
                  <a:tcPr marT="36576" marB="36576">
                    <a:solidFill>
                      <a:srgbClr val="EEF3F8"/>
                    </a:solidFill>
                  </a:tcPr>
                </a:tc>
              </a:tr>
              <a:tr h="329184">
                <a:tc>
                  <a:txBody>
                    <a:bodyPr wrap="square"/>
                    <a:lstStyle/>
                    <a:p>
                      <a:pPr>
                        <a:spcAft>
                          <a:spcPts val="0"/>
                        </a:spcAft>
                      </a:pPr>
                      <a:r>
                        <a:rPr sz="1050" b="0">
                          <a:solidFill>
                            <a:srgbClr val="222B38"/>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222B38"/>
                          </a:solidFill>
                          <a:latin typeface="Calibri"/>
                        </a:rPr>
                        <a:t>auto-resolves</a:t>
                      </a:r>
                    </a:p>
                  </a:txBody>
                  <a:tcPr marT="36576" marB="36576">
                    <a:solidFill>
                      <a:srgbClr val="FFFFFF"/>
                    </a:solidFill>
                  </a:tcPr>
                </a:tc>
                <a:tc>
                  <a:txBody>
                    <a:bodyPr wrap="square"/>
                    <a:lstStyle/>
                    <a:p>
                      <a:pPr>
                        <a:spcAft>
                          <a:spcPts val="0"/>
                        </a:spcAft>
                      </a:pPr>
                      <a:r>
                        <a:rPr sz="1050" b="0">
                          <a:solidFill>
                            <a:srgbClr val="222B38"/>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222B38"/>
                          </a:solidFill>
                          <a:latin typeface="Calibri"/>
                        </a:rPr>
                        <a:t>C  Court threat (KW-O-000950)</a:t>
                      </a:r>
                    </a:p>
                  </a:txBody>
                  <a:tcPr marT="36576" marB="36576">
                    <a:solidFill>
                      <a:srgbClr val="EEF3F8"/>
                    </a:solidFill>
                  </a:tcPr>
                </a:tc>
                <a:tc>
                  <a:txBody>
                    <a:bodyPr wrap="square"/>
                    <a:lstStyle/>
                    <a:p>
                      <a:pPr>
                        <a:spcAft>
                          <a:spcPts val="0"/>
                        </a:spcAft>
                      </a:pPr>
                      <a:r>
                        <a:rPr sz="10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10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10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1050" b="0">
                          <a:solidFill>
                            <a:srgbClr val="222B38"/>
                          </a:solidFill>
                          <a:latin typeface="Calibri"/>
                        </a:rPr>
                        <a:t>escalate_now, human</a:t>
                      </a:r>
                    </a:p>
                  </a:txBody>
                  <a:tcPr marT="36576" marB="36576">
                    <a:solidFill>
                      <a:srgbClr val="EEF3F8"/>
                    </a:solidFill>
                  </a:tcPr>
                </a:tc>
              </a:tr>
            </a:tbl>
          </a:graphicData>
        </a:graphic>
      </p:graphicFrame>
      <p:sp>
        <p:nvSpPr>
          <p:cNvPr id="33" name="Rectangle 32"/>
          <p:cNvSpPr/>
          <p:nvPr/>
        </p:nvSpPr>
        <p:spPr>
          <a:xfrm>
            <a:off x="457200" y="48737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5202936"/>
            <a:ext cx="73152"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5532120"/>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222B38"/>
                </a:solidFill>
                <a:latin typeface="Calibri"/>
              </a:rPr>
              <a:t>Revision loop, unit-tested with a forced failure (not seen live): </a:t>
            </a:r>
          </a:p>
          <a:p>
            <a:pPr>
              <a:spcAft>
                <a:spcPts val="0"/>
              </a:spcAft>
            </a:pPr>
            <a:r>
              <a:rPr sz="1000" b="0">
                <a:solidFill>
                  <a:srgbClr val="222B38"/>
                </a:solidFill>
                <a:latin typeface="Calibri"/>
              </a:rPr>
              <a:t>torn-shirt replacement on KW-O-000010 with no policy evidence is sent back for a wider search, then accepted or handed to a human. 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TICKETS A, B, C</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F8B8D"/>
                </a:solidFill>
                <a:latin typeface="Calibri"/>
              </a:rPr>
              <a:t>TICKETS A, B, C IN LANGFUSE (LIVE, MCP; CLICK AN ID)</a:t>
            </a:r>
          </a:p>
        </p:txBody>
      </p:sp>
      <p:graphicFrame>
        <p:nvGraphicFramePr>
          <p:cNvPr id="34" name="Table 33"/>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142B4D"/>
                    </a:solidFill>
                  </a:tcPr>
                </a:tc>
                <a:tc>
                  <a:txBody>
                    <a:bodyPr wrap="square"/>
                    <a:lstStyle/>
                    <a:p>
                      <a:pPr>
                        <a:spcAft>
                          <a:spcPts val="0"/>
                        </a:spcAft>
                      </a:pPr>
                      <a:r>
                        <a:rPr sz="900" b="1">
                          <a:solidFill>
                            <a:srgbClr val="FFFFFF"/>
                          </a:solidFill>
                          <a:latin typeface="Calibri"/>
                        </a:rPr>
                        <a:t>Route</a:t>
                      </a:r>
                    </a:p>
                  </a:txBody>
                  <a:tcPr marT="36576" marB="36576">
                    <a:solidFill>
                      <a:srgbClr val="142B4D"/>
                    </a:solidFill>
                  </a:tcPr>
                </a:tc>
                <a:tc>
                  <a:txBody>
                    <a:bodyPr wrap="square"/>
                    <a:lstStyle/>
                    <a:p>
                      <a:pPr>
                        <a:spcAft>
                          <a:spcPts val="0"/>
                        </a:spcAft>
                      </a:pPr>
                      <a:r>
                        <a:rPr sz="900" b="1">
                          <a:solidFill>
                            <a:srgbClr val="FFFFFF"/>
                          </a:solidFill>
                          <a:latin typeface="Calibri"/>
                        </a:rPr>
                        <a:t>Spans</a:t>
                      </a:r>
                    </a:p>
                  </a:txBody>
                  <a:tcPr marT="36576" marB="36576">
                    <a:solidFill>
                      <a:srgbClr val="142B4D"/>
                    </a:solidFill>
                  </a:tcPr>
                </a:tc>
                <a:tc>
                  <a:txBody>
                    <a:bodyPr wrap="square"/>
                    <a:lstStyle/>
                    <a:p>
                      <a:pPr>
                        <a:spcAft>
                          <a:spcPts val="0"/>
                        </a:spcAft>
                      </a:pPr>
                      <a:r>
                        <a:rPr sz="900" b="1">
                          <a:solidFill>
                            <a:srgbClr val="FFFFFF"/>
                          </a:solidFill>
                          <a:latin typeface="Calibri"/>
                        </a:rPr>
                        <a:t>Tokens in/out</a:t>
                      </a:r>
                    </a:p>
                  </a:txBody>
                  <a:tcPr marT="36576" marB="36576">
                    <a:solidFill>
                      <a:srgbClr val="142B4D"/>
                    </a:solidFill>
                  </a:tcPr>
                </a:tc>
                <a:tc>
                  <a:txBody>
                    <a:bodyPr wrap="square"/>
                    <a:lstStyle/>
                    <a:p>
                      <a:pPr>
                        <a:spcAft>
                          <a:spcPts val="0"/>
                        </a:spcAft>
                      </a:pPr>
                      <a:r>
                        <a:rPr sz="900" b="1">
                          <a:solidFill>
                            <a:srgbClr val="FFFFFF"/>
                          </a:solidFill>
                          <a:latin typeface="Calibri"/>
                        </a:rPr>
                        <a:t>Cost</a:t>
                      </a:r>
                    </a:p>
                  </a:txBody>
                  <a:tcPr marT="36576" marB="36576">
                    <a:solidFill>
                      <a:srgbClr val="142B4D"/>
                    </a:solidFill>
                  </a:tcPr>
                </a:tc>
                <a:tc>
                  <a:txBody>
                    <a:bodyPr wrap="square"/>
                    <a:lstStyle/>
                    <a:p>
                      <a:pPr>
                        <a:spcAft>
                          <a:spcPts val="0"/>
                        </a:spcAft>
                      </a:pPr>
                      <a:r>
                        <a:rPr sz="900" b="1">
                          <a:solidFill>
                            <a:srgbClr val="FFFFFF"/>
                          </a:solidFill>
                          <a:latin typeface="Calibri"/>
                        </a:rPr>
                        <a:t>Time</a:t>
                      </a:r>
                    </a:p>
                  </a:txBody>
                  <a:tcPr marT="36576" marB="36576">
                    <a:solidFill>
                      <a:srgbClr val="142B4D"/>
                    </a:solidFill>
                  </a:tcPr>
                </a:tc>
              </a:tr>
              <a:tr h="246888">
                <a:tc>
                  <a:txBody>
                    <a:bodyPr wrap="square"/>
                    <a:lstStyle/>
                    <a:p>
                      <a:pPr>
                        <a:spcAft>
                          <a:spcPts val="0"/>
                        </a:spcAft>
                      </a:pPr>
                      <a:r>
                        <a:rPr sz="900" b="0">
                          <a:solidFill>
                            <a:srgbClr val="222B38"/>
                          </a:solidFill>
                          <a:latin typeface="Calibri"/>
                          <a:hlinkClick r:id="rId3"/>
                        </a:rPr>
                        <a:t>A  62f3393f</a:t>
                      </a:r>
                    </a:p>
                  </a:txBody>
                  <a:tcPr marT="36576" marB="36576">
                    <a:solidFill>
                      <a:srgbClr val="EEF3F8"/>
                    </a:solidFill>
                  </a:tcPr>
                </a:tc>
                <a:tc>
                  <a:txBody>
                    <a:bodyPr wrap="square"/>
                    <a:lstStyle/>
                    <a:p>
                      <a:pPr>
                        <a:spcAft>
                          <a:spcPts val="0"/>
                        </a:spcAft>
                      </a:pPr>
                      <a:r>
                        <a:rPr sz="900" b="0">
                          <a:solidFill>
                            <a:srgbClr val="222B38"/>
                          </a:solidFill>
                          <a:latin typeface="Calibri"/>
                        </a:rPr>
                        <a:t>full, human</a:t>
                      </a:r>
                    </a:p>
                  </a:txBody>
                  <a:tcPr marT="36576" marB="36576">
                    <a:solidFill>
                      <a:srgbClr val="EEF3F8"/>
                    </a:solidFill>
                  </a:tcPr>
                </a:tc>
                <a:tc>
                  <a:txBody>
                    <a:bodyPr wrap="square"/>
                    <a:lstStyle/>
                    <a:p>
                      <a:pPr>
                        <a:spcAft>
                          <a:spcPts val="0"/>
                        </a:spcAft>
                      </a:pPr>
                      <a:r>
                        <a:rPr sz="900" b="0">
                          <a:solidFill>
                            <a:srgbClr val="222B38"/>
                          </a:solidFill>
                          <a:latin typeface="Calibri"/>
                        </a:rPr>
                        <a:t>9</a:t>
                      </a:r>
                    </a:p>
                  </a:txBody>
                  <a:tcPr marT="36576" marB="36576">
                    <a:solidFill>
                      <a:srgbClr val="EEF3F8"/>
                    </a:solidFill>
                  </a:tcPr>
                </a:tc>
                <a:tc>
                  <a:txBody>
                    <a:bodyPr wrap="square"/>
                    <a:lstStyle/>
                    <a:p>
                      <a:pPr>
                        <a:spcAft>
                          <a:spcPts val="0"/>
                        </a:spcAft>
                      </a:pPr>
                      <a:r>
                        <a:rPr sz="900" b="0">
                          <a:solidFill>
                            <a:srgbClr val="222B38"/>
                          </a:solidFill>
                          <a:latin typeface="Calibri"/>
                        </a:rPr>
                        <a:t>1079 / 193</a:t>
                      </a:r>
                    </a:p>
                  </a:txBody>
                  <a:tcPr marT="36576" marB="36576">
                    <a:solidFill>
                      <a:srgbClr val="EEF3F8"/>
                    </a:solidFill>
                  </a:tcPr>
                </a:tc>
                <a:tc>
                  <a:txBody>
                    <a:bodyPr wrap="square"/>
                    <a:lstStyle/>
                    <a:p>
                      <a:pPr>
                        <a:spcAft>
                          <a:spcPts val="0"/>
                        </a:spcAft>
                      </a:pPr>
                      <a:r>
                        <a:rPr sz="900" b="0">
                          <a:solidFill>
                            <a:srgbClr val="222B38"/>
                          </a:solidFill>
                          <a:latin typeface="Calibri"/>
                        </a:rPr>
                        <a:t>$0.00081</a:t>
                      </a:r>
                    </a:p>
                  </a:txBody>
                  <a:tcPr marT="36576" marB="36576">
                    <a:solidFill>
                      <a:srgbClr val="EEF3F8"/>
                    </a:solidFill>
                  </a:tcPr>
                </a:tc>
                <a:tc>
                  <a:txBody>
                    <a:bodyPr wrap="square"/>
                    <a:lstStyle/>
                    <a:p>
                      <a:pPr>
                        <a:spcAft>
                          <a:spcPts val="0"/>
                        </a:spcAft>
                      </a:pPr>
                      <a:r>
                        <a:rPr sz="900" b="0">
                          <a:solidFill>
                            <a:srgbClr val="222B38"/>
                          </a:solidFill>
                          <a:latin typeface="Calibri"/>
                        </a:rPr>
                        <a:t>7.6 s</a:t>
                      </a:r>
                    </a:p>
                  </a:txBody>
                  <a:tcPr marT="36576" marB="36576">
                    <a:solidFill>
                      <a:srgbClr val="EEF3F8"/>
                    </a:solidFill>
                  </a:tcPr>
                </a:tc>
              </a:tr>
              <a:tr h="246888">
                <a:tc>
                  <a:txBody>
                    <a:bodyPr wrap="square"/>
                    <a:lstStyle/>
                    <a:p>
                      <a:pPr>
                        <a:spcAft>
                          <a:spcPts val="0"/>
                        </a:spcAft>
                      </a:pPr>
                      <a:r>
                        <a:rPr sz="900" b="0">
                          <a:solidFill>
                            <a:srgbClr val="222B38"/>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222B38"/>
                          </a:solidFill>
                          <a:latin typeface="Calibri"/>
                        </a:rPr>
                        <a:t>fast_track</a:t>
                      </a:r>
                    </a:p>
                  </a:txBody>
                  <a:tcPr marT="36576" marB="36576">
                    <a:solidFill>
                      <a:srgbClr val="FFFFFF"/>
                    </a:solidFill>
                  </a:tcPr>
                </a:tc>
                <a:tc>
                  <a:txBody>
                    <a:bodyPr wrap="square"/>
                    <a:lstStyle/>
                    <a:p>
                      <a:pPr>
                        <a:spcAft>
                          <a:spcPts val="0"/>
                        </a:spcAft>
                      </a:pPr>
                      <a:r>
                        <a:rPr sz="900" b="0">
                          <a:solidFill>
                            <a:srgbClr val="222B38"/>
                          </a:solidFill>
                          <a:latin typeface="Calibri"/>
                        </a:rPr>
                        <a:t>7</a:t>
                      </a:r>
                    </a:p>
                  </a:txBody>
                  <a:tcPr marT="36576" marB="36576">
                    <a:solidFill>
                      <a:srgbClr val="FFFFFF"/>
                    </a:solidFill>
                  </a:tcPr>
                </a:tc>
                <a:tc>
                  <a:txBody>
                    <a:bodyPr wrap="square"/>
                    <a:lstStyle/>
                    <a:p>
                      <a:pPr>
                        <a:spcAft>
                          <a:spcPts val="0"/>
                        </a:spcAft>
                      </a:pPr>
                      <a:r>
                        <a:rPr sz="900" b="0">
                          <a:solidFill>
                            <a:srgbClr val="222B38"/>
                          </a:solidFill>
                          <a:latin typeface="Calibri"/>
                        </a:rPr>
                        <a:t>1029 / 177</a:t>
                      </a:r>
                    </a:p>
                  </a:txBody>
                  <a:tcPr marT="36576" marB="36576">
                    <a:solidFill>
                      <a:srgbClr val="FFFFFF"/>
                    </a:solidFill>
                  </a:tcPr>
                </a:tc>
                <a:tc>
                  <a:txBody>
                    <a:bodyPr wrap="square"/>
                    <a:lstStyle/>
                    <a:p>
                      <a:pPr>
                        <a:spcAft>
                          <a:spcPts val="0"/>
                        </a:spcAft>
                      </a:pPr>
                      <a:r>
                        <a:rPr sz="900" b="0">
                          <a:solidFill>
                            <a:srgbClr val="222B38"/>
                          </a:solidFill>
                          <a:latin typeface="Calibri"/>
                        </a:rPr>
                        <a:t>$0.00075</a:t>
                      </a:r>
                    </a:p>
                  </a:txBody>
                  <a:tcPr marT="36576" marB="36576">
                    <a:solidFill>
                      <a:srgbClr val="FFFFFF"/>
                    </a:solidFill>
                  </a:tcPr>
                </a:tc>
                <a:tc>
                  <a:txBody>
                    <a:bodyPr wrap="square"/>
                    <a:lstStyle/>
                    <a:p>
                      <a:pPr>
                        <a:spcAft>
                          <a:spcPts val="0"/>
                        </a:spcAft>
                      </a:pPr>
                      <a:r>
                        <a:rPr sz="900" b="0">
                          <a:solidFill>
                            <a:srgbClr val="222B38"/>
                          </a:solidFill>
                          <a:latin typeface="Calibri"/>
                        </a:rPr>
                        <a:t>4.1 s</a:t>
                      </a:r>
                    </a:p>
                  </a:txBody>
                  <a:tcPr marT="36576" marB="36576">
                    <a:solidFill>
                      <a:srgbClr val="FFFFFF"/>
                    </a:solidFill>
                  </a:tcPr>
                </a:tc>
              </a:tr>
              <a:tr h="246888">
                <a:tc>
                  <a:txBody>
                    <a:bodyPr wrap="square"/>
                    <a:lstStyle/>
                    <a:p>
                      <a:pPr>
                        <a:spcAft>
                          <a:spcPts val="0"/>
                        </a:spcAft>
                      </a:pPr>
                      <a:r>
                        <a:rPr sz="900" b="0">
                          <a:solidFill>
                            <a:srgbClr val="222B38"/>
                          </a:solidFill>
                          <a:latin typeface="Calibri"/>
                          <a:hlinkClick r:id="rId5"/>
                        </a:rPr>
                        <a:t>C  72b4b6c3</a:t>
                      </a:r>
                    </a:p>
                  </a:txBody>
                  <a:tcPr marT="36576" marB="36576">
                    <a:solidFill>
                      <a:srgbClr val="EEF3F8"/>
                    </a:solidFill>
                  </a:tcPr>
                </a:tc>
                <a:tc>
                  <a:txBody>
                    <a:bodyPr wrap="square"/>
                    <a:lstStyle/>
                    <a:p>
                      <a:pPr>
                        <a:spcAft>
                          <a:spcPts val="0"/>
                        </a:spcAft>
                      </a:pPr>
                      <a:r>
                        <a:rPr sz="900" b="0">
                          <a:solidFill>
                            <a:srgbClr val="222B38"/>
                          </a:solidFill>
                          <a:latin typeface="Calibri"/>
                        </a:rPr>
                        <a:t>escalate_now</a:t>
                      </a:r>
                    </a:p>
                  </a:txBody>
                  <a:tcPr marT="36576" marB="36576">
                    <a:solidFill>
                      <a:srgbClr val="EEF3F8"/>
                    </a:solidFill>
                  </a:tcPr>
                </a:tc>
                <a:tc>
                  <a:txBody>
                    <a:bodyPr wrap="square"/>
                    <a:lstStyle/>
                    <a:p>
                      <a:pPr>
                        <a:spcAft>
                          <a:spcPts val="0"/>
                        </a:spcAft>
                      </a:pPr>
                      <a:r>
                        <a:rPr sz="900" b="0">
                          <a:solidFill>
                            <a:srgbClr val="222B38"/>
                          </a:solidFill>
                          <a:latin typeface="Calibri"/>
                        </a:rPr>
                        <a:t>7</a:t>
                      </a:r>
                    </a:p>
                  </a:txBody>
                  <a:tcPr marT="36576" marB="36576">
                    <a:solidFill>
                      <a:srgbClr val="EEF3F8"/>
                    </a:solidFill>
                  </a:tcPr>
                </a:tc>
                <a:tc>
                  <a:txBody>
                    <a:bodyPr wrap="square"/>
                    <a:lstStyle/>
                    <a:p>
                      <a:pPr>
                        <a:spcAft>
                          <a:spcPts val="0"/>
                        </a:spcAft>
                      </a:pPr>
                      <a:r>
                        <a:rPr sz="900" b="0">
                          <a:solidFill>
                            <a:srgbClr val="222B38"/>
                          </a:solidFill>
                          <a:latin typeface="Calibri"/>
                        </a:rPr>
                        <a:t>1045 / 145</a:t>
                      </a:r>
                    </a:p>
                  </a:txBody>
                  <a:tcPr marT="36576" marB="36576">
                    <a:solidFill>
                      <a:srgbClr val="EEF3F8"/>
                    </a:solidFill>
                  </a:tcPr>
                </a:tc>
                <a:tc>
                  <a:txBody>
                    <a:bodyPr wrap="square"/>
                    <a:lstStyle/>
                    <a:p>
                      <a:pPr>
                        <a:spcAft>
                          <a:spcPts val="0"/>
                        </a:spcAft>
                      </a:pPr>
                      <a:r>
                        <a:rPr sz="900" b="0">
                          <a:solidFill>
                            <a:srgbClr val="222B38"/>
                          </a:solidFill>
                          <a:latin typeface="Calibri"/>
                        </a:rPr>
                        <a:t>$0.00068</a:t>
                      </a:r>
                    </a:p>
                  </a:txBody>
                  <a:tcPr marT="36576" marB="36576">
                    <a:solidFill>
                      <a:srgbClr val="EEF3F8"/>
                    </a:solidFill>
                  </a:tcPr>
                </a:tc>
                <a:tc>
                  <a:txBody>
                    <a:bodyPr wrap="square"/>
                    <a:lstStyle/>
                    <a:p>
                      <a:pPr>
                        <a:spcAft>
                          <a:spcPts val="0"/>
                        </a:spcAft>
                      </a:pPr>
                      <a:r>
                        <a:rPr sz="900" b="0">
                          <a:solidFill>
                            <a:srgbClr val="222B38"/>
                          </a:solidFill>
                          <a:latin typeface="Calibri"/>
                        </a:rPr>
                        <a:t>4.4 s</a:t>
                      </a:r>
                    </a:p>
                  </a:txBody>
                  <a:tcPr marT="36576" marB="36576">
                    <a:solidFill>
                      <a:srgbClr val="EEF3F8"/>
                    </a:solidFill>
                  </a:tcPr>
                </a:tc>
              </a:tr>
            </a:tbl>
          </a:graphicData>
        </a:graphic>
      </p:graphicFrame>
      <p:sp>
        <p:nvSpPr>
          <p:cNvPr id="35" name="Rounded Rectangle 34"/>
          <p:cNvSpPr/>
          <p:nvPr/>
        </p:nvSpPr>
        <p:spPr>
          <a:xfrm>
            <a:off x="6949440" y="2651760"/>
            <a:ext cx="4709160" cy="96012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7D32"/>
                </a:solidFill>
                <a:latin typeface="Calibri"/>
              </a:rPr>
              <a:t>Failure checks</a:t>
            </a:r>
          </a:p>
          <a:p>
            <a:pPr>
              <a:spcAft>
                <a:spcPts val="100"/>
              </a:spcAft>
            </a:pPr>
            <a:r>
              <a:rPr sz="950" b="0">
                <a:solidFill>
                  <a:srgbClr val="222B38"/>
                </a:solidFill>
                <a:latin typeface="Calibri"/>
              </a:rPr>
              <a:t>MCP unreachable: ticket B still resolved, the result says failover. LLM unavailable: /chat answered 200 and queued the case (KW-HQ-00003).</a:t>
            </a:r>
          </a:p>
          <a:p>
            <a:pPr>
              <a:spcAft>
                <a:spcPts val="100"/>
              </a:spcAft>
            </a:pPr>
            <a:r>
              <a:rPr sz="950" b="0">
                <a:solidFill>
                  <a:srgbClr val="222B38"/>
                </a:solidFill>
                <a:latin typeface="Calibri"/>
              </a:rPr>
              <a:t>A and C already end at a person, so an outage changes nothing for them.</a:t>
            </a:r>
          </a:p>
        </p:txBody>
      </p:sp>
      <p:sp>
        <p:nvSpPr>
          <p:cNvPr id="37" name="TextBox 36"/>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8" name="Table 37"/>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142B4D"/>
                    </a:solidFill>
                  </a:tcPr>
                </a:tc>
                <a:tc>
                  <a:txBody>
                    <a:bodyPr wrap="square"/>
                    <a:lstStyle/>
                    <a:p>
                      <a:pPr>
                        <a:spcAft>
                          <a:spcPts val="0"/>
                        </a:spcAft>
                      </a:pPr>
                      <a:r>
                        <a:rPr sz="950" b="1">
                          <a:solidFill>
                            <a:srgbClr val="FFFFFF"/>
                          </a:solidFill>
                          <a:latin typeface="Calibri"/>
                        </a:rPr>
                        <a:t>How</a:t>
                      </a:r>
                    </a:p>
                  </a:txBody>
                  <a:tcPr marT="36576" marB="36576">
                    <a:solidFill>
                      <a:srgbClr val="142B4D"/>
                    </a:solidFill>
                  </a:tcPr>
                </a:tc>
              </a:tr>
              <a:tr h="246888">
                <a:tc>
                  <a:txBody>
                    <a:bodyPr wrap="square"/>
                    <a:lstStyle/>
                    <a:p>
                      <a:pPr>
                        <a:spcAft>
                          <a:spcPts val="0"/>
                        </a:spcAft>
                      </a:pPr>
                      <a:r>
                        <a:rPr sz="95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950" b="0">
                          <a:solidFill>
                            <a:srgbClr val="222B38"/>
                          </a:solidFill>
                          <a:latin typeface="Calibri"/>
                        </a:rPr>
                        <a:t>backoff; malformed goes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Breaker</a:t>
                      </a:r>
                    </a:p>
                  </a:txBody>
                  <a:tcPr marT="36576" marB="36576">
                    <a:solidFill>
                      <a:srgbClr val="FFFFFF"/>
                    </a:solidFill>
                  </a:tcPr>
                </a:tc>
                <a:tc>
                  <a:txBody>
                    <a:bodyPr wrap="square"/>
                    <a:lstStyle/>
                    <a:p>
                      <a:pPr>
                        <a:spcAft>
                          <a:spcPts val="0"/>
                        </a:spcAft>
                      </a:pPr>
                      <a:r>
                        <a:rPr sz="950" b="0">
                          <a:solidFill>
                            <a:srgbClr val="222B38"/>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200 seeded calls</a:t>
                      </a:r>
                    </a:p>
                  </a:txBody>
                  <a:tcPr marT="36576" marB="36576">
                    <a:solidFill>
                      <a:srgbClr val="EEF3F8"/>
                    </a:solidFill>
                  </a:tcPr>
                </a:tc>
                <a:tc>
                  <a:txBody>
                    <a:bodyPr wrap="square"/>
                    <a:lstStyle/>
                    <a:p>
                      <a:pPr>
                        <a:spcAft>
                          <a:spcPts val="0"/>
                        </a:spcAft>
                      </a:pPr>
                      <a:r>
                        <a:rPr sz="950" b="0">
                          <a:solidFill>
                            <a:srgbClr val="222B38"/>
                          </a:solidFill>
                          <a:latin typeface="Calibri"/>
                        </a:rPr>
                        <a:t>57% clean, then 179 + 21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Dead tool</a:t>
                      </a:r>
                    </a:p>
                  </a:txBody>
                  <a:tcPr marT="36576" marB="36576">
                    <a:solidFill>
                      <a:srgbClr val="FFFFFF"/>
                    </a:solidFill>
                  </a:tcPr>
                </a:tc>
                <a:tc>
                  <a:txBody>
                    <a:bodyPr wrap="square"/>
                    <a:lstStyle/>
                    <a:p>
                      <a:pPr>
                        <a:spcAft>
                          <a:spcPts val="0"/>
                        </a:spcAft>
                      </a:pPr>
                      <a:r>
                        <a:rPr sz="950" b="0">
                          <a:solidFill>
                            <a:srgbClr val="222B38"/>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Tracing cost</a:t>
                      </a:r>
                    </a:p>
                  </a:txBody>
                  <a:tcPr marT="36576" marB="36576">
                    <a:solidFill>
                      <a:srgbClr val="EEF3F8"/>
                    </a:solidFill>
                  </a:tcPr>
                </a:tc>
                <a:tc>
                  <a:txBody>
                    <a:bodyPr wrap="square"/>
                    <a:lstStyle/>
                    <a:p>
                      <a:pPr>
                        <a:spcAft>
                          <a:spcPts val="0"/>
                        </a:spcAft>
                      </a:pPr>
                      <a:r>
                        <a:rPr sz="950" b="0">
                          <a:solidFill>
                            <a:srgbClr val="222B38"/>
                          </a:solidFill>
                          <a:latin typeface="Calibri"/>
                        </a:rPr>
                        <a:t>+1.3 ms per ticket (a flush per ticket cost 200 ms, now batched)</a:t>
                      </a:r>
                    </a:p>
                  </a:txBody>
                  <a:tcPr marT="36576" marB="36576">
                    <a:solidFill>
                      <a:srgbClr val="EEF3F8"/>
                    </a:solidFill>
                  </a:tcPr>
                </a:tc>
              </a:tr>
            </a:tbl>
          </a:graphicData>
        </a:graphic>
      </p:graphicFrame>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what we proved, and how to run it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1975104"/>
        </p:xfrm>
        <a:graphic>
          <a:graphicData uri="http://schemas.openxmlformats.org/drawingml/2006/table">
            <a:tbl>
              <a:tblPr firstRow="1" bandRow="1">
                <a:tableStyleId>{5C22544A-7EE6-4342-B048-85BDC9FD1C3A}</a:tableStyleId>
              </a:tblPr>
              <a:tblGrid>
                <a:gridCol w="2743200"/>
                <a:gridCol w="1463040"/>
              </a:tblGrid>
              <a:tr h="329184">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29184">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98 passed</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M8 golden tickets, stored and live</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M8 components (4 x 5 items)</a:t>
                      </a:r>
                    </a:p>
                  </a:txBody>
                  <a:tcPr marT="36576" marB="36576">
                    <a:solidFill>
                      <a:srgbClr val="EEF3F8"/>
                    </a:solidFill>
                  </a:tcPr>
                </a:tc>
                <a:tc>
                  <a:txBody>
                    <a:bodyPr wrap="square"/>
                    <a:lstStyle/>
                    <a:p>
                      <a:pPr>
                        <a:spcAft>
                          <a:spcPts val="0"/>
                        </a:spcAft>
                      </a:pPr>
                      <a:r>
                        <a:rPr sz="1100" b="0">
                          <a:solidFill>
                            <a:srgbClr val="222B38"/>
                          </a:solidFill>
                          <a:latin typeface="Calibri"/>
                        </a:rPr>
                        <a:t>1.0</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Answer faithfulness (judge)</a:t>
                      </a:r>
                    </a:p>
                  </a:txBody>
                  <a:tcPr marT="36576" marB="36576">
                    <a:solidFill>
                      <a:srgbClr val="FFFFFF"/>
                    </a:solidFill>
                  </a:tcPr>
                </a:tc>
                <a:tc>
                  <a:txBody>
                    <a:bodyPr wrap="square"/>
                    <a:lstStyle/>
                    <a:p>
                      <a:pPr>
                        <a:spcAft>
                          <a:spcPts val="0"/>
                        </a:spcAft>
                      </a:pPr>
                      <a:r>
                        <a:rPr sz="1100" b="0">
                          <a:solidFill>
                            <a:srgbClr val="222B38"/>
                          </a:solidFill>
                          <a:latin typeface="Calibri"/>
                        </a:rPr>
                        <a:t>1.0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M4 recall@3, hybrid</a:t>
                      </a:r>
                    </a:p>
                  </a:txBody>
                  <a:tcPr marT="36576" marB="36576">
                    <a:solidFill>
                      <a:srgbClr val="EEF3F8"/>
                    </a:solidFill>
                  </a:tcPr>
                </a:tc>
                <a:tc>
                  <a:txBody>
                    <a:bodyPr wrap="square"/>
                    <a:lstStyle/>
                    <a:p>
                      <a:pPr>
                        <a:spcAft>
                          <a:spcPts val="0"/>
                        </a:spcAft>
                      </a:pPr>
                      <a:r>
                        <a:rPr sz="1100" b="0">
                          <a:solidFill>
                            <a:srgbClr val="222B38"/>
                          </a:solidFill>
                          <a:latin typeface="Calibri"/>
                        </a:rPr>
                        <a:t>1.000</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463040"/>
          </a:xfrm>
          <a:prstGeom prst="rect">
            <a:avLst/>
          </a:prstGeom>
          <a:noFill/>
        </p:spPr>
        <p:txBody>
          <a:bodyPr wrap="square" lIns="45720" rIns="45720">
            <a:spAutoFit/>
          </a:bodyPr>
          <a:lstStyle/>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a:p>
            <a:pPr>
              <a:spcAft>
                <a:spcPts val="300"/>
              </a:spcAft>
            </a:pPr>
            <a:r>
              <a:rPr sz="1100" b="0">
                <a:solidFill>
                  <a:srgbClr val="222B38"/>
                </a:solidFill>
                <a:latin typeface="Calibri"/>
              </a:rPr>
              <a:t>•  Wrong category's return window: category filter (22 to 24 of 24)</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2E7D32"/>
                </a:solidFill>
                <a:latin typeface="Calibri"/>
              </a:rPr>
              <a:t>SAFETY BUILT IN</a:t>
            </a:r>
          </a:p>
        </p:txBody>
      </p:sp>
      <p:sp>
        <p:nvSpPr>
          <p:cNvPr id="11" name="TextBox 10"/>
          <p:cNvSpPr txBox="1"/>
          <p:nvPr/>
        </p:nvSpPr>
        <p:spPr>
          <a:xfrm>
            <a:off x="8549640" y="1600200"/>
            <a:ext cx="3108960" cy="1463040"/>
          </a:xfrm>
          <a:prstGeom prst="rect">
            <a:avLst/>
          </a:prstGeom>
          <a:noFill/>
        </p:spPr>
        <p:txBody>
          <a:bodyPr wrap="square" lIns="45720" rIns="45720">
            <a:spAutoFit/>
          </a:bodyPr>
          <a:lstStyle/>
          <a:p>
            <a:pPr>
              <a:spcAft>
                <a:spcPts val="300"/>
              </a:spcAft>
            </a:pPr>
            <a:r>
              <a:rPr sz="1100" b="0">
                <a:solidFill>
                  <a:srgbClr val="222B38"/>
                </a:solidFill>
                <a:latin typeface="Calibri"/>
              </a:rPr>
              <a:t>•  Refunds over Rs 2,000 always go to a human</a:t>
            </a:r>
          </a:p>
          <a:p>
            <a:pPr>
              <a:spcAft>
                <a:spcPts val="300"/>
              </a:spcAft>
            </a:pPr>
            <a:r>
              <a:rPr sz="1100" b="0">
                <a:solidFill>
                  <a:srgbClr val="222B38"/>
                </a:solidFill>
                <a:latin typeface="Calibri"/>
              </a:rPr>
              <a:t>•  Injection blocked in tickets and policy text</a:t>
            </a:r>
          </a:p>
          <a:p>
            <a:pPr>
              <a:spcAft>
                <a:spcPts val="300"/>
              </a:spcAft>
            </a:pPr>
            <a:r>
              <a:rPr sz="1100" b="0">
                <a:solidFill>
                  <a:srgbClr val="222B38"/>
                </a:solidFill>
                <a:latin typeface="Calibri"/>
              </a:rPr>
              <a:t>•  Unsupported policy answers are blocked</a:t>
            </a:r>
          </a:p>
        </p:txBody>
      </p:sp>
      <p:graphicFrame>
        <p:nvGraphicFramePr>
          <p:cNvPr id="12" name="Table 11"/>
          <p:cNvGraphicFramePr>
            <a:graphicFrameLocks noGrp="1"/>
          </p:cNvGraphicFramePr>
          <p:nvPr/>
        </p:nvGraphicFramePr>
        <p:xfrm>
          <a:off x="548640" y="3749039"/>
          <a:ext cx="11109960" cy="932688"/>
        </p:xfrm>
        <a:graphic>
          <a:graphicData uri="http://schemas.openxmlformats.org/drawingml/2006/table">
            <a:tbl>
              <a:tblPr firstRow="1" bandRow="1">
                <a:tableStyleId>{5C22544A-7EE6-4342-B048-85BDC9FD1C3A}</a:tableStyleId>
              </a:tblPr>
              <a:tblGrid>
                <a:gridCol w="1645920"/>
                <a:gridCol w="5120640"/>
                <a:gridCol w="4343400"/>
              </a:tblGrid>
              <a:tr h="310896">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310896">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98 passed</a:t>
                      </a:r>
                    </a:p>
                  </a:txBody>
                  <a:tcPr marT="36576" marB="36576">
                    <a:solidFill>
                      <a:srgbClr val="EEF3F8"/>
                    </a:solidFill>
                  </a:tcPr>
                </a:tc>
              </a:tr>
              <a:tr h="310896">
                <a:tc>
                  <a:txBody>
                    <a:bodyPr wrap="square"/>
                    <a:lstStyle/>
                    <a:p>
                      <a:pPr>
                        <a:spcAft>
                          <a:spcPts val="0"/>
                        </a:spcAft>
                      </a:pPr>
                      <a:r>
                        <a:rPr sz="1050" b="0">
                          <a:solidFill>
                            <a:srgbClr val="222B38"/>
                          </a:solidFill>
                          <a:latin typeface="Calibri"/>
                        </a:rPr>
                        <a:t>2  Golden eval</a:t>
                      </a:r>
                    </a:p>
                  </a:txBody>
                  <a:tcPr marT="36576" marB="36576">
                    <a:solidFill>
                      <a:srgbClr val="FFFFFF"/>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