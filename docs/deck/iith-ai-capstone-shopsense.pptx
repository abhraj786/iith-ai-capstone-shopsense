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f9e65118bd841f9" /><Relationship Type="http://schemas.openxmlformats.org/officeDocument/2006/relationships/extended-properties" Target="/docProps/app.xml" Id="Rc7c641e85bab497c" /><Relationship Type="http://schemas.openxmlformats.org/officeDocument/2006/relationships/officeDocument" Target="/ppt/presentation.xml" Id="Re341045a703c442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ed2529f099c4206"/>
  </p:sldMasterIdLst>
  <p:notesMasterIdLst>
    <p:notesMasterId xmlns:r="http://schemas.openxmlformats.org/officeDocument/2006/relationships" r:id="R0e88532a575f4990"/>
  </p:notesMasterIdLst>
  <p:sldIdLst>
    <p:sldId xmlns:r="http://schemas.openxmlformats.org/officeDocument/2006/relationships" id="256" r:id="R3af89cc955784c7d"/>
    <p:sldId xmlns:r="http://schemas.openxmlformats.org/officeDocument/2006/relationships" id="257" r:id="R0cc8ceeada834d1f"/>
    <p:sldId xmlns:r="http://schemas.openxmlformats.org/officeDocument/2006/relationships" id="258" r:id="Rafbfbf60086643a8"/>
    <p:sldId xmlns:r="http://schemas.openxmlformats.org/officeDocument/2006/relationships" id="259" r:id="Rf8dfe1e73e3540f1"/>
    <p:sldId xmlns:r="http://schemas.openxmlformats.org/officeDocument/2006/relationships" id="260" r:id="Ref56d34775d447c6"/>
    <p:sldId xmlns:r="http://schemas.openxmlformats.org/officeDocument/2006/relationships" id="261" r:id="R25f1101dd4b84b8e"/>
    <p:sldId xmlns:r="http://schemas.openxmlformats.org/officeDocument/2006/relationships" id="262" r:id="R43394cd12d504b5f"/>
    <p:sldId xmlns:r="http://schemas.openxmlformats.org/officeDocument/2006/relationships" id="263" r:id="R92831674dea74a4a"/>
    <p:sldId xmlns:r="http://schemas.openxmlformats.org/officeDocument/2006/relationships" id="264" r:id="Rb90b8d70339b4476"/>
    <p:sldId xmlns:r="http://schemas.openxmlformats.org/officeDocument/2006/relationships" id="265" r:id="R880a5c2095e1455c"/>
    <p:sldId xmlns:r="http://schemas.openxmlformats.org/officeDocument/2006/relationships" id="266" r:id="Ra3e29d8805b14414"/>
    <p:sldId xmlns:r="http://schemas.openxmlformats.org/officeDocument/2006/relationships" id="267" r:id="Re8464cfd1a8443ec"/>
    <p:sldId xmlns:r="http://schemas.openxmlformats.org/officeDocument/2006/relationships" id="268" r:id="R29f550f8dc174d6e"/>
    <p:sldId xmlns:r="http://schemas.openxmlformats.org/officeDocument/2006/relationships" id="269" r:id="R9453d3d4152b445d"/>
    <p:sldId xmlns:r="http://schemas.openxmlformats.org/officeDocument/2006/relationships" id="270" r:id="R84dd7ca6f9924825"/>
    <p:sldId xmlns:r="http://schemas.openxmlformats.org/officeDocument/2006/relationships" id="271" r:id="R981e4f2f68ca498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8a5bbe9a5184af0" /><Relationship Type="http://schemas.openxmlformats.org/officeDocument/2006/relationships/slideMaster" Target="/ppt/slideMasters/slideMaster1.xml" Id="R6ed2529f099c4206" /><Relationship Type="http://schemas.openxmlformats.org/officeDocument/2006/relationships/notesMaster" Target="/ppt/notesMasters/notesMaster1.xml" Id="R0e88532a575f4990" /><Relationship Type="http://schemas.openxmlformats.org/officeDocument/2006/relationships/presProps" Target="/ppt/presProps.xml" Id="Rb3eaaf1582ce44ad" /><Relationship Type="http://schemas.openxmlformats.org/officeDocument/2006/relationships/tableStyles" Target="/ppt/tableStyles.xml" Id="Rc9af229ed7624c37" /><Relationship Type="http://schemas.openxmlformats.org/officeDocument/2006/relationships/slide" Target="/ppt/slides/slide1.xml" Id="R3af89cc955784c7d" /><Relationship Type="http://schemas.openxmlformats.org/officeDocument/2006/relationships/slide" Target="/ppt/slides/slide2.xml" Id="R0cc8ceeada834d1f" /><Relationship Type="http://schemas.openxmlformats.org/officeDocument/2006/relationships/slide" Target="/ppt/slides/slide3.xml" Id="Rafbfbf60086643a8" /><Relationship Type="http://schemas.openxmlformats.org/officeDocument/2006/relationships/slide" Target="/ppt/slides/slide4.xml" Id="Rf8dfe1e73e3540f1" /><Relationship Type="http://schemas.openxmlformats.org/officeDocument/2006/relationships/slide" Target="/ppt/slides/slide5.xml" Id="Ref56d34775d447c6" /><Relationship Type="http://schemas.openxmlformats.org/officeDocument/2006/relationships/slide" Target="/ppt/slides/slide6.xml" Id="R25f1101dd4b84b8e" /><Relationship Type="http://schemas.openxmlformats.org/officeDocument/2006/relationships/slide" Target="/ppt/slides/slide7.xml" Id="R43394cd12d504b5f" /><Relationship Type="http://schemas.openxmlformats.org/officeDocument/2006/relationships/slide" Target="/ppt/slides/slide8.xml" Id="R92831674dea74a4a" /><Relationship Type="http://schemas.openxmlformats.org/officeDocument/2006/relationships/slide" Target="/ppt/slides/slide9.xml" Id="Rb90b8d70339b4476" /><Relationship Type="http://schemas.openxmlformats.org/officeDocument/2006/relationships/slide" Target="/ppt/slides/slide10.xml" Id="R880a5c2095e1455c" /><Relationship Type="http://schemas.openxmlformats.org/officeDocument/2006/relationships/slide" Target="/ppt/slides/slide11.xml" Id="Ra3e29d8805b14414" /><Relationship Type="http://schemas.openxmlformats.org/officeDocument/2006/relationships/slide" Target="/ppt/slides/slide12.xml" Id="Re8464cfd1a8443ec" /><Relationship Type="http://schemas.openxmlformats.org/officeDocument/2006/relationships/slide" Target="/ppt/slides/slide13.xml" Id="R29f550f8dc174d6e" /><Relationship Type="http://schemas.openxmlformats.org/officeDocument/2006/relationships/slide" Target="/ppt/slides/slide14.xml" Id="R9453d3d4152b445d" /><Relationship Type="http://schemas.openxmlformats.org/officeDocument/2006/relationships/slide" Target="/ppt/slides/slide15.xml" Id="R84dd7ca6f9924825" /><Relationship Type="http://schemas.openxmlformats.org/officeDocument/2006/relationships/slide" Target="/ppt/slides/slide16.xml" Id="R981e4f2f68ca498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057acb629ce4ce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2eaa84c129845ec" /><Relationship Type="http://schemas.openxmlformats.org/officeDocument/2006/relationships/notesMaster" Target="/ppt/notesMasters/notesMaster1.xml" Id="Rac9ca7c18b7a48b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86ab923ca654092" /><Relationship Type="http://schemas.openxmlformats.org/officeDocument/2006/relationships/notesMaster" Target="/ppt/notesMasters/notesMaster1.xml" Id="R3ff06034ee0344e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b52adf1ff254466" /><Relationship Type="http://schemas.openxmlformats.org/officeDocument/2006/relationships/notesMaster" Target="/ppt/notesMasters/notesMaster1.xml" Id="R23c979b8c475491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e4e62ec31924d35" /><Relationship Type="http://schemas.openxmlformats.org/officeDocument/2006/relationships/notesMaster" Target="/ppt/notesMasters/notesMaster1.xml" Id="R6a4b4934cfbf4b4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11b3270136f406d" /><Relationship Type="http://schemas.openxmlformats.org/officeDocument/2006/relationships/notesMaster" Target="/ppt/notesMasters/notesMaster1.xml" Id="R7de061a130d8465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23a3352c2c44ac1" /><Relationship Type="http://schemas.openxmlformats.org/officeDocument/2006/relationships/notesMaster" Target="/ppt/notesMasters/notesMaster1.xml" Id="R1528f13a24324b9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5a8bbe216be4db5" /><Relationship Type="http://schemas.openxmlformats.org/officeDocument/2006/relationships/notesMaster" Target="/ppt/notesMasters/notesMaster1.xml" Id="R116938edda484e5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758c2befab74ae0" /><Relationship Type="http://schemas.openxmlformats.org/officeDocument/2006/relationships/notesMaster" Target="/ppt/notesMasters/notesMaster1.xml" Id="Rbee8af4ec2d74f2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2ff3659d8074fc5" /><Relationship Type="http://schemas.openxmlformats.org/officeDocument/2006/relationships/notesMaster" Target="/ppt/notesMasters/notesMaster1.xml" Id="R1f9620dfc509441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6f11e1f6e904a86" /><Relationship Type="http://schemas.openxmlformats.org/officeDocument/2006/relationships/notesMaster" Target="/ppt/notesMasters/notesMaster1.xml" Id="R2f9b0ad4193c49a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32c0683a17a4f6a" /><Relationship Type="http://schemas.openxmlformats.org/officeDocument/2006/relationships/notesMaster" Target="/ppt/notesMasters/notesMaster1.xml" Id="R217e20c4ce4b4df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2f30ef50dc64b67" /><Relationship Type="http://schemas.openxmlformats.org/officeDocument/2006/relationships/notesMaster" Target="/ppt/notesMasters/notesMaster1.xml" Id="R9899609b004c449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d91e4686c6447af" /><Relationship Type="http://schemas.openxmlformats.org/officeDocument/2006/relationships/notesMaster" Target="/ppt/notesMasters/notesMaster1.xml" Id="Rdc0400d0005746c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c0c18c7cb974553" /><Relationship Type="http://schemas.openxmlformats.org/officeDocument/2006/relationships/notesMaster" Target="/ppt/notesMasters/notesMaster1.xml" Id="R7873c3cb6cc44e9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f9ae672cc3c4616" /><Relationship Type="http://schemas.openxmlformats.org/officeDocument/2006/relationships/notesMaster" Target="/ppt/notesMasters/notesMaster1.xml" Id="R81d0bbfcbcde43e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fd3f9e9f23c4ff8" /><Relationship Type="http://schemas.openxmlformats.org/officeDocument/2006/relationships/notesMaster" Target="/ppt/notesMasters/notesMaster1.xml" Id="Rec4cf3c6f801493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9d63f514e1465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00cfc9af14495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9ac319db88490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d05b83da92431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6fe42b9a194b5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6199af463044c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A74D960-0A5E-4167-8CDF-525ABB5500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5487FAB-4139-4FCD-9EF0-44989D03324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922589F-B32D-496A-B168-50F236DCEC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A1EC98E-CC4B-4F16-B0E1-4B4822E795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398AAB9-ED50-4041-AD0A-E7EFEAAF70C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76CA3F6-C3D1-46EC-964E-D05A7D546A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CB99FF8-9ECC-4F7E-955E-F61256C3BAA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ECA9F42-74DB-4A5F-AFDD-342E47A7678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5BCA10E-46E3-44BE-9A59-9967540A01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BE6ECF8-3A4A-463B-B9C0-307D42669A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252e2b02c5a4d36" /><Relationship Type="http://schemas.openxmlformats.org/officeDocument/2006/relationships/slideLayout" Target="/ppt/slideLayouts/slideLayout1.xml" Id="Rbcc26ae706c14e74" /><Relationship Type="http://schemas.openxmlformats.org/officeDocument/2006/relationships/slideLayout" Target="/ppt/slideLayouts/slideLayout2.xml" Id="R3cb9414ac71b49c7" /><Relationship Type="http://schemas.openxmlformats.org/officeDocument/2006/relationships/slideLayout" Target="/ppt/slideLayouts/slideLayout3.xml" Id="Re10c538cc7394cdb" /><Relationship Type="http://schemas.openxmlformats.org/officeDocument/2006/relationships/slideLayout" Target="/ppt/slideLayouts/slideLayout4.xml" Id="R3dcdb6f5cf7c4440" /><Relationship Type="http://schemas.openxmlformats.org/officeDocument/2006/relationships/slideLayout" Target="/ppt/slideLayouts/slideLayout5.xml" Id="R78d52ad0e1484077" /><Relationship Type="http://schemas.openxmlformats.org/officeDocument/2006/relationships/slideLayout" Target="/ppt/slideLayouts/slideLayout6.xml" Id="R6589916a559c4f3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cc26ae706c14e74"/>
    <p:sldLayoutId xmlns:r="http://schemas.openxmlformats.org/officeDocument/2006/relationships" id="2147483650" r:id="R3cb9414ac71b49c7"/>
    <p:sldLayoutId xmlns:r="http://schemas.openxmlformats.org/officeDocument/2006/relationships" id="2147483651" r:id="Re10c538cc7394cdb"/>
    <p:sldLayoutId xmlns:r="http://schemas.openxmlformats.org/officeDocument/2006/relationships" id="2147483652" r:id="R3dcdb6f5cf7c4440"/>
    <p:sldLayoutId xmlns:r="http://schemas.openxmlformats.org/officeDocument/2006/relationships" id="2147483653" r:id="R78d52ad0e1484077"/>
    <p:sldLayoutId xmlns:r="http://schemas.openxmlformats.org/officeDocument/2006/relationships" id="2147483654" r:id="R6589916a559c4f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7c90965e8a41e8" /><Relationship Type="http://schemas.openxmlformats.org/officeDocument/2006/relationships/notesSlide" Target="/ppt/notesSlides/notesSlide1.xml" Id="R6d08c42c2b124c6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7d4df803df4b6a" /><Relationship Type="http://schemas.openxmlformats.org/officeDocument/2006/relationships/notesSlide" Target="/ppt/notesSlides/notesSlide2.xml" Id="Ra67a7f4b6d3741d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a2bedfe3e84c2c" /><Relationship Type="http://schemas.openxmlformats.org/officeDocument/2006/relationships/notesSlide" Target="/ppt/notesSlides/notesSlide3.xml" Id="R9c6bf4c2058b4ff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54bce0a328b44b9" /><Relationship Type="http://schemas.openxmlformats.org/officeDocument/2006/relationships/notesSlide" Target="/ppt/notesSlides/notesSlide4.xml" Id="R553e8fad7cf241e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764a256d3346c0" /><Relationship Type="http://schemas.openxmlformats.org/officeDocument/2006/relationships/notesSlide" Target="/ppt/notesSlides/notesSlide5.xml" Id="Rd4097199319c4d6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5ee48da1364194" /><Relationship Type="http://schemas.openxmlformats.org/officeDocument/2006/relationships/notesSlide" Target="/ppt/notesSlides/notesSlide6.xml" Id="Rdcbc3da3b2394ac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7e52a321974aec" /><Relationship Type="http://schemas.openxmlformats.org/officeDocument/2006/relationships/notesSlide" Target="/ppt/notesSlides/notesSlide7.xml" Id="R4eefb5cf7e7d4f6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c6a921d9f34591" /><Relationship Type="http://schemas.openxmlformats.org/officeDocument/2006/relationships/notesSlide" Target="/ppt/notesSlides/notesSlide8.xml" Id="Rf51c86b8adf6468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3aa1cb54fe4c7a" /><Relationship Type="http://schemas.openxmlformats.org/officeDocument/2006/relationships/notesSlide" Target="/ppt/notesSlides/notesSlide9.xml" Id="Rc9033cb5ac6242c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8177376ff041df" /><Relationship Type="http://schemas.openxmlformats.org/officeDocument/2006/relationships/notesSlide" Target="/ppt/notesSlides/notesSlide10.xml" Id="R476a8bfe9644438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b895876c374145" /><Relationship Type="http://schemas.openxmlformats.org/officeDocument/2006/relationships/notesSlide" Target="/ppt/notesSlides/notesSlide11.xml" Id="R3a54746fefa24c4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95db47976741a0" /><Relationship Type="http://schemas.openxmlformats.org/officeDocument/2006/relationships/notesSlide" Target="/ppt/notesSlides/notesSlide12.xml" Id="R27ee40ad0b994dc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c3e3c0a4844bce" /><Relationship Type="http://schemas.openxmlformats.org/officeDocument/2006/relationships/notesSlide" Target="/ppt/notesSlides/notesSlide13.xml" Id="R6e956d51a19844d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bf61f949194550" /><Relationship Type="http://schemas.openxmlformats.org/officeDocument/2006/relationships/notesSlide" Target="/ppt/notesSlides/notesSlide14.xml" Id="Raa0fae004ee74d8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f2bae4e52b46de" /><Relationship Type="http://schemas.openxmlformats.org/officeDocument/2006/relationships/notesSlide" Target="/ppt/notesSlides/notesSlide15.xml" Id="Rd83e98834a984be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d8f3aa28374526" /><Relationship Type="http://schemas.openxmlformats.org/officeDocument/2006/relationships/notesSlide" Target="/ppt/notesSlides/notesSlide16.xml" Id="R5ba0a678fc6245f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DC250F-C055-4C10-9FFA-19B27D36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4ED8"/>
                </a:solidFill>
              </a:defRPr>
            </a:pPr>
            <a:r>
              <a:rPr sz="1500" b="1">
                <a:solidFill>
                  <a:srgbClr val="1D4ED8"/>
                </a:solidFill>
              </a:rPr>
              <a:t>IITH AI Capstone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3C3E48-03DC-4BAC-AD0C-FDF07A271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590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4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4350" b="1">
                <a:solidFill>
                  <a:srgbClr val="102A43"/>
                </a:solidFill>
              </a:defRPr>
            </a:pPr>
            <a:r>
              <a:rPr sz="4350" b="1">
                <a:solidFill>
                  <a:srgbClr val="102A43"/>
                </a:solidFill>
              </a:rPr>
              <a:t>ShopSense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9862EE-FBEC-4139-A0F1-D434B816F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F2933"/>
                </a:solidFill>
              </a:defRPr>
            </a:pPr>
            <a:r>
              <a:rPr sz="1800" b="0">
                <a:solidFill>
                  <a:srgbClr val="1F2933"/>
                </a:solidFill>
              </a:rPr>
              <a:t>Customer care and order operations assistant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AEA754-8527-465A-AFFC-A7D4D4F6D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C6670"/>
                </a:solidFill>
              </a:defRPr>
            </a:pPr>
            <a:r>
              <a:rPr sz="1200" b="0">
                <a:solidFill>
                  <a:srgbClr val="5C6670"/>
                </a:solidFill>
              </a:rPr>
              <a:t>Modules completed: M1 to M6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4CF902-4B52-4D40-A5AA-E3D89E195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066800"/>
            <a:ext cx="3333750" cy="3714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0EA5E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AFF1C1-C1F4-4178-AC31-8873C59C1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4305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Current status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FB2F6D-012D-4148-8D33-D94AA2D2F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962150"/>
            <a:ext cx="152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42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4200" b="1">
                <a:solidFill>
                  <a:srgbClr val="1D4ED8"/>
                </a:solidFill>
              </a:defRPr>
            </a:pPr>
            <a:r>
              <a:rPr sz="4200" b="1">
                <a:solidFill>
                  <a:srgbClr val="1D4ED8"/>
                </a:solidFill>
              </a:rPr>
              <a:t>M6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D0AE16-2CCB-43C6-8A8D-BA86BE7B0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81300"/>
            <a:ext cx="2381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F2933"/>
                </a:solidFill>
              </a:defRPr>
            </a:pPr>
            <a:r>
              <a:rPr sz="1650" b="0">
                <a:solidFill>
                  <a:srgbClr val="1F2933"/>
                </a:solidFill>
              </a:rPr>
              <a:t>Multi-agent team with MCP tools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E019B4-29FE-49EC-92F5-628E0C442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0005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GitHub repo includes code, tests, reports, corpus and deck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7F21D9-FFA3-4843-ADF9-AB4D6E0A8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01</a:t>
            </a:r>
          </a:p>
        </p:txBody>
      </p:sp>
    </p:spTree>
    <p:extLst>
      <p:ext uri="{BB962C8B-B14F-4D97-AF65-F5344CB8AC3E}">
        <p14:creationId xmlns:p14="http://schemas.microsoft.com/office/powerpoint/2010/main" val="4157900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CC2712-0F7D-48A7-95DB-622828AF9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B1C95B-1250-41BD-AF64-BA58020B4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Problem and milestone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345843-E82C-4B33-B865-8DCF88102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979FE1-D020-41E1-A783-06A640043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47625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94DE75-3D31-4F75-B82D-F66F0401D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6667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A31D04-39DE-4AFC-B488-DEA46BEC1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71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Problem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519553-4345-4C2D-9953-E91A746C1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76450"/>
            <a:ext cx="4343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Retail support receives refund, shipping, warranty and escalation tickets with messy customer language.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C3010C-7D43-4DB1-A7FD-6120D199E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47625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85A3B3-3EA6-4D7D-B532-F3595AD4F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6667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25150F-4838-4A71-94F1-2786FFACC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861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System goal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2C9E5F-9EE0-4C6A-911A-222C25D2C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790950"/>
            <a:ext cx="4343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Parse tickets, choose safe actions, remember customer context and answer policy questions from evidence.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0035E3-DF3B-4B1A-BBBB-6B22F4033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002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Milestone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3ACCDC-4656-4CF2-A3DF-528B4BA2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955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1CDF0A-E95F-49BE-8AEA-473102E6A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526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21F0D6-C965-4503-9D15-AAD9DEDA1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09550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M1 intake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D69C3A-CAFB-4F65-992C-E8AD56D98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0030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Raw message to validated `SupportTicket`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A28940-29EE-4247-8602-C4F0266A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146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4C901B-2F8D-4E61-81CF-9345AF183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718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3F0B94-AC47-404C-AE7A-560DF85A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1465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M2 actions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DF78E7-B5B4-4D2C-9F57-FBF8C81EB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1945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Tool-backed safe action proposal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019D94-CF9C-44A6-BB8B-C52B70DC5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33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D7E586-0841-4C59-8FBA-935FAAB74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909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F87B18-9901-4E8F-BDFD-9F8F5658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73380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M3 memory and index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190F7C-3D19-4F7F-8C7E-6E852DBEF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03860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Customer history plus Qdrant policy retrieval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736357-2D96-4ED0-BE51-152D545D3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52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61CAD3-3C74-41C0-AB0C-4D4EFB582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101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6A3FB7-EA95-49BE-8E2A-04459C296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55295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M4 grounded RAG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88C47E5-BB77-42DB-AF23-DDC53E491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85775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Hybrid retrieval, citations and groundedness checks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64BF89-348B-445A-9086-075486F6F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02</a:t>
            </a:r>
          </a:p>
        </p:txBody>
      </p:sp>
    </p:spTree>
    <p:extLst>
      <p:ext uri="{BB962C8B-B14F-4D97-AF65-F5344CB8AC3E}">
        <p14:creationId xmlns:p14="http://schemas.microsoft.com/office/powerpoint/2010/main" val="141361762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5AA000-0AAF-4499-9D24-181D9FD2B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CB94CB-0AAA-4BC4-B5C2-AA8DD5134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End-to-end 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A4DEC4-50BC-45F8-9B18-961343673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E36D76-C7E9-466E-AD9C-0189569C8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81150"/>
            <a:ext cx="102870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8B2A47-176A-4C1B-A895-4C3A416AC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81150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BF439F-09F7-4722-BD11-A80895F31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33550"/>
            <a:ext cx="9867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Customer ticket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947026-5B92-400B-8FA9-2308B07AB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9867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 KW-O-000950 arrived 4 days late. The customer demands a 6,499 INR refund and mentions the National Consumer Helpline.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6E20AE-9273-4D85-9FDC-283A2FB3E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146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369351-FD98-49FE-82AC-82DAD9872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6EC80D-2C6D-40A2-A51C-52F6F9D70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14650"/>
            <a:ext cx="849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M1 parses the message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659D20-53DB-4EDB-96EA-6E26BB511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219450"/>
            <a:ext cx="849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Extracts refund request, order ID, angry sentiment, amount and escalation signals.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475A3B-2D2C-48EF-8507-FF072A4ED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719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B042D2-9F08-404A-9206-CC343FEA0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290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F0DDE5-58C2-4CDF-835A-7C1EBFFEA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771900"/>
            <a:ext cx="849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M2 chooses the action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C3CE42-A972-4A90-A575-E47219FB9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076700"/>
            <a:ext cx="849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Routes to human review using `legal_or_regulatory`; no automatic refund.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F2F164-49C8-4F60-8AE6-D23F44963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291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8C959B-FA34-44B4-A98E-87B41EB18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863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D77691-1E7B-4FD0-A3A6-976716086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29150"/>
            <a:ext cx="849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M3 adds context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0DF0A5-62A9-4A8D-AD99-5D58030B4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933950"/>
            <a:ext cx="849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Stores the customer interaction and retrieves related refund and escalation policy chunks.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2B8545-3A8F-4A54-AF51-66B993B60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86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165B4B-00EA-485A-8243-D88D0B8D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435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64F5CE-07DC-4EDB-A101-A1B13863B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86400"/>
            <a:ext cx="849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M4 explains the policy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A45267-8543-4BCB-9242-C2999EC1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791200"/>
            <a:ext cx="849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Answers from evidence and cites the relevant policy documents.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F7D116-54F9-4A78-9467-030ECB5A4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03</a:t>
            </a:r>
          </a:p>
        </p:txBody>
      </p:sp>
    </p:spTree>
    <p:extLst>
      <p:ext uri="{BB962C8B-B14F-4D97-AF65-F5344CB8AC3E}">
        <p14:creationId xmlns:p14="http://schemas.microsoft.com/office/powerpoint/2010/main" val="15065612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048D38-5DE7-42B7-AB96-86C4D38BC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B747EB-4E4E-47AC-BC4D-BEDC94326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M1 intake parsing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BC8EAD-19FE-441C-86C5-4614F05E8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2290E7-3E8A-49E5-A8A2-A5883A4BB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38300"/>
            <a:ext cx="4762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A6DDEB-3A46-4FA7-A5AF-5EC362AE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38300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0AE130-8087-477F-88AB-E4A57CE39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907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What M1 solves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372BB1-9387-4978-9B82-7F2A4B7C9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95500"/>
            <a:ext cx="4343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Turns raw customer text into a validated Pydantic `SupportTicket` object.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EC0B25-607E-439E-ABDA-0DB557E40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4762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06B0DE-B976-4441-B3A1-E8021BD04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13D7D2-E52C-481E-8422-6389ED5BF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909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LLM involvement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74EB63-0E34-45DB-8B28-AC421863F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695700"/>
            <a:ext cx="4343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The LLM handles language understanding only. Python validates and repairs policy-sensitive fields.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9C73FE-384C-48D3-BBD8-C1A268A36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95450"/>
            <a:ext cx="3714750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B05FD9-7FD7-4C99-8BD6-F47364A5D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866900"/>
            <a:ext cx="337185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E2E8F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issue_type: refund_request,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order_ref: KW-O-000950,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sentiment: angry,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claimed_amount_inr: 6499,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escalation_signals: [...]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C9D3D0-D800-4FBF-BC78-F4ACBBEFC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29100"/>
            <a:ext cx="3714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9CAF8A-4C35-4984-ABFB-46C6DBEF1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29100"/>
            <a:ext cx="666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2C2FC4-F62A-48A7-96E8-C7E175E25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381500"/>
            <a:ext cx="3295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Validation rules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2D5A27-C61B-483C-978F-90B269AE2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686300"/>
            <a:ext cx="3295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 IDs must appear in the text. Refund-cap and repeat-contact signals are recomputed in code.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BB881C-45D8-450A-8317-65DF07EC4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04</a:t>
            </a:r>
          </a:p>
        </p:txBody>
      </p:sp>
    </p:spTree>
    <p:extLst>
      <p:ext uri="{BB962C8B-B14F-4D97-AF65-F5344CB8AC3E}">
        <p14:creationId xmlns:p14="http://schemas.microsoft.com/office/powerpoint/2010/main" val="184584366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28F5FE-C389-4390-B6F0-6EB960DCA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720F8E-A0FF-421F-9AD4-4CDC113DE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M1 evaluation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02A872-2ED4-48FF-868F-E1F44C712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90AABE-EAF1-49F0-864F-2641E18F4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60/60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420741-1412-4279-B72F-92EB212CC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145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Parsed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115FE7-C315-46D4-8967-7FA54B462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No parse failures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0621CF-2596-47A2-80F0-BA9E74720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6573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B4530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B45309"/>
                </a:solidFill>
              </a:defRPr>
            </a:pPr>
            <a:r>
              <a:rPr sz="2550" b="1">
                <a:solidFill>
                  <a:srgbClr val="B45309"/>
                </a:solidFill>
              </a:rPr>
              <a:t>0.717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B4BED3-975A-4CB0-8D06-9389EFBF4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145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Intent accuracy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DB6526-CDF3-4722-96E5-A9FC9C147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03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Main tuning area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E9C523-3132-4009-B199-EFA235B2C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573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B4530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B45309"/>
                </a:solidFill>
              </a:defRPr>
            </a:pPr>
            <a:r>
              <a:rPr sz="2550" b="1">
                <a:solidFill>
                  <a:srgbClr val="B45309"/>
                </a:solidFill>
              </a:rPr>
              <a:t>0.783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409899-AE42-4786-876A-7BAB67623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Sentiment accuracy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06DD64-1921-42A1-A52D-D031EBF64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003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Useful but imperfect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869C22-2F4B-4929-AB3A-F6292EB1B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6573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0.896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C53875-30A4-4C36-9274-FF8518DCD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1145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Escalation precision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77BB38-6222-4286-92BA-D3132D1E3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4003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Strong signal quality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3A7ADF-1DB0-4925-942A-864CC6AA3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86200"/>
            <a:ext cx="8763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CF709E-E15A-4101-93B3-0FD7CF1F2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8620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9A5DA4-7533-4587-94A0-A46FC5472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38600"/>
            <a:ext cx="834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Acceptance view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E8C9EE-697A-4BB6-A810-C514A72A7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343400"/>
            <a:ext cx="8343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M1 is functional and measured. The report is committed as `evaluation/reports/m1_holdout_n60_v4.json`.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C123AB-BC9F-4B31-96EA-01DF7A56F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05</a:t>
            </a:r>
          </a:p>
        </p:txBody>
      </p:sp>
    </p:spTree>
    <p:extLst>
      <p:ext uri="{BB962C8B-B14F-4D97-AF65-F5344CB8AC3E}">
        <p14:creationId xmlns:p14="http://schemas.microsoft.com/office/powerpoint/2010/main" val="63343850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36B074-C3D6-4FF3-B94E-41F22E85C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0F03CA-218C-442D-8207-BD0DC5A03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M2 action planning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7220D1-947B-4DA9-A13E-ED21A6FD5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ADB5B9-F067-4F26-853D-C4A994BEC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47625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08303D-EF24-48A7-888F-1D4CCDDAC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A9445D-5BCB-4998-90D5-A8DCBC8BE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71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What M2 solves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4E933F-1384-488C-A12D-3C9179E07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76450"/>
            <a:ext cx="4343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Converts the M1 ticket into a safe operational decision using local tools and policy tables.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B1D39C-FB83-4694-AEF3-D51CB1E68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47625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B6F5FC-48D7-4632-8269-7B5043E61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3E4EF2-7E32-47A4-BC37-029332A50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718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Tools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B27559-2056-49D3-ADD6-6558B0B0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76650"/>
            <a:ext cx="4343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 lookup, shipment tracking, refund amount calculation, refund API, replacement API and human queue.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D98E6B-D93A-4032-943E-5D41A5DE6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619250"/>
            <a:ext cx="47625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72E802-A68C-49D2-89E7-E2FD4DA83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6192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135390-38FC-4603-A236-51DBB3A17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771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Guardrail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0364F4-45B8-4D15-92B9-9BC6CDDF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76450"/>
            <a:ext cx="4343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Mutable actions are proposal-only unless `execute=True`. High-value refunds and legal issues route to humans.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390645-1605-4CA0-865E-6B8464ACC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219450"/>
            <a:ext cx="47625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CE72E9-B928-4956-8581-8A440876B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2194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CFACD7-BAD7-4CD6-AEC2-B05893FF0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718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Legal priority fix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420056-094F-4968-A4E9-721A567E6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676650"/>
            <a:ext cx="4343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When multiple signals appear, `legal_or_regulatory` wins over angry tone and over-cap refund.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0EED92-7413-418E-A8AA-5E5685E4E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06</a:t>
            </a:r>
          </a:p>
        </p:txBody>
      </p:sp>
    </p:spTree>
    <p:extLst>
      <p:ext uri="{BB962C8B-B14F-4D97-AF65-F5344CB8AC3E}">
        <p14:creationId xmlns:p14="http://schemas.microsoft.com/office/powerpoint/2010/main" val="196590681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A5F012-0DAB-4B9F-9A13-88CA34EFB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58C687-8E57-4E81-9FB9-8351EDA55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M2 decision output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826653-1377-4D02-B6B7-1C8EDD03B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C2D25F-E9D8-4B73-872C-34EE1C4C1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95450"/>
            <a:ext cx="4476750" cy="3086100"/>
          </a:xfrm>
          <a:prstGeom xmlns:a="http://schemas.openxmlformats.org/drawingml/2006/main" prst="roundRect">
            <a:avLst>
              <a:gd name="adj" fmla="val 2469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94EA60-8796-4274-9805-8A5DD1746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66900"/>
            <a:ext cx="41338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E2E8F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recommended_action: human_review,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requires_human: true,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tool_name: flag_for_human,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tool_args: 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  trigger: legal_or_regulatory,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  order_ref: KW-O-000950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},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executed: false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}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2EC9C2-CDBC-43B6-8326-14C4C3D56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764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02A43"/>
                </a:solidFill>
              </a:defRPr>
            </a:pPr>
            <a:r>
              <a:rPr sz="1725" b="1">
                <a:solidFill>
                  <a:srgbClr val="102A43"/>
                </a:solidFill>
              </a:rPr>
              <a:t>Why this matters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5FEEA7-441F-47C1-88C9-455FB25E5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479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777864-EA9B-4B0A-B2E6-8834AD4A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050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3C7A3E-E4AF-40A3-AEFD-970EC9BC6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4790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No data leak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E073A9-2BE4-4293-9857-9FEB2E247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55270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 lookup is scoped to the customer reference.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5C4284-62E8-4F30-986E-70C407C8A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051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1BF19E-B506-457C-B364-50DD16AFB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623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D764CB-63CB-4453-8B0A-A678CA785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10515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No unsafe refund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AFCC76-428C-4D41-90D8-EFFEEB09B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40995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6,499 INR exceeds the automated cap.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6DDE6-75C4-4375-B906-830F46190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62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3359F9-3219-4B55-8587-7B823AA32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195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4FBB3D-942F-412A-8D8B-390D0A09C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6240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Human route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E61649-8D62-4726-9114-C3D9199A5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26720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Legal language sends the case to legal review.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8E2402-686B-4933-8DA0-52DE4B24E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07</a:t>
            </a:r>
          </a:p>
        </p:txBody>
      </p:sp>
    </p:spTree>
    <p:extLst>
      <p:ext uri="{BB962C8B-B14F-4D97-AF65-F5344CB8AC3E}">
        <p14:creationId xmlns:p14="http://schemas.microsoft.com/office/powerpoint/2010/main" val="13942599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62BAA4-2F96-4753-B025-6F319609A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EAC627-7106-432F-AA72-C4B41503C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M3 customer memory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D04BCA-6264-4384-95A4-10AE904E3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E65108-8477-4FB8-B646-E5FF976F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57350"/>
            <a:ext cx="47625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84A2F4-4CC5-4493-8E16-2475B419A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57350"/>
            <a:ext cx="666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76CD32-28CE-405A-8617-AFBEA0B06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097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What M3 stores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2CD8A8-3DCC-4A01-8EDF-1FFE0D138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14550"/>
            <a:ext cx="4343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One JSON file per customer: preferences, recent tickets, sentiment, escalation signals and recommended actions.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E7EDD3-4E3B-4401-8752-B3B7C6796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52800"/>
            <a:ext cx="47625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803B82-C12E-4341-98FE-1CD77493D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52800"/>
            <a:ext cx="666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113CDE-2119-4FB2-B083-D4B465EEF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052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Where it lives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3AB0E6-A0FB-4A4A-8D78-B8A5E7FF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000"/>
            <a:ext cx="4343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`runtime/memory/customers/`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Runtime state is local and can be reset without changing seed data.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0EEF07-2FC0-40F2-9F03-81BF1922D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752600"/>
            <a:ext cx="3714750" cy="2457450"/>
          </a:xfrm>
          <a:prstGeom xmlns:a="http://schemas.openxmlformats.org/drawingml/2006/main" prst="roundRect">
            <a:avLst>
              <a:gd name="adj" fmla="val 3101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E076FB-360D-4C09-871C-618F9BB2D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924050"/>
            <a:ext cx="3371850" cy="2152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E2E8F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customer_ref: KW-C-00285,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ticket_count: 1,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recent_tickets: [{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  issue_type: refund_request,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  recommended_action: human_review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}]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E810B5-2547-46F3-9E63-A563CD5B7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9105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Later milestones can use this memory for repeat-contact context and customer preferences.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97B484-73BA-427B-A125-A01035D83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08</a:t>
            </a:r>
          </a:p>
        </p:txBody>
      </p:sp>
    </p:spTree>
    <p:extLst>
      <p:ext uri="{BB962C8B-B14F-4D97-AF65-F5344CB8AC3E}">
        <p14:creationId xmlns:p14="http://schemas.microsoft.com/office/powerpoint/2010/main" val="107693906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1DB65C-E2B9-4A67-BE8A-14F841DEB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1E9222-ED9B-41B0-8C8F-E3970FD47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M3 policy index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C32696-C6C0-4346-B3B3-28BF7AACB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B15011-ED68-4EDA-9CEC-AD6C31026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49530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C23445-C67A-407C-94E1-3CD863C06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738343-7D5E-4DC5-9501-A00423CEE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716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Policy corpus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6ABFAC-4698-4AE2-84AC-244E308D2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76450"/>
            <a:ext cx="45339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Returns, refund authority, shipping, warranty, escalation, fraud and category addenda are committed under `data/shopsense/corpus/`.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4188EF-B0C3-49FF-919B-CA6007F56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49530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1CB3DA-8989-4B04-BE21-E59B5BEF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13EE4E-4734-4119-AAD5-A1E931F5B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9090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Local Qdrant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1C7174-AC23-403E-9B1A-98D20338F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95700"/>
            <a:ext cx="45339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`scripts/build_policy_index.py` creates a local vector index under `runtime/qdrant/`. No Qdrant Cloud is used.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9BAD9D-2B03-4867-AA40-FA238EE8F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19250"/>
            <a:ext cx="409575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142113-4C62-4A88-947D-B9D2E80F3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192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C15FEB-8C7B-40A6-B25A-C5066295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77165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Retrieval output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B67778-DCCB-4AB1-ACD9-EC01A9191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76450"/>
            <a:ext cx="3676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M3 returns policy chunks. It does not yet produce the final policy answer.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7535A6-2423-4D9D-86D5-92D7492BA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409575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488376-0B49-434F-A974-69AB509E6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D16F8A-656A-481B-896F-08C075FC1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39090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Test coverage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40E221-209D-4E7B-B3FA-4E9C511C3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695700"/>
            <a:ext cx="3676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Memory persistence, Qdrant build and policy retrieval are covered by unit tests.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FE99C9-AA6B-4989-80FA-93384278E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09</a:t>
            </a:r>
          </a:p>
        </p:txBody>
      </p:sp>
    </p:spTree>
    <p:extLst>
      <p:ext uri="{BB962C8B-B14F-4D97-AF65-F5344CB8AC3E}">
        <p14:creationId xmlns:p14="http://schemas.microsoft.com/office/powerpoint/2010/main" val="53956930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D4DD79-9D53-40CC-98D0-391ECBD88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984211-0EA6-4E5A-86B3-A0F55C210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M4 grounded policy RAG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80F680-BC25-4B26-81BE-7B3F3AF63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860BFB-BAEB-4C1B-898D-658D28743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811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E05BEC-2382-4EEE-A2E8-5DA02A49A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811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1FED53-837D-49A8-A002-0D89B454E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335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What M4 solves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514815-5B3A-42F8-97CB-67EDBE084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383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Turns retrieved policy chunks into a grounded answer with citations and evidence.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56B445-EFAF-4784-BC83-CF0D7D1E0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432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0E4010-BBBC-413A-A45E-35F672AA3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432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740FD2-473E-4001-BA77-E20A1B86A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95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Hybrid retrieval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816824-0BC8-4BE6-BDAE-8164DEF49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004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Combines Qdrant vector hits with deterministic keyword search and reranking.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D2CF50-F3B9-4152-A7CD-B90E571EA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811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46BA24-D8CC-4815-845B-60184EF1C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811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963D63-69C8-4E96-919D-D3D99054D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7335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Groundedness check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0F8035-4946-4E52-B8D4-FA48C955E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383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Numeric claims in the answer must appear in retrieved evidence. Unsupported numbers are flagged.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95A893-47E4-4710-8DA5-ADB930AAE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432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68C0DE-015F-46EA-97A4-F9D6FC010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432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388637-703F-49E4-BCAA-96137BB3D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295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Evaluation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BBE4CC-9A5D-40A1-A0D4-9A85B8DAA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6004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Five golden policy cases check return windows, refund cap, groceries and legal routing.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9282D9-CDBA-481E-BCFB-A904A33BA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10</a:t>
            </a:r>
          </a:p>
        </p:txBody>
      </p:sp>
    </p:spTree>
    <p:extLst>
      <p:ext uri="{BB962C8B-B14F-4D97-AF65-F5344CB8AC3E}">
        <p14:creationId xmlns:p14="http://schemas.microsoft.com/office/powerpoint/2010/main" val="4274463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4E9D27-FB89-4286-AEB2-498E44D68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7B2CF7-8C70-4C97-8452-A75DB146F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M4 answer 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D0E383-1B65-436D-9CDC-843493225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185607-1E3C-4CDA-8C17-6E85A9AC6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00200"/>
            <a:ext cx="10382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A9E935-02CF-4024-B2D7-507E5D7E2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00200"/>
            <a:ext cx="666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5E259B-A104-4302-A653-2D0F186EC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996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Question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5823CC-05D7-4638-BAAD-656BCE42E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57400"/>
            <a:ext cx="9963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Can a customer return an opened Beauty item after 11 days?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3CF93A-E404-4CF7-A93D-508E2057D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10382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CE5543-9F23-46DE-8E84-407617062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666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0F1E0E-E420-46F9-94AF-57794FD75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00350"/>
            <a:ext cx="996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Grounded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48960D-48FD-4509-9A29-3FB9B3646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05150"/>
            <a:ext cx="996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No. Beauty has a 10-day return window, and opened Beauty items cannot be returned for change of mind.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D9EF4F-B206-4DDD-8113-CAA51009E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43350"/>
            <a:ext cx="4953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D72DE0-5635-48C2-B876-C3E32BEE7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4335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C084EB-9B00-438E-A514-0CA13C675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B260EB-F11B-48EF-972F-77E2368DE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00550"/>
            <a:ext cx="4533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Category Policy Addendum: Beauty, sections on return window and opened-item restrictions.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936795-C5F8-46AC-8709-8F8BBE39D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43350"/>
            <a:ext cx="4953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93E706-83BB-4A04-AF31-B3C1FBDD5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4335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7C0B0D-5C58-4B24-8EA8-AF58152BE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957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Blocked hallucination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64D640-1053-400D-B3D9-AA029C9D9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400550"/>
            <a:ext cx="4533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The answer must not invent a 30-day or 45-day Beauty return window.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B93729-B039-4AD6-8586-7741F0255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11</a:t>
            </a:r>
          </a:p>
        </p:txBody>
      </p:sp>
    </p:spTree>
    <p:extLst>
      <p:ext uri="{BB962C8B-B14F-4D97-AF65-F5344CB8AC3E}">
        <p14:creationId xmlns:p14="http://schemas.microsoft.com/office/powerpoint/2010/main" val="107342341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B3B0C5-EE5C-4229-816A-DB5C50E45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D30F5B-86CE-45DE-956D-422BA6A69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Verification status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F66365-7063-4124-ACC4-B513CA88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A988BA-7574-425F-8054-DEDD2A190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47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1248BD-C35A-40E8-B484-D8DEF5004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717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Unit tests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144C39-8019-4D86-BA01-02AB32CBE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574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All unit tests pass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249081-1179-4FE0-822F-B1C0B476D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7145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5/5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163DE1-F6FF-4E2F-BD67-5A6419F4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1717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M4 eval cases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295DD8-5DCB-4941-B9AC-C0549A9CB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4574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Grounded policy eval passes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3E0138-DC2E-41B2-A0B5-6E5E8D3C4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145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D4ED8"/>
                </a:solidFill>
              </a:defRPr>
            </a:pPr>
            <a:r>
              <a:rPr sz="2550" b="1">
                <a:solidFill>
                  <a:srgbClr val="1D4ED8"/>
                </a:solidFill>
              </a:rPr>
              <a:t>60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1850E5-4D90-4B5F-9812-1D791B174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717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M1 holdout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8280E4-655E-4314-BE3E-F9983B664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574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Parsed tickets in latest report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D2BEC6-5281-416F-906E-3C3667682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145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5B21B6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5B21B6"/>
                </a:solidFill>
              </a:defRPr>
            </a:pPr>
            <a:r>
              <a:rPr sz="2550" b="1">
                <a:solidFill>
                  <a:srgbClr val="5B21B6"/>
                </a:solidFill>
              </a:rPr>
              <a:t>84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5D8EC7-BA4C-40E5-AE8A-AED3C118B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1717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Policy chunks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DA9905-E208-4C03-B477-D73B3FF70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4574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Indexed into Qdrant Cloud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C7CFA5-D076-4E3F-AD86-5056319FF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38600"/>
            <a:ext cx="8191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3C4A75-60F9-4BFA-A025-2B702ECC5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3860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637AF4-FD9A-4662-9522-A183F1EAB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191000"/>
            <a:ext cx="7772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Run commands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D46266-AB3D-44ED-9FC9-A6FC8AD3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495800"/>
            <a:ext cx="7772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python -m pytest tests/unit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python scripts/build_policy_index.py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python scripts/run_policy_eval.py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python -m capstone.workbench.app --port 8765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8993DA-209B-4539-A1A0-2B7CF2CF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12</a:t>
            </a:r>
          </a:p>
        </p:txBody>
      </p:sp>
    </p:spTree>
    <p:extLst>
      <p:ext uri="{BB962C8B-B14F-4D97-AF65-F5344CB8AC3E}">
        <p14:creationId xmlns:p14="http://schemas.microsoft.com/office/powerpoint/2010/main" val="5271538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1F14463-F883-48E8-A37B-72EF67C10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388B93-75F7-4F98-8B3D-7F5AD7ABC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Repository structure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87FC92-E7A8-4770-BD4E-A6920F32E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47EF00-B6EB-45B0-A586-D33D9B01A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19250"/>
            <a:ext cx="4762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60860C-0EE4-4F72-9616-D5AD824B9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1925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5F6F66-5520-4957-A387-A100000EB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71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Agents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E8E535-A1F7-43BF-A71A-CEE50D96F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76450"/>
            <a:ext cx="434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`intake_agent.py`, `action_agent.py`, `policy_agent.py`, `team/multi_agent.py`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9403B4-B9CC-487A-9431-532F9D378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81300"/>
            <a:ext cx="4762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9B5290-0A88-40DA-B0A3-8608EDA0B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8130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5EA5E7-51D8-4D23-9B66-843BE4AA1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337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Tools and schemas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6203ED-4EBC-4865-8271-6F4665B1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38500"/>
            <a:ext cx="434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Deterministic order/refund/shipping tools plus Pydantic models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FB27CC-BF5E-4F1E-A486-D7F5918D7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43350"/>
            <a:ext cx="4762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63399F-DA4D-4213-A363-DE9F222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4335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7FA272-1E22-4A36-85F7-9D57D9DE3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957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Memory and RAG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C1FE79-1A12-4925-BE5D-9947FF97D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00550"/>
            <a:ext cx="434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`memory/store.py`, `rag/policy_index.py`, `rag/hybrid.py`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CF420C-BE54-4CB9-AB90-F59ABFE42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19250"/>
            <a:ext cx="4095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41055B-169D-4174-8244-5B6A9EC0E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1925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A792B9-A1E4-4DAF-81ED-F36E72E3B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77165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MCP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EB7E3F-2B47-45BF-9E21-B2E08A8D7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07645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`mcp/tools.py` and `mcp/server.py` expose order/refund/shipping APIs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F0EC82-C9EC-420F-8230-BB446196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81300"/>
            <a:ext cx="4095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ECC87E-2731-484C-B8D1-0067F9259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8130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64748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5089FB-91ED-41D0-8C60-34BA6DAA3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93370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Workbench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72449D-11A6-4045-95FB-694C99D76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3850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Browser UI displays M1-M5 paths; M6 adds a testable team/API boundary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C38CC5-DCFE-4C7C-A5A2-8E8DBE492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43350"/>
            <a:ext cx="4095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AFEC13-8371-4193-BDB8-7404C4299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4335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3DAD3F-D2E7-42CE-B7A9-7D5F0665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09575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Remote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CC9B9C-C54A-45CE-B0B8-59219ABC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40055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github.com/abhraj786/iith-ai-capstone-shopsense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DB3F72-741D-4547-BB28-063B0417A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13</a:t>
            </a:r>
          </a:p>
        </p:txBody>
      </p:sp>
    </p:spTree>
    <p:extLst>
      <p:ext uri="{BB962C8B-B14F-4D97-AF65-F5344CB8AC3E}">
        <p14:creationId xmlns:p14="http://schemas.microsoft.com/office/powerpoint/2010/main" val="49632543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69013B-81D0-42B6-A20E-D127944E6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BEC57F-E27F-4287-AF3D-ADCA57F54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M5 LangGraph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7B18F5-703C-4A99-8985-4094EF401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D50A21-F257-4680-A268-C4670019C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49530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BFF8F3-2172-4C5C-974B-65085B6D5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5C09CB-870E-4210-A4B0-9D29150A6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335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Workflow path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CFC31C-D55A-45EA-9E22-435827EE6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38350"/>
            <a:ext cx="4533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triage -&gt; memory -&gt; policy-check -&gt; action-plan -&gt; conditional route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94233A-6E43-44E2-B8EE-ED2D5EBA6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9085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46CA1D-C75B-4FBB-B724-D05F50203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9085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0A66C1-2BA4-438C-A79D-CEAE9BA70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1432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Checkpointing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FF5A41-28D0-493B-9F03-06CBB9F24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48050"/>
            <a:ext cx="4533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LangGraph state is durably checkpointed in SQLite; JSON snapshots make each node inspectable.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6AB37A-E120-4A45-B9DB-25C43FA2B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81150"/>
            <a:ext cx="40957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07E1CF-45AC-4786-9FD7-6B5952A4F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811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825EE3-D685-4A07-AA7D-5323146D4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73355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Auto route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05C770-912C-49DF-871A-6FA6BB5F6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38350"/>
            <a:ext cx="3676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Low-risk cases can execute deterministic tools when `execute_actions=True`.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682A35-8D45-4DF6-9713-2DC74411B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90850"/>
            <a:ext cx="409575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950F03-C309-450F-895D-9F6619835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9085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5AB9CF-9EFF-4415-B3F1-F311AD831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4325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Human interrupt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753086-3BD7-4432-823D-1F698674F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448050"/>
            <a:ext cx="3676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Angry, distressed, critical, legal, safety or over-cap cases pause with interrupt() and resume via Command.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60F726-06F9-4B58-A8C4-A958A306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762500"/>
            <a:ext cx="68580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88869B-70FE-4805-8AC7-F7E23C0D6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933950"/>
            <a:ext cx="6515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E2E8F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status: human_approval_required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route: human_interrupt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trigger: legal_or_regulatory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66BE0C-386F-4565-AA75-4587F4EB3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14</a:t>
            </a:r>
          </a:p>
        </p:txBody>
      </p:sp>
    </p:spTree>
    <p:extLst>
      <p:ext uri="{BB962C8B-B14F-4D97-AF65-F5344CB8AC3E}">
        <p14:creationId xmlns:p14="http://schemas.microsoft.com/office/powerpoint/2010/main" val="203856940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869FCD-BDF4-4510-B6E8-997BBFEB6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4280BA-7FB5-44D0-84BB-E013CA0EC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M6 multi-agent team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0D59C7-CE45-49F4-905F-C818129FE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95484B-6A09-4776-B064-A9AB273BC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17CA22-ED3A-474B-A323-B787C548E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1C76A7-731F-470B-BF36-E80C7585B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Team agents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832D2D-4958-4B2C-9A47-393F7909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114550"/>
            <a:ext cx="4533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Triage, Memory, Policy RAG, Order-Actions and Escalation Reviewer agents expose clear ownership.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3BC88D-3723-4067-A044-E7A8D9263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3850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77BC9F-A2E3-45BB-815E-FC52D090A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3850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949234-4F8D-441B-B1E1-75BC7EE23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9090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MCP server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A4A16D-B2C4-48EE-82C8-C781DBDD0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95700"/>
            <a:ext cx="4533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Order/refund/shipping mock APIs are exposed through MCP and reuse the same deterministic M2 tool layer.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D9B5C1-2C7B-4560-8284-AC4C6F84D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962150"/>
            <a:ext cx="3714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02A43"/>
                </a:solidFill>
              </a:defRPr>
            </a:pPr>
            <a:r>
              <a:rPr sz="1950" b="1">
                <a:solidFill>
                  <a:srgbClr val="102A43"/>
                </a:solidFill>
              </a:rPr>
              <a:t>M6 keeps the working M5 spine, but makes the agent roles and tool boundary visible for evaluation.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6D7603-5E8E-46E2-A475-2C66975AA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71475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Tests verify scoped order access, refund calculation, legal escalation and shared chat/email tooling.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FC5DC6-47BB-4F33-B952-E9BAD470B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15</a:t>
            </a:r>
          </a:p>
        </p:txBody>
      </p:sp>
    </p:spTree>
    <p:extLst>
      <p:ext uri="{BB962C8B-B14F-4D97-AF65-F5344CB8AC3E}">
        <p14:creationId xmlns:p14="http://schemas.microsoft.com/office/powerpoint/2010/main" val="102579231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CE47B1-59B5-4930-A0C5-F8B2F263A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7A3D38-8ED5-49C8-B3ED-4DCBF832F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Next milestone: M7 tracing and reliability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748A22-D09F-4FA5-B44F-74BE42C50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B35A4C-D487-49C4-ADBE-6BCBF31D3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2D5C39-E9B0-44A9-B1C2-8B398828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C0299D-4CD6-4294-976F-F9D30B8F0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Expected M7 scope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1C3719-7FBD-4A2A-8853-238A4F11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114550"/>
            <a:ext cx="4533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Add LangFuse tracing for ticket-resolution flows and reliability hardening around flaky order APIs.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6DC525-D7D0-4E8E-99E9-659B66308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3850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D90244-5A52-4CC4-9FCA-66B4797CB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3850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29E201-78CF-4B13-89E1-2777C0577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9090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Reliability plan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5DABE0-C69D-4488-B36C-E009378F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95700"/>
            <a:ext cx="4533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Retries, fallbacks to human queue and a circuit breaker can wrap the same MCP/mock API tool boundary.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738792-B277-4151-8F44-1241BB88B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962150"/>
            <a:ext cx="3714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02A43"/>
                </a:solidFill>
              </a:defRPr>
            </a:pPr>
            <a:r>
              <a:rPr sz="1950" b="1">
                <a:solidFill>
                  <a:srgbClr val="102A43"/>
                </a:solidFill>
              </a:rPr>
              <a:t>M6 gives us clean tool edges. M7 can trace each agent/tool call and harden failures without changing business rules.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A41D0B-CA1D-47B2-891C-AC7DDDC1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90525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The evaluator can now inspect both role-level outputs and MCP-exposed tool behavior.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669BF1-3090-4EEC-BD34-C7492804C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16</a:t>
            </a:r>
          </a:p>
        </p:txBody>
      </p:sp>
    </p:spTree>
    <p:extLst>
      <p:ext uri="{BB962C8B-B14F-4D97-AF65-F5344CB8AC3E}">
        <p14:creationId xmlns:p14="http://schemas.microsoft.com/office/powerpoint/2010/main" val="18194776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2026-10-12T12:10:45.6620000Z</dcterms:created>
  <dcterms:modified xsi:type="dcterms:W3CDTF">2026-10-12T12:10:45.6620000Z</dcterms:modified>
</coreProperties>
</file>