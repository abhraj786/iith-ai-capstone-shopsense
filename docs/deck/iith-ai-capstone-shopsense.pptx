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20, M7 8, M8 3.</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with ticket B: the same ticket now leaves a trace. Open Langfuse: seven spans, Triage and Supervisor shown as generations with model, tokens and cost (about 0.05 cents for the ticket).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1.5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M7 complete, M8 in progress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MCP then Python</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1280160"/>
            <a:ext cx="11247120" cy="365760"/>
          </a:xfrm>
          <a:prstGeom prst="rect">
            <a:avLst/>
          </a:prstGeom>
          <a:noFill/>
        </p:spPr>
        <p:txBody>
          <a:bodyPr wrap="square" lIns="45720" rIns="45720">
            <a:spAutoFit/>
          </a:bodyPr>
          <a:lstStyle/>
          <a:p>
            <a:pPr>
              <a:spcAft>
                <a:spcPts val="600"/>
              </a:spcAft>
            </a:pPr>
            <a:r>
              <a:rPr sz="1200" b="1">
                <a:solidFill>
                  <a:srgbClr val="142B4D"/>
                </a:solidFill>
                <a:latin typeface="Calibri"/>
              </a:rPr>
              <a:t>Wrapped by:  M5 LangGraph (human interrupt)  |  M6 supervised agent team  |  M7 tracing + fallback  |  M8 /chat + golden eval</a:t>
            </a:r>
          </a:p>
        </p:txBody>
      </p:sp>
      <p:sp>
        <p:nvSpPr>
          <p:cNvPr id="27" name="TextBox 26"/>
          <p:cNvSpPr txBox="1"/>
          <p:nvPr/>
        </p:nvSpPr>
        <p:spPr>
          <a:xfrm>
            <a:off x="457200" y="5138928"/>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(A: KW-O-000000, B: KW-O-000010, C: KW-O-000950), SAME CODE FOR ALL</a:t>
            </a:r>
          </a:p>
        </p:txBody>
      </p:sp>
      <p:graphicFrame>
        <p:nvGraphicFramePr>
          <p:cNvPr id="28" name="Table 27"/>
          <p:cNvGraphicFramePr>
            <a:graphicFrameLocks noGrp="1"/>
          </p:cNvGraphicFramePr>
          <p:nvPr/>
        </p:nvGraphicFramePr>
        <p:xfrm>
          <a:off x="457200" y="5394960"/>
          <a:ext cx="11247120" cy="950976"/>
        </p:xfrm>
        <a:graphic>
          <a:graphicData uri="http://schemas.openxmlformats.org/drawingml/2006/table">
            <a:tbl>
              <a:tblPr firstRow="1" bandRow="1">
                <a:tableStyleId>{5C22544A-7EE6-4342-B048-85BDC9FD1C3A}</a:tableStyleId>
              </a:tblPr>
              <a:tblGrid>
                <a:gridCol w="2194560"/>
                <a:gridCol w="2651760"/>
                <a:gridCol w="2743200"/>
                <a:gridCol w="1737360"/>
                <a:gridCol w="1920240"/>
              </a:tblGrid>
              <a:tr h="237744">
                <a:tc>
                  <a:txBody>
                    <a:bodyPr wrap="square"/>
                    <a:lstStyle/>
                    <a:p>
                      <a:pPr>
                        <a:spcAft>
                          <a:spcPts val="0"/>
                        </a:spcAft>
                      </a:pPr>
                      <a:r>
                        <a:rPr sz="950" b="1">
                          <a:solidFill>
                            <a:srgbClr val="FFFFFF"/>
                          </a:solidFill>
                          <a:latin typeface="Calibri"/>
                        </a:rPr>
                        <a:t>Ticket</a:t>
                      </a:r>
                    </a:p>
                  </a:txBody>
                  <a:tcPr marT="36576" marB="36576">
                    <a:solidFill>
                      <a:srgbClr val="142B4D"/>
                    </a:solidFill>
                  </a:tcPr>
                </a:tc>
                <a:tc>
                  <a:txBody>
                    <a:bodyPr wrap="square"/>
                    <a:lstStyle/>
                    <a:p>
                      <a:pPr>
                        <a:spcAft>
                          <a:spcPts val="0"/>
                        </a:spcAft>
                      </a:pPr>
                      <a:r>
                        <a:rPr sz="950" b="1">
                          <a:solidFill>
                            <a:srgbClr val="FFFFFF"/>
                          </a:solidFill>
                          <a:latin typeface="Calibri"/>
                        </a:rPr>
                        <a:t>M1 reads</a:t>
                      </a:r>
                    </a:p>
                  </a:txBody>
                  <a:tcPr marT="36576" marB="36576">
                    <a:solidFill>
                      <a:srgbClr val="142B4D"/>
                    </a:solidFill>
                  </a:tcPr>
                </a:tc>
                <a:tc>
                  <a:txBody>
                    <a:bodyPr wrap="square"/>
                    <a:lstStyle/>
                    <a:p>
                      <a:pPr>
                        <a:spcAft>
                          <a:spcPts val="0"/>
                        </a:spcAft>
                      </a:pPr>
                      <a:r>
                        <a:rPr sz="9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950" b="1">
                          <a:solidFill>
                            <a:srgbClr val="FFFFFF"/>
                          </a:solidFill>
                          <a:latin typeface="Calibri"/>
                        </a:rPr>
                        <a:t>M5 workflow</a:t>
                      </a:r>
                    </a:p>
                  </a:txBody>
                  <a:tcPr marT="36576" marB="36576">
                    <a:solidFill>
                      <a:srgbClr val="142B4D"/>
                    </a:solidFill>
                  </a:tcPr>
                </a:tc>
                <a:tc>
                  <a:txBody>
                    <a:bodyPr wrap="square"/>
                    <a:lstStyle/>
                    <a:p>
                      <a:pPr>
                        <a:spcAft>
                          <a:spcPts val="0"/>
                        </a:spcAft>
                      </a:pPr>
                      <a:r>
                        <a:rPr sz="950" b="1">
                          <a:solidFill>
                            <a:srgbClr val="FFFFFF"/>
                          </a:solidFill>
                          <a:latin typeface="Calibri"/>
                        </a:rPr>
                        <a:t>M6 route</a:t>
                      </a:r>
                    </a:p>
                  </a:txBody>
                  <a:tcPr marT="36576" marB="36576">
                    <a:solidFill>
                      <a:srgbClr val="142B4D"/>
                    </a:solidFill>
                  </a:tcPr>
                </a:tc>
              </a:tr>
              <a:tr h="237744">
                <a:tc>
                  <a:txBody>
                    <a:bodyPr wrap="square"/>
                    <a:lstStyle/>
                    <a:p>
                      <a:pPr>
                        <a:spcAft>
                          <a:spcPts val="0"/>
                        </a:spcAft>
                      </a:pPr>
                      <a:r>
                        <a:rPr sz="950" b="0">
                          <a:solidFill>
                            <a:srgbClr val="222B38"/>
                          </a:solidFill>
                          <a:latin typeface="Calibri"/>
                        </a:rPr>
                        <a:t>A  Hostile, Rs 12,999</a:t>
                      </a:r>
                    </a:p>
                  </a:txBody>
                  <a:tcPr marT="36576" marB="36576">
                    <a:solidFill>
                      <a:srgbClr val="EEF3F8"/>
                    </a:solidFill>
                  </a:tcPr>
                </a:tc>
                <a:tc>
                  <a:txBody>
                    <a:bodyPr wrap="square"/>
                    <a:lstStyle/>
                    <a:p>
                      <a:pPr>
                        <a:spcAft>
                          <a:spcPts val="0"/>
                        </a:spcAft>
                      </a:pPr>
                      <a:r>
                        <a:rPr sz="9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9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full, then human</a:t>
                      </a:r>
                    </a:p>
                  </a:txBody>
                  <a:tcPr marT="36576" marB="36576">
                    <a:solidFill>
                      <a:srgbClr val="EEF3F8"/>
                    </a:solidFill>
                  </a:tcPr>
                </a:tc>
              </a:tr>
              <a:tr h="237744">
                <a:tc>
                  <a:txBody>
                    <a:bodyPr wrap="square"/>
                    <a:lstStyle/>
                    <a:p>
                      <a:pPr>
                        <a:spcAft>
                          <a:spcPts val="0"/>
                        </a:spcAft>
                      </a:pPr>
                      <a:r>
                        <a:rPr sz="950" b="0">
                          <a:solidFill>
                            <a:srgbClr val="222B38"/>
                          </a:solidFill>
                          <a:latin typeface="Calibri"/>
                        </a:rPr>
                        <a:t>B  Plain tracking</a:t>
                      </a:r>
                    </a:p>
                  </a:txBody>
                  <a:tcPr marT="36576" marB="36576">
                    <a:solidFill>
                      <a:srgbClr val="FFFFFF"/>
                    </a:solidFill>
                  </a:tcPr>
                </a:tc>
                <a:tc>
                  <a:txBody>
                    <a:bodyPr wrap="square"/>
                    <a:lstStyle/>
                    <a:p>
                      <a:pPr>
                        <a:spcAft>
                          <a:spcPts val="0"/>
                        </a:spcAft>
                      </a:pPr>
                      <a:r>
                        <a:rPr sz="9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9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950" b="0">
                          <a:solidFill>
                            <a:srgbClr val="222B38"/>
                          </a:solidFill>
                          <a:latin typeface="Calibri"/>
                        </a:rPr>
                        <a:t>auto-resolves</a:t>
                      </a:r>
                    </a:p>
                  </a:txBody>
                  <a:tcPr marT="36576" marB="36576">
                    <a:solidFill>
                      <a:srgbClr val="FFFFFF"/>
                    </a:solidFill>
                  </a:tcPr>
                </a:tc>
                <a:tc>
                  <a:txBody>
                    <a:bodyPr wrap="square"/>
                    <a:lstStyle/>
                    <a:p>
                      <a:pPr>
                        <a:spcAft>
                          <a:spcPts val="0"/>
                        </a:spcAft>
                      </a:pPr>
                      <a:r>
                        <a:rPr sz="950" b="0">
                          <a:solidFill>
                            <a:srgbClr val="222B38"/>
                          </a:solidFill>
                          <a:latin typeface="Calibri"/>
                        </a:rPr>
                        <a:t>fast_track, no policy</a:t>
                      </a:r>
                    </a:p>
                  </a:txBody>
                  <a:tcPr marT="36576" marB="36576">
                    <a:solidFill>
                      <a:srgbClr val="FFFFFF"/>
                    </a:solidFill>
                  </a:tcPr>
                </a:tc>
              </a:tr>
              <a:tr h="237744">
                <a:tc>
                  <a:txBody>
                    <a:bodyPr wrap="square"/>
                    <a:lstStyle/>
                    <a:p>
                      <a:pPr>
                        <a:spcAft>
                          <a:spcPts val="0"/>
                        </a:spcAft>
                      </a:pPr>
                      <a:r>
                        <a:rPr sz="950" b="0">
                          <a:solidFill>
                            <a:srgbClr val="222B38"/>
                          </a:solidFill>
                          <a:latin typeface="Calibri"/>
                        </a:rPr>
                        <a:t>C  Court threat</a:t>
                      </a:r>
                    </a:p>
                  </a:txBody>
                  <a:tcPr marT="36576" marB="36576">
                    <a:solidFill>
                      <a:srgbClr val="EEF3F8"/>
                    </a:solidFill>
                  </a:tcPr>
                </a:tc>
                <a:tc>
                  <a:txBody>
                    <a:bodyPr wrap="square"/>
                    <a:lstStyle/>
                    <a:p>
                      <a:pPr>
                        <a:spcAft>
                          <a:spcPts val="0"/>
                        </a:spcAft>
                      </a:pPr>
                      <a:r>
                        <a:rPr sz="9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escalate_now, human</a:t>
                      </a:r>
                    </a:p>
                  </a:txBody>
                  <a:tcPr marT="36576" marB="36576">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57800"/>
            <a:ext cx="4709160" cy="502920"/>
          </a:xfrm>
          <a:prstGeom prst="rect">
            <a:avLst/>
          </a:prstGeom>
          <a:noFill/>
        </p:spPr>
        <p:txBody>
          <a:bodyPr wrap="square" lIns="45720" rIns="45720">
            <a:spAutoFit/>
          </a:bodyPr>
          <a:lstStyle/>
          <a:p>
            <a:pPr>
              <a:spcAft>
                <a:spcPts val="600"/>
              </a:spcAft>
            </a:pPr>
            <a:r>
              <a:rPr sz="1100" b="1">
                <a:solidFill>
                  <a:srgbClr val="142B4D"/>
                </a:solidFill>
                <a:latin typeface="Calibri"/>
              </a:rPr>
              <a:t>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7  |  TRACING AND RELIABILITY, TICKET B (PLAIN TRACKING)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every step is traced, and failures end at a person</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7240" y="2468879"/>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 track_shipment</a:t>
            </a:r>
          </a:p>
        </p:txBody>
      </p:sp>
      <p:cxnSp>
        <p:nvCxnSpPr>
          <p:cNvPr id="21" name="Connector 20"/>
          <p:cNvCxnSpPr/>
          <p:nvPr/>
        </p:nvCxnSpPr>
        <p:spPr>
          <a:xfrm>
            <a:off x="1874519" y="2926079"/>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MCP call</a:t>
            </a:r>
          </a:p>
        </p:txBody>
      </p:sp>
      <p:cxnSp>
        <p:nvCxnSpPr>
          <p:cNvPr id="23" name="Connector 22"/>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3 MCP down: run here</a:t>
            </a:r>
          </a:p>
        </p:txBody>
      </p:sp>
      <p:sp>
        <p:nvSpPr>
          <p:cNvPr id="25" name="Rounded Rectangle 24"/>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Result says failover: python</a:t>
            </a:r>
          </a:p>
        </p:txBody>
      </p:sp>
      <p:cxnSp>
        <p:nvCxnSpPr>
          <p:cNvPr id="27" name="Connector 26"/>
          <p:cNvCxnSpPr/>
          <p:nvPr/>
        </p:nvCxnSpPr>
        <p:spPr>
          <a:xfrm>
            <a:off x="1874519" y="4297680"/>
            <a:ext cx="3291841"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Still failing or breaker open</a:t>
            </a:r>
          </a:p>
        </p:txBody>
      </p:sp>
      <p:cxnSp>
        <p:nvCxnSpPr>
          <p:cNvPr id="29" name="Connector 28"/>
          <p:cNvCxnSpPr/>
          <p:nvPr/>
        </p:nvCxnSpPr>
        <p:spPr>
          <a:xfrm>
            <a:off x="777240" y="4754880"/>
            <a:ext cx="5486400" cy="0"/>
          </a:xfrm>
          <a:prstGeom prst="line">
            <a:avLst/>
          </a:prstGeom>
          <a:ln w="25400">
            <a:solidFill>
              <a:srgbClr val="0F8B8D"/>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6 Spans, tokens, cost (batched)</a:t>
            </a:r>
          </a:p>
        </p:txBody>
      </p:sp>
      <p:sp>
        <p:nvSpPr>
          <p:cNvPr id="31" name="Rounded Rectangle 30"/>
          <p:cNvSpPr/>
          <p:nvPr/>
        </p:nvSpPr>
        <p:spPr>
          <a:xfrm>
            <a:off x="274320" y="4892040"/>
            <a:ext cx="3566160" cy="31089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7 LLM down: /chat queues the case</a:t>
            </a:r>
          </a:p>
        </p:txBody>
      </p:sp>
      <p:sp>
        <p:nvSpPr>
          <p:cNvPr id="33" name="TextBox 32"/>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TICKET B, LIVE (GEMINI, MCP DEFAULT)</a:t>
            </a:r>
          </a:p>
        </p:txBody>
      </p:sp>
      <p:sp>
        <p:nvSpPr>
          <p:cNvPr id="34" name="Rounded Rectangle 33"/>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What the run showed</a:t>
            </a:r>
          </a:p>
          <a:p>
            <a:pPr>
              <a:spcAft>
                <a:spcPts val="200"/>
              </a:spcAft>
            </a:pPr>
            <a:r>
              <a:rPr sz="1000" b="0">
                <a:solidFill>
                  <a:srgbClr val="222B38"/>
                </a:solidFill>
                <a:latin typeface="Calibri"/>
              </a:rPr>
              <a:t>7 spans reached Langfuse. Triage and Supervisor are generations: 730 / 128 tokens ($0.00054) and 287 / 46 ($0.00020).</a:t>
            </a:r>
          </a:p>
          <a:p>
            <a:pPr>
              <a:spcAft>
                <a:spcPts val="200"/>
              </a:spcAft>
            </a:pPr>
            <a:r>
              <a:rPr sz="1000" b="0">
                <a:solidFill>
                  <a:srgbClr val="222B38"/>
                </a:solidFill>
                <a:latin typeface="Calibri"/>
              </a:rPr>
              <a:t>MCP unreachable: the ticket still resolved, the result says failover. LLM unavailable: /chat answered 200 and queued the case (KW-HQ-00003).</a:t>
            </a:r>
          </a:p>
        </p:txBody>
      </p:sp>
      <p:sp>
        <p:nvSpPr>
          <p:cNvPr id="36" name="TextBox 35"/>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M7 GUARANTEES</a:t>
            </a:r>
          </a:p>
        </p:txBody>
      </p:sp>
      <p:graphicFrame>
        <p:nvGraphicFramePr>
          <p:cNvPr id="37" name="Table 36"/>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240280"/>
                <a:gridCol w="246888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Retries only for transient errors</a:t>
                      </a:r>
                    </a:p>
                  </a:txBody>
                  <a:tcPr marT="36576" marB="36576">
                    <a:solidFill>
                      <a:srgbClr val="EEF3F8"/>
                    </a:solidFill>
                  </a:tcPr>
                </a:tc>
                <a:tc>
                  <a:txBody>
                    <a:bodyPr wrap="square"/>
                    <a:lstStyle/>
                    <a:p>
                      <a:pPr>
                        <a:spcAft>
                          <a:spcPts val="0"/>
                        </a:spcAft>
                      </a:pPr>
                      <a:r>
                        <a:rPr sz="1000" b="0">
                          <a:solidFill>
                            <a:srgbClr val="222B38"/>
                          </a:solidFill>
                          <a:latin typeface="Calibri"/>
                        </a:rPr>
                        <a:t>backoff; malformed goes to a human</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Breaker</a:t>
                      </a:r>
                    </a:p>
                  </a:txBody>
                  <a:tcPr marT="36576" marB="36576">
                    <a:solidFill>
                      <a:srgbClr val="FFFFFF"/>
                    </a:solidFill>
                  </a:tcPr>
                </a:tc>
                <a:tc>
                  <a:txBody>
                    <a:bodyPr wrap="square"/>
                    <a:lstStyle/>
                    <a:p>
                      <a:pPr>
                        <a:spcAft>
                          <a:spcPts val="0"/>
                        </a:spcAft>
                      </a:pPr>
                      <a:r>
                        <a:rPr sz="1000" b="0">
                          <a:solidFill>
                            <a:srgbClr val="222B38"/>
                          </a:solidFill>
                          <a:latin typeface="Calibri"/>
                        </a:rPr>
                        <a:t>half-open: one trial call</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200 seeded calls</a:t>
                      </a:r>
                    </a:p>
                  </a:txBody>
                  <a:tcPr marT="36576" marB="36576">
                    <a:solidFill>
                      <a:srgbClr val="EEF3F8"/>
                    </a:solidFill>
                  </a:tcPr>
                </a:tc>
                <a:tc>
                  <a:txBody>
                    <a:bodyPr wrap="square"/>
                    <a:lstStyle/>
                    <a:p>
                      <a:pPr>
                        <a:spcAft>
                          <a:spcPts val="0"/>
                        </a:spcAft>
                      </a:pPr>
                      <a:r>
                        <a:rPr sz="1000" b="0">
                          <a:solidFill>
                            <a:srgbClr val="222B38"/>
                          </a:solidFill>
                          <a:latin typeface="Calibri"/>
                        </a:rPr>
                        <a:t>57% clean, then 179 + 21 to a human</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Dead tool</a:t>
                      </a:r>
                    </a:p>
                  </a:txBody>
                  <a:tcPr marT="36576" marB="36576">
                    <a:solidFill>
                      <a:srgbClr val="FFFFFF"/>
                    </a:solidFill>
                  </a:tcPr>
                </a:tc>
                <a:tc>
                  <a:txBody>
                    <a:bodyPr wrap="square"/>
                    <a:lstStyle/>
                    <a:p>
                      <a:pPr>
                        <a:spcAft>
                          <a:spcPts val="0"/>
                        </a:spcAft>
                      </a:pPr>
                      <a:r>
                        <a:rPr sz="1000" b="0">
                          <a:solidFill>
                            <a:srgbClr val="222B38"/>
                          </a:solidFill>
                          <a:latin typeface="Calibri"/>
                        </a:rPr>
                        <a:t>3 real calls, 7 short-circuited</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Tracing cost</a:t>
                      </a:r>
                    </a:p>
                  </a:txBody>
                  <a:tcPr marT="36576" marB="36576">
                    <a:solidFill>
                      <a:srgbClr val="EEF3F8"/>
                    </a:solidFill>
                  </a:tcPr>
                </a:tc>
                <a:tc>
                  <a:txBody>
                    <a:bodyPr wrap="square"/>
                    <a:lstStyle/>
                    <a:p>
                      <a:pPr>
                        <a:spcAft>
                          <a:spcPts val="0"/>
                        </a:spcAft>
                      </a:pPr>
                      <a:r>
                        <a:rPr sz="1000" b="0">
                          <a:solidFill>
                            <a:srgbClr val="222B38"/>
                          </a:solidFill>
                          <a:latin typeface="Calibri"/>
                        </a:rPr>
                        <a:t>+1.3 ms per ticket</a:t>
                      </a:r>
                    </a:p>
                  </a:txBody>
                  <a:tcPr marT="36576" marB="36576">
                    <a:solidFill>
                      <a:srgbClr val="EEF3F8"/>
                    </a:solidFill>
                  </a:tcPr>
                </a:tc>
              </a:tr>
            </a:tbl>
          </a:graphicData>
        </a:graphic>
      </p:graphicFrame>
      <p:sp>
        <p:nvSpPr>
          <p:cNvPr id="38" name="TextBox 37"/>
          <p:cNvSpPr txBox="1"/>
          <p:nvPr/>
        </p:nvSpPr>
        <p:spPr>
          <a:xfrm>
            <a:off x="6949440" y="5257800"/>
            <a:ext cx="4709160" cy="502920"/>
          </a:xfrm>
          <a:prstGeom prst="rect">
            <a:avLst/>
          </a:prstGeom>
          <a:noFill/>
        </p:spPr>
        <p:txBody>
          <a:bodyPr wrap="square" lIns="45720" rIns="45720">
            <a:spAutoFit/>
          </a:bodyPr>
          <a:lstStyle/>
          <a:p>
            <a:pPr>
              <a:spcAft>
                <a:spcPts val="600"/>
              </a:spcAft>
            </a:pPr>
            <a:r>
              <a:rPr sz="1100" b="1">
                <a:solidFill>
                  <a:srgbClr val="142B4D"/>
                </a:solidFill>
                <a:latin typeface="Calibri"/>
              </a:rPr>
              <a:t>Found by measuring: a Langfuse flush per ticket cost 200 ms. Now batched.</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8 AND 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M8 and 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93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Supervisor has a menu, not the lab's free star</a:t>
            </a:r>
          </a:p>
          <a:p>
            <a:pPr>
              <a:spcAft>
                <a:spcPts val="300"/>
              </a:spcAft>
            </a:pPr>
            <a:r>
              <a:rPr sz="1100" b="0">
                <a:solidFill>
                  <a:srgbClr val="222B38"/>
                </a:solidFill>
                <a:latin typeface="Calibri"/>
              </a:rPr>
              <a:t>•  Docker not exercised</a:t>
            </a:r>
          </a:p>
        </p:txBody>
      </p:sp>
      <p:sp>
        <p:nvSpPr>
          <p:cNvPr id="12" name="Rounded Rectangle 11"/>
          <p:cNvSpPr/>
          <p:nvPr/>
        </p:nvSpPr>
        <p:spPr>
          <a:xfrm>
            <a:off x="4983480" y="3063240"/>
            <a:ext cx="6675120" cy="77724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3090672"/>
            <a:ext cx="6492240" cy="731520"/>
          </a:xfrm>
          <a:prstGeom prst="rect">
            <a:avLst/>
          </a:prstGeom>
          <a:noFill/>
        </p:spPr>
        <p:txBody>
          <a:bodyPr wrap="square" lIns="45720" rIns="45720">
            <a:spAutoFit/>
          </a:bodyPr>
          <a:lstStyle/>
          <a:p>
            <a:pPr>
              <a:spcAft>
                <a:spcPts val="100"/>
              </a:spcAft>
            </a:pPr>
            <a:r>
              <a:rPr sz="1000" b="1">
                <a:solidFill>
                  <a:srgbClr val="0F8B8D"/>
                </a:solidFill>
                <a:latin typeface="Calibri"/>
              </a:rPr>
              <a:t>M8 package (first version, still being checked against its lab)</a:t>
            </a:r>
          </a:p>
          <a:p>
            <a:pPr>
              <a:spcAft>
                <a:spcPts val="100"/>
              </a:spcAft>
            </a:pPr>
            <a:r>
              <a:rPr sz="1000" b="0">
                <a:solidFill>
                  <a:srgbClr val="222B38"/>
                </a:solidFill>
                <a:latin typeface="Calibri"/>
              </a:rPr>
              <a:t>FastAPI /chat and /health; 20-case golden set, 20 of 20 stored and live. Blocked tickets return 200 plus human review.</a:t>
            </a:r>
          </a:p>
        </p:txBody>
      </p:sp>
      <p:graphicFrame>
        <p:nvGraphicFramePr>
          <p:cNvPr id="14" name="Table 13"/>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93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050" b="0">
                          <a:solidFill>
                            <a:srgbClr val="222B38"/>
                          </a:solidFill>
                          <a:latin typeface="Calibri"/>
                        </a:rPr>
                        <a:t>/chat decisions for 7 cases</a:t>
                      </a:r>
                    </a:p>
                  </a:txBody>
                  <a:tcPr marT="36576" marB="36576">
                    <a:solidFill>
                      <a:srgbClr val="FFFFFF"/>
                    </a:solidFill>
                  </a:tcPr>
                </a:tc>
              </a:tr>
            </a:tbl>
          </a:graphicData>
        </a:graphic>
      </p:graphicFrame>
      <p:sp>
        <p:nvSpPr>
          <p:cNvPr id="15" name="Rounded Rectangle 14"/>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93 tests, 20 golden cases.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