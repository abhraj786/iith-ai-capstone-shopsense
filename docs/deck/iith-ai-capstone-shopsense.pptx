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utterances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Utterance B: calm, issue track_order, no escalation signals, no amount, order id found in the text. Utterance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utterance)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Utterance B: track_order, so the rules call the read-only shipment lookup and no human is needed. Utterance C: the legal_or_regulatory signal is on the priority list, so the plan is flag_for_human straight away. Same rules as utterance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utterance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Utterances B and C are first contacts with empty memory, so contact number is 1 and no repeat flag is added. Memory has nothing special to say about them; the story is utterance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utterance)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Utterance B needs no policy answer for tracking, and the live answer was off-topic (shipping address rules), which is why M6 skips this step for such tickets. Utterance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Utterance B auto-resolves without a pause: status auto_resolved_proposed, 5 checkpoints. Utterance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utterance)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(utterances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777240"/>
            <a:ext cx="7315200" cy="365760"/>
          </a:xfrm>
          <a:prstGeom prst="rect">
            <a:avLst/>
          </a:prstGeom>
          <a:noFill/>
        </p:spPr>
        <p:txBody>
          <a:bodyPr wrap="square" lIns="45720" rIns="45720">
            <a:spAutoFit/>
          </a:bodyPr>
          <a:lstStyle/>
          <a:p>
            <a:pPr>
              <a:spcAft>
                <a:spcPts val="0"/>
              </a:spcAft>
            </a:pPr>
            <a:r>
              <a:rPr sz="1600" b="1">
                <a:solidFill>
                  <a:srgbClr val="FFFFFF"/>
                </a:solidFill>
                <a:latin typeface="Calibri"/>
              </a:rPr>
              <a:t>INDIAN INSTITUTE OF TECHNOLOGY HYDERABAD</a:t>
            </a:r>
          </a:p>
        </p:txBody>
      </p:sp>
      <p:sp>
        <p:nvSpPr>
          <p:cNvPr id="6" name="TextBox 5"/>
          <p:cNvSpPr txBox="1"/>
          <p:nvPr/>
        </p:nvSpPr>
        <p:spPr>
          <a:xfrm>
            <a:off x="777240" y="1143000"/>
            <a:ext cx="7315200" cy="320040"/>
          </a:xfrm>
          <a:prstGeom prst="rect">
            <a:avLst/>
          </a:prstGeom>
          <a:noFill/>
        </p:spPr>
        <p:txBody>
          <a:bodyPr wrap="square" lIns="45720" rIns="45720">
            <a:spAutoFit/>
          </a:bodyPr>
          <a:lstStyle/>
          <a:p>
            <a:pPr>
              <a:spcAft>
                <a:spcPts val="0"/>
              </a:spcAft>
            </a:pPr>
            <a:r>
              <a:rPr sz="1400" b="0">
                <a:solidFill>
                  <a:srgbClr val="B8C7DA"/>
                </a:solidFill>
                <a:latin typeface="Calibri"/>
              </a:rPr>
              <a:t>Department of Computer Science &amp; Engineering</a:t>
            </a:r>
          </a:p>
        </p:txBody>
      </p:sp>
      <p:sp>
        <p:nvSpPr>
          <p:cNvPr id="7" name="TextBox 6"/>
          <p:cNvSpPr txBox="1"/>
          <p:nvPr/>
        </p:nvSpPr>
        <p:spPr>
          <a:xfrm>
            <a:off x="777240" y="1508760"/>
            <a:ext cx="7315200" cy="320040"/>
          </a:xfrm>
          <a:prstGeom prst="rect">
            <a:avLst/>
          </a:prstGeom>
          <a:noFill/>
        </p:spPr>
        <p:txBody>
          <a:bodyPr wrap="square" lIns="45720" rIns="45720">
            <a:spAutoFit/>
          </a:bodyPr>
          <a:lstStyle/>
          <a:p>
            <a:pPr>
              <a:spcAft>
                <a:spcPts val="0"/>
              </a:spcAft>
            </a:pPr>
            <a:r>
              <a:rPr sz="1200" b="1">
                <a:solidFill>
                  <a:srgbClr val="90D0FE"/>
                </a:solidFill>
                <a:latin typeface="Calibri"/>
              </a:rPr>
              <a:t>APPLIED AI PROFESSIONAL CERTIFICATION PROGRAM  |  CAPSTONE PROJECT</a:t>
            </a:r>
          </a:p>
        </p:txBody>
      </p:sp>
      <p:sp>
        <p:nvSpPr>
          <p:cNvPr id="8" name="TextBox 7"/>
          <p:cNvSpPr txBox="1"/>
          <p:nvPr/>
        </p:nvSpPr>
        <p:spPr>
          <a:xfrm>
            <a:off x="777240" y="210312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9" name="TextBox 8"/>
          <p:cNvSpPr txBox="1"/>
          <p:nvPr/>
        </p:nvSpPr>
        <p:spPr>
          <a:xfrm>
            <a:off x="777240" y="3200400"/>
            <a:ext cx="6766560" cy="914400"/>
          </a:xfrm>
          <a:prstGeom prst="rect">
            <a:avLst/>
          </a:prstGeom>
          <a:noFill/>
        </p:spPr>
        <p:txBody>
          <a:bodyPr wrap="square" lIns="45720" rIns="45720">
            <a:spAutoFit/>
          </a:bodyPr>
          <a:lstStyle/>
          <a:p>
            <a:pPr>
              <a:spcAft>
                <a:spcPts val="600"/>
              </a:spcAft>
            </a:pPr>
            <a:r>
              <a:rPr sz="2200" b="0">
                <a:solidFill>
                  <a:srgbClr val="FFFFFF"/>
                </a:solidFill>
                <a:latin typeface="Calibri"/>
              </a:rPr>
              <a:t>A customer-care assistant that acts safely, or hands off to a human</a:t>
            </a:r>
          </a:p>
        </p:txBody>
      </p:sp>
      <p:sp>
        <p:nvSpPr>
          <p:cNvPr id="10" name="Rectangle 9"/>
          <p:cNvSpPr/>
          <p:nvPr/>
        </p:nvSpPr>
        <p:spPr>
          <a:xfrm>
            <a:off x="822960" y="425196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343400"/>
            <a:ext cx="6949440" cy="274320"/>
          </a:xfrm>
          <a:prstGeom prst="rect">
            <a:avLst/>
          </a:prstGeom>
          <a:noFill/>
        </p:spPr>
        <p:txBody>
          <a:bodyPr wrap="square" lIns="45720" rIns="45720">
            <a:spAutoFit/>
          </a:bodyPr>
          <a:lstStyle/>
          <a:p>
            <a:pPr>
              <a:spcAft>
                <a:spcPts val="0"/>
              </a:spcAft>
            </a:pPr>
            <a:r>
              <a:rPr sz="1100" b="1">
                <a:solidFill>
                  <a:srgbClr val="90D0FE"/>
                </a:solidFill>
                <a:latin typeface="Calibri"/>
              </a:rPr>
              <a:t>SUBMITTED BY</a:t>
            </a:r>
          </a:p>
        </p:txBody>
      </p:sp>
      <p:sp>
        <p:nvSpPr>
          <p:cNvPr id="12" name="TextBox 11"/>
          <p:cNvSpPr txBox="1"/>
          <p:nvPr/>
        </p:nvSpPr>
        <p:spPr>
          <a:xfrm>
            <a:off x="777240" y="461772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3" name="TextBox 12"/>
          <p:cNvSpPr txBox="1"/>
          <p:nvPr/>
        </p:nvSpPr>
        <p:spPr>
          <a:xfrm>
            <a:off x="777240" y="5120640"/>
            <a:ext cx="6949440" cy="365760"/>
          </a:xfrm>
          <a:prstGeom prst="rect">
            <a:avLst/>
          </a:prstGeom>
          <a:noFill/>
        </p:spPr>
        <p:txBody>
          <a:bodyPr wrap="square" lIns="45720" rIns="45720">
            <a:spAutoFit/>
          </a:bodyPr>
          <a:lstStyle/>
          <a:p>
            <a:pPr>
              <a:spcAft>
                <a:spcPts val="600"/>
              </a:spcAft>
            </a:pPr>
            <a:r>
              <a:rPr sz="1600" b="0">
                <a:solidFill>
                  <a:srgbClr val="B8C7DA"/>
                </a:solidFill>
                <a:latin typeface="Calibri"/>
              </a:rPr>
              <a:t>Lead Member of Technical Staff, Salesforce</a:t>
            </a:r>
          </a:p>
        </p:txBody>
      </p:sp>
      <p:sp>
        <p:nvSpPr>
          <p:cNvPr id="14" name="Rounded Rectangle 13"/>
          <p:cNvSpPr/>
          <p:nvPr/>
        </p:nvSpPr>
        <p:spPr>
          <a:xfrm>
            <a:off x="822960" y="576072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80644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utterance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UTTERANCES WE FOLLOW, SAME CODE FOR ALL  (bar colour = where it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Utterance</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UTTERANCES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utterance,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UTTERANCES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Utterance,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utterances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UTTERANCES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utterance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UTTERANCE: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utterance)</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Utterance B (tracking) needs no policy, so M6 skips it; utterance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Utterances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Utterance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Utterances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UTTERANCES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UTTERANCES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Utterance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utterance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76072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815583"/>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