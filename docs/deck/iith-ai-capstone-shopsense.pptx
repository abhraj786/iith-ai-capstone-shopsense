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2cf2d26e474246" /><Relationship Type="http://schemas.openxmlformats.org/officeDocument/2006/relationships/extended-properties" Target="/docProps/app.xml" Id="R6e1ced9b57de400d" /><Relationship Type="http://schemas.openxmlformats.org/officeDocument/2006/relationships/officeDocument" Target="/ppt/presentation.xml" Id="R557a394008284a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55e5c3c94d4601"/>
  </p:sldMasterIdLst>
  <p:notesMasterIdLst>
    <p:notesMasterId xmlns:r="http://schemas.openxmlformats.org/officeDocument/2006/relationships" r:id="Recc3c1ddd22146ff"/>
  </p:notesMasterIdLst>
  <p:sldIdLst>
    <p:sldId xmlns:r="http://schemas.openxmlformats.org/officeDocument/2006/relationships" id="256" r:id="R6562c1c3a7cc4bdd"/>
    <p:sldId xmlns:r="http://schemas.openxmlformats.org/officeDocument/2006/relationships" id="257" r:id="Rbdc2241e126d4b0f"/>
    <p:sldId xmlns:r="http://schemas.openxmlformats.org/officeDocument/2006/relationships" id="258" r:id="R1194b422335d4ecf"/>
    <p:sldId xmlns:r="http://schemas.openxmlformats.org/officeDocument/2006/relationships" id="259" r:id="Rb07849bef3344b6a"/>
    <p:sldId xmlns:r="http://schemas.openxmlformats.org/officeDocument/2006/relationships" id="260" r:id="R812745de6faf40a0"/>
    <p:sldId xmlns:r="http://schemas.openxmlformats.org/officeDocument/2006/relationships" id="261" r:id="Rca5e794a0c984e3f"/>
    <p:sldId xmlns:r="http://schemas.openxmlformats.org/officeDocument/2006/relationships" id="262" r:id="R65ef0b5699304622"/>
    <p:sldId xmlns:r="http://schemas.openxmlformats.org/officeDocument/2006/relationships" id="263" r:id="Ra4cd086de14a4799"/>
    <p:sldId xmlns:r="http://schemas.openxmlformats.org/officeDocument/2006/relationships" id="264" r:id="Rd98fe735f81e424f"/>
    <p:sldId xmlns:r="http://schemas.openxmlformats.org/officeDocument/2006/relationships" id="265" r:id="R2a0eec3a2be743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3414417b3e4995" /><Relationship Type="http://schemas.openxmlformats.org/officeDocument/2006/relationships/slideMaster" Target="/ppt/slideMasters/slideMaster1.xml" Id="R9855e5c3c94d4601" /><Relationship Type="http://schemas.openxmlformats.org/officeDocument/2006/relationships/notesMaster" Target="/ppt/notesMasters/notesMaster1.xml" Id="Recc3c1ddd22146ff" /><Relationship Type="http://schemas.openxmlformats.org/officeDocument/2006/relationships/presProps" Target="/ppt/presProps.xml" Id="R77ce71c6383a46ed" /><Relationship Type="http://schemas.openxmlformats.org/officeDocument/2006/relationships/tableStyles" Target="/ppt/tableStyles.xml" Id="R651e844649f948e6" /><Relationship Type="http://schemas.openxmlformats.org/officeDocument/2006/relationships/slide" Target="/ppt/slides/slide1.xml" Id="R6562c1c3a7cc4bdd" /><Relationship Type="http://schemas.openxmlformats.org/officeDocument/2006/relationships/slide" Target="/ppt/slides/slide2.xml" Id="Rbdc2241e126d4b0f" /><Relationship Type="http://schemas.openxmlformats.org/officeDocument/2006/relationships/slide" Target="/ppt/slides/slide3.xml" Id="R1194b422335d4ecf" /><Relationship Type="http://schemas.openxmlformats.org/officeDocument/2006/relationships/slide" Target="/ppt/slides/slide4.xml" Id="Rb07849bef3344b6a" /><Relationship Type="http://schemas.openxmlformats.org/officeDocument/2006/relationships/slide" Target="/ppt/slides/slide5.xml" Id="R812745de6faf40a0" /><Relationship Type="http://schemas.openxmlformats.org/officeDocument/2006/relationships/slide" Target="/ppt/slides/slide6.xml" Id="Rca5e794a0c984e3f" /><Relationship Type="http://schemas.openxmlformats.org/officeDocument/2006/relationships/slide" Target="/ppt/slides/slide7.xml" Id="R65ef0b5699304622" /><Relationship Type="http://schemas.openxmlformats.org/officeDocument/2006/relationships/slide" Target="/ppt/slides/slide8.xml" Id="Ra4cd086de14a4799" /><Relationship Type="http://schemas.openxmlformats.org/officeDocument/2006/relationships/slide" Target="/ppt/slides/slide9.xml" Id="Rd98fe735f81e424f" /><Relationship Type="http://schemas.openxmlformats.org/officeDocument/2006/relationships/slide" Target="/ppt/slides/slide10.xml" Id="R2a0eec3a2be743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79b3307c7b40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8a1afbfb76418d" /><Relationship Type="http://schemas.openxmlformats.org/officeDocument/2006/relationships/notesMaster" Target="/ppt/notesMasters/notesMaster1.xml" Id="R7eee305d349149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d1baa1f51e4700" /><Relationship Type="http://schemas.openxmlformats.org/officeDocument/2006/relationships/notesMaster" Target="/ppt/notesMasters/notesMaster1.xml" Id="R0c3116a600ed42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fe8c42f38e489b" /><Relationship Type="http://schemas.openxmlformats.org/officeDocument/2006/relationships/notesMaster" Target="/ppt/notesMasters/notesMaster1.xml" Id="R368af4fd59d342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c7a739dc4f4cda" /><Relationship Type="http://schemas.openxmlformats.org/officeDocument/2006/relationships/notesMaster" Target="/ppt/notesMasters/notesMaster1.xml" Id="Rdd64e6f17ecd4c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81c033953e4fcd" /><Relationship Type="http://schemas.openxmlformats.org/officeDocument/2006/relationships/notesMaster" Target="/ppt/notesMasters/notesMaster1.xml" Id="R5877e5841cd64b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19745508f640c1" /><Relationship Type="http://schemas.openxmlformats.org/officeDocument/2006/relationships/notesMaster" Target="/ppt/notesMasters/notesMaster1.xml" Id="Rb009dfdd152146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b7d8f17a244fbd" /><Relationship Type="http://schemas.openxmlformats.org/officeDocument/2006/relationships/notesMaster" Target="/ppt/notesMasters/notesMaster1.xml" Id="Raf1e05634ae84e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1110db08a84d05" /><Relationship Type="http://schemas.openxmlformats.org/officeDocument/2006/relationships/notesMaster" Target="/ppt/notesMasters/notesMaster1.xml" Id="R6154b00fe4ec43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ea4e1809c84104" /><Relationship Type="http://schemas.openxmlformats.org/officeDocument/2006/relationships/notesMaster" Target="/ppt/notesMasters/notesMaster1.xml" Id="R44b687ab057c49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e089dc576f47c0" /><Relationship Type="http://schemas.openxmlformats.org/officeDocument/2006/relationships/notesMaster" Target="/ppt/notesMasters/notesMaster1.xml" Id="R9ce8e8f9d92b49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43976147d412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86e84b957c40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03e690259f4a8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8ee2e2bb20414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569447c13b415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ae726a6de247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9279398-20EF-45D1-ACFB-A53772856F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D331AD8-0BE6-4B8A-939F-7030245A339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F23695F-58DF-4677-82B7-65D0B63768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8382B9-1D59-4AA4-BCA7-A67679FAC1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5039B92-9A11-484E-BEC9-68DDB4058D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0C9B8A7-5037-4153-9E0C-AA337EC73F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CA35769-8C35-4545-95B4-8F998CAC89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E1289DC-01B0-4008-B407-6EDF1F0EC4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6555D8-B1C6-4B55-9C6E-1EE5A7E112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718F32C-0095-482F-A1A5-EEFDCE6F59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7f873a7214419a" /><Relationship Type="http://schemas.openxmlformats.org/officeDocument/2006/relationships/slideLayout" Target="/ppt/slideLayouts/slideLayout1.xml" Id="R010e128051a24992" /><Relationship Type="http://schemas.openxmlformats.org/officeDocument/2006/relationships/slideLayout" Target="/ppt/slideLayouts/slideLayout2.xml" Id="Rd8f4c939eb7a4389" /><Relationship Type="http://schemas.openxmlformats.org/officeDocument/2006/relationships/slideLayout" Target="/ppt/slideLayouts/slideLayout3.xml" Id="Rc0f1b780029b4afc" /><Relationship Type="http://schemas.openxmlformats.org/officeDocument/2006/relationships/slideLayout" Target="/ppt/slideLayouts/slideLayout4.xml" Id="Rb43b7563ff3f4fdc" /><Relationship Type="http://schemas.openxmlformats.org/officeDocument/2006/relationships/slideLayout" Target="/ppt/slideLayouts/slideLayout5.xml" Id="Rf690532a54bd4f3b" /><Relationship Type="http://schemas.openxmlformats.org/officeDocument/2006/relationships/slideLayout" Target="/ppt/slideLayouts/slideLayout6.xml" Id="Rae221867ae9141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0e128051a24992"/>
    <p:sldLayoutId xmlns:r="http://schemas.openxmlformats.org/officeDocument/2006/relationships" id="2147483650" r:id="Rd8f4c939eb7a4389"/>
    <p:sldLayoutId xmlns:r="http://schemas.openxmlformats.org/officeDocument/2006/relationships" id="2147483651" r:id="Rc0f1b780029b4afc"/>
    <p:sldLayoutId xmlns:r="http://schemas.openxmlformats.org/officeDocument/2006/relationships" id="2147483652" r:id="Rb43b7563ff3f4fdc"/>
    <p:sldLayoutId xmlns:r="http://schemas.openxmlformats.org/officeDocument/2006/relationships" id="2147483653" r:id="Rf690532a54bd4f3b"/>
    <p:sldLayoutId xmlns:r="http://schemas.openxmlformats.org/officeDocument/2006/relationships" id="2147483654" r:id="Rae221867ae9141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036cba678d49d4" /><Relationship Type="http://schemas.openxmlformats.org/officeDocument/2006/relationships/notesSlide" Target="/ppt/notesSlides/notesSlide1.xml" Id="Rd2f569ecc5f644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b6711389e54635" /><Relationship Type="http://schemas.openxmlformats.org/officeDocument/2006/relationships/notesSlide" Target="/ppt/notesSlides/notesSlide2.xml" Id="R6777863463d744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e9fce901034aaa" /><Relationship Type="http://schemas.openxmlformats.org/officeDocument/2006/relationships/notesSlide" Target="/ppt/notesSlides/notesSlide3.xml" Id="R4c640e4aae8649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1100cdfc0d400a" /><Relationship Type="http://schemas.openxmlformats.org/officeDocument/2006/relationships/notesSlide" Target="/ppt/notesSlides/notesSlide4.xml" Id="R8663e57f387d43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6f38023ae64c61" /><Relationship Type="http://schemas.openxmlformats.org/officeDocument/2006/relationships/notesSlide" Target="/ppt/notesSlides/notesSlide5.xml" Id="R9abeb33dac1b4a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f7211e66364dd2" /><Relationship Type="http://schemas.openxmlformats.org/officeDocument/2006/relationships/notesSlide" Target="/ppt/notesSlides/notesSlide6.xml" Id="Rfc97ed5ea11b42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df27213e2e4233" /><Relationship Type="http://schemas.openxmlformats.org/officeDocument/2006/relationships/notesSlide" Target="/ppt/notesSlides/notesSlide7.xml" Id="R9aad67d1370e44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71c4d7f3ed4135" /><Relationship Type="http://schemas.openxmlformats.org/officeDocument/2006/relationships/notesSlide" Target="/ppt/notesSlides/notesSlide8.xml" Id="Rc9b3eccc57b041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0479a3605f41e2" /><Relationship Type="http://schemas.openxmlformats.org/officeDocument/2006/relationships/notesSlide" Target="/ppt/notesSlides/notesSlide9.xml" Id="R600590e555a64e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fcdf7526684104" /><Relationship Type="http://schemas.openxmlformats.org/officeDocument/2006/relationships/notesSlide" Target="/ppt/notesSlides/notesSlide10.xml" Id="Ra9bbe5b471c04d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695644-FD0C-46FD-B427-7FE34BC3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4ED8"/>
                </a:solidFill>
              </a:defRPr>
            </a:pPr>
            <a:r>
              <a:rPr sz="1500" b="1">
                <a:solidFill>
                  <a:srgbClr val="1D4ED8"/>
                </a:solidFill>
              </a:rPr>
              <a:t>IITH AI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AAD64-F92F-41CC-AD13-4CC47DA0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02A43"/>
                </a:solidFill>
              </a:defRPr>
            </a:pPr>
            <a:r>
              <a:rPr sz="4350" b="1">
                <a:solidFill>
                  <a:srgbClr val="102A43"/>
                </a:solidFill>
              </a:rPr>
              <a:t>ShopSense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5EE768-FFBA-43EF-BC50-5D85C22B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Customer care and order operations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54E2FF-F8A0-44AC-B4F6-E2F88E0C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C6670"/>
                </a:solidFill>
              </a:defRPr>
            </a:pPr>
            <a:r>
              <a:rPr sz="1200" b="0">
                <a:solidFill>
                  <a:srgbClr val="5C6670"/>
                </a:solidFill>
              </a:rPr>
              <a:t>Modules completed: M1 to M8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80735-2F87-4B2E-8E45-9965BF33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066800"/>
            <a:ext cx="3333750" cy="3714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E6076C-DB74-4130-965B-6853CB6D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Current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34D03-6326-4C2B-AFA7-C3615AA5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62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2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D4ED8"/>
                </a:solidFill>
              </a:defRPr>
            </a:pPr>
            <a:r>
              <a:rPr sz="4200" b="1">
                <a:solidFill>
                  <a:srgbClr val="1D4ED8"/>
                </a:solidFill>
              </a:rPr>
              <a:t>M8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46E85-3142-488A-9C99-7DF7DF9F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External cloud demo verified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F54503-B5AE-4BAE-9EC9-00EC502A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00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Groq, Qdrant Cloud and Langfuse configured through .env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A91B6-2EB7-40F5-AAAB-9E93D0F8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01</a:t>
            </a:r>
          </a:p>
        </p:txBody>
      </p:sp>
    </p:spTree>
    <p:extLst>
      <p:ext uri="{BB962C8B-B14F-4D97-AF65-F5344CB8AC3E}">
        <p14:creationId xmlns:p14="http://schemas.microsoft.com/office/powerpoint/2010/main" val="11195113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C2D2FE-4665-42AB-ACC3-C21D497E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98BFBE-E89F-447E-A6F2-27102467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End-to-end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39F57-1052-4A31-9B82-127EC9C9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35AF28-8DB0-4236-9AF5-807BA73D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13144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A30D6-8817-4557-8D47-8432F9E4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859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Channels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3C697A-0F3C-4A2A-B1C9-27427C5D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100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Chat or email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0A53A-BCF6-4A96-B428-FFC5D818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19300"/>
            <a:ext cx="3619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94F9E-BFE3-493E-9499-7371C949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52600"/>
            <a:ext cx="13906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1D52C-62DB-4C2A-A497-5FFC0E33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859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FastAPI / UI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452D0-58B2-4B9D-B8B5-DD43EDAA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152650"/>
            <a:ext cx="108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/chat and workbench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5CAB35-A0EE-4530-80F9-328B9D24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19300"/>
            <a:ext cx="3619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C55035-FB43-455D-A813-B00A31E1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52600"/>
            <a:ext cx="13906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E34C8B-A566-4890-9CD4-D4BDAFBC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859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Triage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AA7485-8546-4C44-952E-4CEAA48A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108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M1 live LLM parse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482E5A-5E08-4E91-8291-954FF23F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19300"/>
            <a:ext cx="3619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F07A35-AD7D-4CDC-8636-B6EEC7E5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52600"/>
            <a:ext cx="14859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F29AC-8BE9-4EDE-9554-C205CA21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EF423C-5DBB-450F-A117-22456426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M5 LangGraph route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993B2B-57E1-4A7C-9C54-CB446FCD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19300"/>
            <a:ext cx="3619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C7CF30-0158-4FE5-8E19-DF439041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52600"/>
            <a:ext cx="13906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EE8C20-1899-4FA7-8C65-612C08A4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859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Agents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CAC39F-34EE-4D92-807B-634AFF22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52650"/>
            <a:ext cx="108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M6 team and MCP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960B6B-50AA-4D50-81AD-9DCFB1FA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19300"/>
            <a:ext cx="3619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0FF9C2-FC5D-4A23-898B-E136AB51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752600"/>
            <a:ext cx="13144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4A222D-AA11-47DC-8B73-15E391CB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18859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Response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09E0D0-19ED-4032-AC8E-018260D2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152650"/>
            <a:ext cx="100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Resolve or human 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C6A569-694D-48FE-883B-9A18A72E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28950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External services used in strict real mode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7873F-D564-4720-A58C-15FC3C53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2095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26D330-B825-49C5-8D14-69B0CFA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576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Groq via LiteLLM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AB289F-138C-4557-9398-3F32D913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243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M1 structured parsing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E5B079-5845-4C54-98B2-526D2906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2095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94BB70-A646-448E-8486-2CAF2D9F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576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Qdrant Cloud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38D68C-9A56-444D-B47C-B8450CD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9243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M3 index and M4 retrieval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B951B2-1487-4947-BA24-3C03AE57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524250"/>
            <a:ext cx="2095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AC8B36-927B-4C52-8BD1-7B70F18B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576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Langfuse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98C753-339E-44A5-B9A3-BF75DB56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243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M7 cloud traces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7F94BC-E2A1-4FED-B6B1-DFEC1657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242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9DF68A-C0CE-47F1-9AE3-E2D90F1B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57600"/>
            <a:ext cx="2171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Mock APIs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348CA4-C4AD-4449-9C3E-7F241F1F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24300"/>
            <a:ext cx="217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Orders, refunds and shipment tools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213802-809C-44A8-BE6B-B77C4E1E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0060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5C6670"/>
                </a:solidFill>
              </a:defRPr>
            </a:pPr>
            <a:r>
              <a:rPr sz="1275" b="0">
                <a:solidFill>
                  <a:srgbClr val="5C6670"/>
                </a:solidFill>
              </a:rPr>
              <a:t>Local Python runs the orchestration. Cloud services prove model calls, vector retrieval and observability.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B2CC65-5E67-4946-949B-8FBF49AB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02</a:t>
            </a:r>
          </a:p>
        </p:txBody>
      </p:sp>
    </p:spTree>
    <p:extLst>
      <p:ext uri="{BB962C8B-B14F-4D97-AF65-F5344CB8AC3E}">
        <p14:creationId xmlns:p14="http://schemas.microsoft.com/office/powerpoint/2010/main" val="11537930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0F4D367-68F6-430E-936D-3395503F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31908-FFEB-4EBF-9735-B9C5B689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Ticket resolution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CB6B07-3A62-43D2-879A-C66867AC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D901D-2A95-46C7-967C-4CC605F0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85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EC770E-3CD6-4C72-B3EC-C457A89C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33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8D2DE-4614-4F61-92A2-F0DFD95A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BE049-06A3-47C9-9E60-C46D7552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Raw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80E67C-5FCF-448F-909F-C491F3E6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Refund plus legal threat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F9558E-2870-4F19-87B4-9DD1FCD7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2669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9BB3F-0DB7-4BEE-B161-005CACC5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485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99AAA-3882-4734-A822-832D0AC1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33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47B5B0-9851-4156-9BE1-38BCBE19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431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BB1AF1-A0F2-4A1C-8F1D-E6C0F4AA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764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M1 parse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BB207F-4A12-49FE-AE30-54336340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3431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SupportTicket 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33E0E-8F12-48B6-8D84-59B72C46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669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B552DB-1E88-4D08-BD63-DED423F7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85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CE0300-ED1F-446C-94B2-CF79ABE9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533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FA0A41-ACC1-4FF4-A329-27B677AF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431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67D085-3A4A-4E95-A928-5B3847AB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764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M2 plan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BF64F4-B489-4EA0-8FFD-D3452F93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431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Human review action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763E1E-3FCC-4AF2-897C-7F1EDCF1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EB5D1B-8F66-43C3-9F39-A959266C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485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4A16F8-2AA0-41AC-AA0F-8C846C0D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33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0E57B9-8140-437A-8FCF-4B687EDA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431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861B28-D5DC-45B7-AA18-224C26FB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M3 memory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55C901-D12B-45E7-B053-C703BCA8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431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Customer context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82A753-50B0-4740-9BCC-CAB086C3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669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266F7D-91EF-4DB5-ACB6-52009F8F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85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BC1AC5-F560-4AEC-B817-8513041C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33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30A257-5010-4FCC-8647-323DAB43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431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3599D2-0EA0-4D15-AA90-1CE21CBC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764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M4 policy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9D1BD3-C8E5-4449-AACB-413C4F2D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citations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352F4D-6CA0-4B87-9EB6-28F5AB36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669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F3A493-ED5D-4E52-8081-DB1C64F0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85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A78AC0-2286-465E-B42C-18238621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33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9A9B0D-7FFA-4E8C-93B5-1096A407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431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62E2F6-7380-48BB-8FDB-E6EAB52C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764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M5 route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79ED6E-32A5-462A-8EEC-DED67A86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431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Human interrupt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8FD5ED-294B-4894-8E30-C28C8C79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669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C95634-8094-49C1-92A1-44420756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485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2ACCA4-7D49-4B4A-AA0A-58680EA9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33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2CCE7B0-D3CB-4D0C-9069-78164D03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6F556C-3D17-4B58-A1D5-954A6C1A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M6 tools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03E2BE-A88D-4A48-B0C7-10FB405D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431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MCP action boundary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E75E9D-4C0C-48BB-93A6-A18F904F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2669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A6FF68A-BC50-4205-9F8B-5CB9DABC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485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176CAB7-F3B8-4321-B044-8CA7216C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533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E6A2C2C-E224-4BBF-8695-349BB117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1943100"/>
            <a:ext cx="11239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D030B90-0190-46F5-8B3C-2B2CB44B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0764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M7-M8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8D65C9C-1DEF-41EF-B59F-19ED3729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43150"/>
            <a:ext cx="81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Trace and guardrails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2FF8DB-9BC9-49DC-A443-C5105C46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4857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9053B3-7D37-4E20-90C4-6E749E4D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32AF221-3E25-4D92-821B-C280BBCF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05200"/>
            <a:ext cx="443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Example ticket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2309521-3075-4962-B37D-C3FE2FA1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4438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KW-O-000950 arrived late. The customer asks for a 6,499 INR refund and mentions legal action.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B710E67-622D-4C6B-A01D-FC6C8D09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52800"/>
            <a:ext cx="4857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D029F26-7DD7-4F2B-AB0F-4BF99AF7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528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AF558AC-8E30-46A9-B45D-59426D1C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05200"/>
            <a:ext cx="443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Final behavior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5AD6FC3-C6B9-4279-8CCE-1523A035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10000"/>
            <a:ext cx="4438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system avoids automatic refund, records memory, retrieves policy evidence, pauses risky workflow and routes to human review.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679BD3B-AD7F-4C5E-B897-D9485330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339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This sequence is what the evaluator validates with demo_milestones.py --real.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A3EA189-4DC2-4178-ABC6-5E89F720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03</a:t>
            </a:r>
          </a:p>
        </p:txBody>
      </p:sp>
    </p:spTree>
    <p:extLst>
      <p:ext uri="{BB962C8B-B14F-4D97-AF65-F5344CB8AC3E}">
        <p14:creationId xmlns:p14="http://schemas.microsoft.com/office/powerpoint/2010/main" val="18815638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08A52A-9C13-4D3F-9EB3-EB005C2E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8346B-472F-484C-AA0B-EFFC4F45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intake parsing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D5BE5D-3BF2-48BB-8825-2A5FC31D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4E9100-4BB2-4D35-B7C4-2C46E147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09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C6AB0-F4E0-4A4B-AB60-40151A76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288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Customer 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A2CE43-7817-4B92-B141-C8A9C7B0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9550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Unstructured refund, legal or shipping message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BAAFAC-5365-4D4E-8738-D8A0A32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38350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8890DE-3E83-4990-AB5F-1C078C83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95450"/>
            <a:ext cx="1428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55C869-AAB7-4DDB-BA22-E81631D6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288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Prompt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A39A68-6854-4FF0-B689-F5CEDC5D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95500"/>
            <a:ext cx="1123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prompts/intake.md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3234A-423F-4EF8-9835-2EF925A4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38350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08D14-D41E-44E6-A268-1C586438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95450"/>
            <a:ext cx="16573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98B3C4-59E1-4A48-9A25-0F6F8206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82880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LiteLLM + Groq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728719-E382-457D-9AB3-D19F00FD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955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Live provider call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57C0DD-620C-4B10-A28E-5AB3F7CD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0D3242-AC51-496D-B615-18C5E233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95450"/>
            <a:ext cx="161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15F465-2910-4BCA-9332-EB0488C9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28800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Pydantic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5B1966-FBC5-419B-8F68-CAF28F8F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Validate SupportTicket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9732AD-6B3D-4409-9CD1-AA842C61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038350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623CCE-3E58-4FE5-88F6-91D35179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695450"/>
            <a:ext cx="1428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4EA25C-EEF0-430C-83E7-6F407BC1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8288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Ticket 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E49737-68BB-4D3A-8E69-35257581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095500"/>
            <a:ext cx="1123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intent, order, sentiment, amount, flags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C1100B-71B3-4CFA-9AFF-E6590045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5619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F6C463-F64B-4623-9361-D60C5F45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29000"/>
            <a:ext cx="52768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order_ref: KW-O-000950,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sentiment: angry,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claimed_amount_inr: 6499,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escalation_signals: [legal_or_regulatory]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140470-F0BC-4C9C-B242-0F4BA41C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575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60/60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1E25CE-B017-4E36-8BBB-8695F4FB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147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Parsed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B93F0E-EC28-4DE5-89AA-BA8910F8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0050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No parse failures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4416E8-E43D-4E5F-8642-78FD9D5E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575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0.717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D9BE11-6F16-420F-9D32-BFF48DE2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7147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Intent accuracy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B8A42A-260C-4453-AB30-DE57907B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0050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Holdout score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20A321-CA33-44AD-81EF-9CCA7D8A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5529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0.896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417BE0-C616-4104-8D64-581757AF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0101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Escalation precision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F16BE5-44D7-46C6-BED2-F2D0CA73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29590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Safety signal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38583A-0D7B-43FB-BC53-CBE711C8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529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v4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F2307D-4552-4513-990F-173981E5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0101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Report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856134-8ED3-472C-B81F-0C9BA96D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29590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Committed JSON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1ABF50-0C4A-4B8A-B412-52512360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04</a:t>
            </a:r>
          </a:p>
        </p:txBody>
      </p:sp>
    </p:spTree>
    <p:extLst>
      <p:ext uri="{BB962C8B-B14F-4D97-AF65-F5344CB8AC3E}">
        <p14:creationId xmlns:p14="http://schemas.microsoft.com/office/powerpoint/2010/main" val="15198046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A22617-E8B9-4CEE-AA6D-327E702F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23F6A4-2DA3-4C89-A8DF-E7581C87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tool action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931CE0-3D9D-4F3F-AA74-E64CCD6E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98B59-B90D-49BE-8754-E57A6AFD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1619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11297-B8EF-4D95-81B6-D7311E77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95500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SupportTicket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4AE499-3619-4B59-8C38-8A3B92B1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1314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Parsed M1 output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B59C8E-5567-4D11-AE42-E89C6EA6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86000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88F94A-C2A5-4803-8408-B46605E5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62150"/>
            <a:ext cx="1714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A654B4-C62D-4B39-A20E-086707B8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9550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Repository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CBC24F-540A-46F8-A7C3-B943F915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62200"/>
            <a:ext cx="140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Orders, customers, shipments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86B6B-A10E-4473-812B-EF41EFD5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286000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0">
            <a:solidFill>
              <a:srgbClr val="4755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716AE4-155F-4517-9ECD-B7116DF4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62150"/>
            <a:ext cx="2000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3BD64-F7A0-4356-BBA5-83F8CDA7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0955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Policy checks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FC1922-5B92-40B7-B4DF-B8895F6F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362200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refund cap, legal signal, missing fields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B004C-DFCD-47D9-8173-E85A18B2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86000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4D7EE6-159E-4AEA-A79B-00DD96E9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62150"/>
            <a:ext cx="2095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4F7566-59A2-4AD6-A173-8EB72C68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955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Action proposal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916F9D-BD18-40A6-9E14-BB883947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6220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track, refund, replace or human queue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9B7953-F7DD-4707-9A6B-D871826D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952750"/>
            <a:ext cx="209550" cy="4762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755DF8-E0D3-4679-AD6B-BA10A40F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23241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691FB4-A6FA-45DE-8FF1-85B75762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29050"/>
            <a:ext cx="2019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Human 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D2D239-D545-463C-957E-CE8E7575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95750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legal_or_regulatory blocks automation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97A804-9A6C-470A-B82D-773E1B10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95700"/>
            <a:ext cx="58293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A7E432-571A-4AB3-8BCA-E0D3F680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957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BB8380-D279-492B-B7DB-09703D43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541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Safety boundary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1ACD73-4DAC-4379-A0F7-ACFA87B5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52900"/>
            <a:ext cx="541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Refund and replacement tools remain proposal-only unless execute=True. High-value or legal cases route to a person.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9098FA-9E3B-4CF1-B8F1-C574BA5B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05</a:t>
            </a:r>
          </a:p>
        </p:txBody>
      </p:sp>
    </p:spTree>
    <p:extLst>
      <p:ext uri="{BB962C8B-B14F-4D97-AF65-F5344CB8AC3E}">
        <p14:creationId xmlns:p14="http://schemas.microsoft.com/office/powerpoint/2010/main" val="6250081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24E6F3-D2A1-4633-883C-24D5F1F2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86DC04-A974-4DE5-BC85-1C64BA95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memory and Qdrant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DA2A3-D51F-45A8-96D6-2A76A9A1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E2A1B-03BE-4A29-950A-98734AC0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16573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1EBFC-31C8-43BF-A0FA-3907D469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4310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Ticket + 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34E66F-A299-4D0D-8CD6-F8D02626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0980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M1 and M2 outputs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2199A2-9A26-4020-A47E-4B7BE6B6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133600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FECD16-2907-45FD-B581-669F84E7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809750"/>
            <a:ext cx="2095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19D58-6AD5-4436-A40E-90191EDD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431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CustomerMemoryStore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5558E-E985-4B22-92B6-41D3B430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0980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recent tickets and rolling summary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A031AC-39E6-4470-B062-C2E9B653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33600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2D281B-550A-4ADF-8B7F-3183B400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09750"/>
            <a:ext cx="2000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E703EF-497A-4A1B-AFAF-0E5AC747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431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Memory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EFDA08-17C7-4704-B0B9-0DEB056D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9800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episodic, semantic, procedural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9FAAB0-CD1A-44AF-A4E7-09D5862B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0574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2030A-7DA2-457B-A0B5-0F801D47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4810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Policy corpus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6E9D7B-5AFA-47D2-91CE-72FE722E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returns, shipping, warranty and category docs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3C7042-A7FD-4B62-93C7-8CC9D962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38600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9A7FBC-71B6-4C73-8446-6F6EE7DD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14750"/>
            <a:ext cx="16764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221D74-33F6-4659-98A4-1F8D548B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84810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Chunk + embed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7FD04C-870E-45C0-9DCE-16FBC177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148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84 policy chunks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393B2-3598-475B-ACCA-230FF2C0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38600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0">
            <a:solidFill>
              <a:srgbClr val="47556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255C27-77BA-438A-B8E2-2A6B5396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060FD0-055C-445F-A956-E3439DD3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481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Qdrant Cloud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52D4-39CB-4055-BC52-487E6587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14800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shopsense_policy_m3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9FB173-5B39-46F1-9EEB-D2ED71BA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E91294-A662-490B-8E4D-5A36B777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147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AD5B21-6DE3-4A11-B3EE-0756C9E1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481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Citations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D82209-B68E-480C-AB6C-3B98F980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14800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document + chunk locator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8B1E40-AE2E-477C-A94F-6DB8E92C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1435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gives later modules both customer history and navigable policy chunks.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AE33CF-FA81-450C-9F56-FDC26DE7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06</a:t>
            </a:r>
          </a:p>
        </p:txBody>
      </p:sp>
    </p:spTree>
    <p:extLst>
      <p:ext uri="{BB962C8B-B14F-4D97-AF65-F5344CB8AC3E}">
        <p14:creationId xmlns:p14="http://schemas.microsoft.com/office/powerpoint/2010/main" val="5832539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AD97EA-26FF-4E18-9564-A6BD0B92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7138B-BC0B-4593-A306-EFE7D056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grounded policy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0BFF03-9756-4B59-81E2-25C734C7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6F54E-E287-4089-A1C8-DF5BCADE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16954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EA514A-23F2-4D20-96A8-8C073F7B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Policy 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6F19C5-AC7A-4824-9281-3AF5DA2F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1390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refund cap or return window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037F8-E9EF-4AFE-B2F8-36B6BD40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86000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BF2569-DE0C-470A-891D-09C1719E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621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C86360-DB7A-46D2-9484-4BE66FD4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Hybrid retrieve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28761A-450C-4E6D-81DC-0095F55F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62200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Qdrant vector + keyword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4C86A-49BE-4A35-84E9-8AD5048A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86000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B6F3D-E630-4147-A892-95B609D9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62150"/>
            <a:ext cx="16764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1A4B51-FDB4-45BF-B535-B871BAB2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Rerank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16C850-173F-42A4-8B4C-78312779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exact policy and category boosts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2E4BF3-4C61-4D5F-B322-F1BBEE73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86000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F22EA8-9EF7-4B8C-B274-124D7155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62150"/>
            <a:ext cx="1619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A81F5D-E3B7-4A82-B372-ACA302FE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095500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EF1F0D-A52B-4E30-AE14-D52FB6A1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1314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citations and policy lines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80A467-B461-4373-9615-4999A521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86000"/>
            <a:ext cx="3619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03DE80-E453-4906-95DB-8ADB5161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1962150"/>
            <a:ext cx="12001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738744-862E-4BB1-96FB-4678AD27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0955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21160D-20F9-4285-B38C-120B3B4A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362200"/>
            <a:ext cx="895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true or blocked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4A38C2-380D-4EE9-A677-E7205425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19500"/>
            <a:ext cx="41910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6DF4F9-A04A-47E0-B114-6BE82256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1950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E03F08-C1AF-41BE-99E6-053056D0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71900"/>
            <a:ext cx="3771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Groundedness rule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8ED6DB-A7F2-46C3-9067-1BD696B8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76700"/>
            <a:ext cx="377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Numeric claims in the answer must appear in retrieved evidence. Unsupported refund amounts or windows are flagged.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170418-AE49-4DC7-8796-B76F1596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19500"/>
            <a:ext cx="41910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69DA98-D480-4B42-B8F0-F5B60195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1950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D4669F-AF34-4AC2-9B86-CB30DB37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71900"/>
            <a:ext cx="3771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Verified example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3229D9-E12D-490B-A6E9-099167EB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76700"/>
            <a:ext cx="377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Automated assistant refund cap: 2,000 INR. Cited from Refund Authorisation and Escalation Matrix.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8FA06C-3775-4883-ADFA-E88FA99C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07</a:t>
            </a:r>
          </a:p>
        </p:txBody>
      </p:sp>
    </p:spTree>
    <p:extLst>
      <p:ext uri="{BB962C8B-B14F-4D97-AF65-F5344CB8AC3E}">
        <p14:creationId xmlns:p14="http://schemas.microsoft.com/office/powerpoint/2010/main" val="7728725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A7F990-DC30-417D-AA7C-A717277B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AA56B9-4CBC-4949-9779-B47927B1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M5 workflow and M6 agents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654A9A-D37F-4F01-A14B-AE40A813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7EF89-57B9-4CAF-8B87-F283269B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02A43"/>
                </a:solidFill>
              </a:defRPr>
            </a:pPr>
            <a:r>
              <a:rPr sz="1425" b="1">
                <a:solidFill>
                  <a:srgbClr val="102A43"/>
                </a:solidFill>
              </a:rPr>
              <a:t>LangGraph route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25DE7A-916B-47DA-BDDF-D1990609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001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1DD2C6-242C-44D7-BFA7-2CA9FEB5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19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Triage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6B4135-38A5-4F90-BC7E-E0C13187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1336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5849B6-F950-4E69-9CAD-CF4D6030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85950"/>
            <a:ext cx="12001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D53F0-ABE3-45B5-9F89-704D9BDC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019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3007F7-ACB7-4324-B07C-ED6A75A5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336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EA3396-D1FC-45E7-A0B8-83A497B2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85950"/>
            <a:ext cx="12001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3C600C-256B-4E80-BC5C-91C6997A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19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Policy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8F6D7E-9580-4543-935E-1385C554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336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67783-1DD3-4916-8787-F087B9A6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885950"/>
            <a:ext cx="12001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8DD77-0EF5-4042-9B95-759EECFF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19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8EBAC2-5C1A-43B6-B8A0-E7A742D5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336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1B9A8-2F10-4165-9423-7DD2E053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85950"/>
            <a:ext cx="12001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F09385-16F6-411E-A29E-D452D003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19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Route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53EF88-287B-4B8A-B730-8DC615EF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860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auto or interrupt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22F31-3449-41FD-877D-69B1470D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336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2545E6-019D-4DBC-8180-674ACB72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85950"/>
            <a:ext cx="12001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194EE7-3514-47BF-B275-4812BBE6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19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Checkpoint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951E12-3CE6-4EFD-8101-F209DD3E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02A43"/>
                </a:solidFill>
              </a:defRPr>
            </a:pPr>
            <a:r>
              <a:rPr sz="1425" b="1">
                <a:solidFill>
                  <a:srgbClr val="102A43"/>
                </a:solidFill>
              </a:rPr>
              <a:t>Multi-agent team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FF4A50-C6CD-41BB-9144-A56AD046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524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2DFD6F-05D9-4DE2-B05F-05238BE4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48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Triage 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32F505-7B91-4D3C-A6E4-92202A15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parse ticket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F1E6F-66B4-4F9E-800E-53D90C1B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1524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EF0998-9906-422E-B976-9B3C8F4F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848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Memory Agent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D07574-B8CB-42A9-8CF5-D353DDF8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148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load context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27E714-C226-493D-BE22-0E8183A1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14750"/>
            <a:ext cx="1714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B0D395-0F26-4F70-B85B-5CEED881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4810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Policy RAG Agent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20DC14-F6A0-43F3-A14C-CECEE073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148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answer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74492-6061-434D-BA91-ADEE9AF0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14750"/>
            <a:ext cx="1714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673D28-B8CD-437C-82D8-74C61C1A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4810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Order-Actions Agent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D05290-CA83-4754-900F-565E6B2D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MCP tools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6090C1-A7E0-4457-9604-8DD602E4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14750"/>
            <a:ext cx="1809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F2BC1B-9F6F-48B4-920C-7F97610C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481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Escalation Reviewer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3C8ED2-ADE6-4C9F-82D0-53805F03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148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human or resolve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BD41E1-5CC1-424C-9C6D-E2EFDB04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876800"/>
            <a:ext cx="723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3E2085-7988-4E79-9FAD-FBF0B9A8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87680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9C2EC4-D58F-4D0E-BDFC-0C57FDDC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29200"/>
            <a:ext cx="6819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 tool boundary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5E6928-634C-4451-AC13-D24E0FF5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334000"/>
            <a:ext cx="681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lookup, refund, replacement and shipping tools can be reused across chat and email channels.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CC84F3-6121-4CE8-B174-D5ECDCB5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08</a:t>
            </a:r>
          </a:p>
        </p:txBody>
      </p:sp>
    </p:spTree>
    <p:extLst>
      <p:ext uri="{BB962C8B-B14F-4D97-AF65-F5344CB8AC3E}">
        <p14:creationId xmlns:p14="http://schemas.microsoft.com/office/powerpoint/2010/main" val="1966277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684D04-0953-4B1B-B433-137E48A4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16343-AB0F-466B-9BEE-340064B6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M7 reliability and M8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9906E-AD95-4A1D-8ED9-E64490C2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FD2BD9-20FC-4ACD-95D2-3A245FE3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66900"/>
            <a:ext cx="1428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C2A911-EE66-433B-BA22-80145C12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Tool call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DF008-50CD-4552-A70F-626EBC76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track_shipment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59F4C-4087-44F1-B988-E13E63DA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13360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6C3C6B-F60A-4A44-9110-8F70420B9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66900"/>
            <a:ext cx="1333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FBE62-B822-4913-89FB-EB6451EA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0025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Retry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5D8C1-BF1A-4858-BCAB-70332365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attempts: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B8C62-B597-4100-9C06-3E8E14B2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D64B9D-B955-438C-A3C9-F28804FF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866900"/>
            <a:ext cx="1619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E299FA-790C-4A31-B8E1-EC7D685A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00250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Circuit breaker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0DC0E-63E8-4D02-8377-15F57AAF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669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closed or open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89E447-B7D6-47B3-87D5-5A2F4C9E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3360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8693C-200E-4854-94C8-B0D65574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866900"/>
            <a:ext cx="1428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7EB9EC-4508-49B2-93DB-A0CC46E2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002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Fallback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CAD78-E458-4E80-BE9C-FE8EE1A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669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human queue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C13ECC-699D-4943-93EF-001B7C10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13360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603E85-90BB-4107-A8D9-39CADFBF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66900"/>
            <a:ext cx="1428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00FB8-04DE-42D3-AC68-04134283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002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Langfuse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030F4-7790-49A6-84DE-D06E9F87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2669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cloud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350486-1F5C-4CF4-B12B-C307F155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33800"/>
            <a:ext cx="1714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5B21B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17247D-6855-4A57-AE34-72F081FE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86715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FastAPI /chat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B42DDC-EF5A-4324-BB5B-C4273CB6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133850"/>
            <a:ext cx="1409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raw customer text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06A8EB-93D5-40F5-B4A4-5CDFC951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38600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EE734C-E348-4202-A759-68ED9274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733800"/>
            <a:ext cx="2095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7B8CCF-F0CC-4F98-87B6-9AD748F7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671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Guardrails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87306B-ADE6-4039-97FD-1C1FB166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3385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prompt injection and refund cap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3E9D4A-61DB-411B-BC91-860FE294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C02939-D237-4CF3-93E2-47993661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33800"/>
            <a:ext cx="20002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1420BC-BBD9-49C7-B0B5-81E5F1E5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671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Safe response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5BAFA0-38DF-4FB9-8422-DFFDE7A7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33850"/>
            <a:ext cx="169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HTTP 200 and human review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975CF4-155D-4281-AA6D-662553A3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10150"/>
            <a:ext cx="790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M8 also includes a 20-case golden eval for angry, ambiguous and prompt-injection tickets.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E56875-12C2-449F-AF12-EE7177F6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09</a:t>
            </a:r>
          </a:p>
        </p:txBody>
      </p:sp>
    </p:spTree>
    <p:extLst>
      <p:ext uri="{BB962C8B-B14F-4D97-AF65-F5344CB8AC3E}">
        <p14:creationId xmlns:p14="http://schemas.microsoft.com/office/powerpoint/2010/main" val="9364451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D83E90-97F5-4F29-82EB-34414772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0D094C-32D0-421D-8736-C5AC2500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Verification and run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8359FC-E588-4789-B9C2-73F65C9F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010A5-5A9B-42C7-99DA-5A859CFC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188AD-4DD9-4958-8798-7B774940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CC479-18B6-4191-9A02-81CA1A41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All unit tests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EEE6C-3717-425E-BBE1-9EBDA5D0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5/5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B9FF2-74BE-415D-B912-C8F46545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M4 eval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1C06D8-6BAF-41B0-8502-7CE7F0A5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policy eval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E6607E-EEE0-4722-AEA2-4E29B6EB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20/20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EC552E-CC71-4814-B0CB-070BEF4C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M8 golden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D51CA-0655-4D57-8D44-08D7E0DF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Guardrail eval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47AB95-A5D9-42F5-8083-E9070B11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5B21B6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5B21B6"/>
                </a:solidFill>
              </a:defRPr>
            </a:pPr>
            <a:r>
              <a:rPr sz="2550" b="1">
                <a:solidFill>
                  <a:srgbClr val="5B21B6"/>
                </a:solidFill>
              </a:rPr>
              <a:t>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4539A2-9280-4A77-9FD1-EC9C26E8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Deck 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8493A6-BF10-4FAD-8744-73171B06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Slides max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5B285-2E47-48D8-9806-5EEEFB18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8763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5A1AB8-ABB6-40EC-8736-FFB9D23E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7462A7-9164-4098-B2D2-FFCE4C6A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624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Evaluator commands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97FA79-5650-4163-8342-0DD6C37D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67200"/>
            <a:ext cx="8343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cp .env.example .env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# add Groq, Qdrant Cloud and Langfuse keys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.venv/bin/python demo_milestones.py --real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pytest tests/unit -q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scripts/run_m8_golden_eval.py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908CA-393E-4AE0-A569-06C8D0C7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10</a:t>
            </a:r>
          </a:p>
        </p:txBody>
      </p:sp>
    </p:spTree>
    <p:extLst>
      <p:ext uri="{BB962C8B-B14F-4D97-AF65-F5344CB8AC3E}">
        <p14:creationId xmlns:p14="http://schemas.microsoft.com/office/powerpoint/2010/main" val="9817059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2026-10-13T15:55:27.6470000Z</dcterms:created>
  <dcterms:modified xsi:type="dcterms:W3CDTF">2026-10-13T15:55:27.6470000Z</dcterms:modified>
</coreProperties>
</file>