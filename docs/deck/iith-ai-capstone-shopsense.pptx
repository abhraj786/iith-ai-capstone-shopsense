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SQLite for who the customer is, Qdrant for what the rules are. Repeat contacts of 3 or more feed the escalation signals. Dense alone has the best hit@1, but hybrid reaches recall@3 of 1.0. The bigger win was the category filter: answers went from 22 of 24 to 24 of 24 correct, because groceries, apparel and electronics have different return windows. The answer step is extractive: it quotes policy sentences and writes nothing new.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ACTION PLANNING ON THE SAME SAMPLE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Tools + data</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6888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94560"/>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Ticket in</a:t>
            </a:r>
          </a:p>
        </p:txBody>
      </p:sp>
      <p:sp>
        <p:nvSpPr>
          <p:cNvPr id="17" name="Rounded Rectangle 16"/>
          <p:cNvSpPr/>
          <p:nvPr/>
        </p:nvSpPr>
        <p:spPr>
          <a:xfrm>
            <a:off x="1828800" y="2788920"/>
            <a:ext cx="1737360" cy="5029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74519" y="2862072"/>
            <a:ext cx="1645919" cy="365760"/>
          </a:xfrm>
          <a:prstGeom prst="rect">
            <a:avLst/>
          </a:prstGeom>
          <a:noFill/>
        </p:spPr>
        <p:txBody>
          <a:bodyPr wrap="square" lIns="45720" rIns="45720">
            <a:spAutoFit/>
          </a:bodyPr>
          <a:lstStyle/>
          <a:p>
            <a:pPr algn="ctr">
              <a:spcAft>
                <a:spcPts val="0"/>
              </a:spcAft>
            </a:pPr>
            <a:r>
              <a:rPr sz="1100" b="1">
                <a:solidFill>
                  <a:srgbClr val="222B38"/>
                </a:solidFill>
                <a:latin typeface="Calibri"/>
              </a:rPr>
              <a:t>2 Order ID present</a:t>
            </a:r>
          </a:p>
        </p:txBody>
      </p:sp>
      <p:sp>
        <p:nvSpPr>
          <p:cNvPr id="19" name="Rounded Rectangle 18"/>
          <p:cNvSpPr/>
          <p:nvPr/>
        </p:nvSpPr>
        <p:spPr>
          <a:xfrm>
            <a:off x="1828800" y="3447288"/>
            <a:ext cx="3291840" cy="50292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3520440"/>
            <a:ext cx="3200400" cy="365760"/>
          </a:xfrm>
          <a:prstGeom prst="rect">
            <a:avLst/>
          </a:prstGeom>
          <a:noFill/>
        </p:spPr>
        <p:txBody>
          <a:bodyPr wrap="square" lIns="45720" rIns="45720">
            <a:spAutoFit/>
          </a:bodyPr>
          <a:lstStyle/>
          <a:p>
            <a:pPr algn="ctr">
              <a:spcAft>
                <a:spcPts val="0"/>
              </a:spcAft>
            </a:pPr>
            <a:r>
              <a:rPr sz="1100" b="1">
                <a:solidFill>
                  <a:srgbClr val="C0392B"/>
                </a:solidFill>
                <a:latin typeface="Calibri"/>
              </a:rPr>
              <a:t>3 Red flag: above cap. STOP</a:t>
            </a:r>
          </a:p>
        </p:txBody>
      </p:sp>
      <p:cxnSp>
        <p:nvCxnSpPr>
          <p:cNvPr id="21" name="Connector 20"/>
          <p:cNvCxnSpPr/>
          <p:nvPr/>
        </p:nvCxnSpPr>
        <p:spPr>
          <a:xfrm>
            <a:off x="2697480" y="4443984"/>
            <a:ext cx="1417320"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724912" y="416966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Tools not called</a:t>
            </a:r>
          </a:p>
        </p:txBody>
      </p:sp>
      <p:cxnSp>
        <p:nvCxnSpPr>
          <p:cNvPr id="23" name="Connector 22"/>
          <p:cNvCxnSpPr/>
          <p:nvPr/>
        </p:nvCxnSpPr>
        <p:spPr>
          <a:xfrm>
            <a:off x="2697480" y="5102352"/>
            <a:ext cx="283464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828032"/>
            <a:ext cx="277977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Flag for human</a:t>
            </a:r>
          </a:p>
        </p:txBody>
      </p:sp>
      <p:cxnSp>
        <p:nvCxnSpPr>
          <p:cNvPr id="25" name="Connector 24"/>
          <p:cNvCxnSpPr/>
          <p:nvPr/>
        </p:nvCxnSpPr>
        <p:spPr>
          <a:xfrm flipH="1">
            <a:off x="1280160" y="5760720"/>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307592" y="5486400"/>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6 ActionProposal</a:t>
            </a:r>
          </a:p>
        </p:txBody>
      </p:sp>
      <p:sp>
        <p:nvSpPr>
          <p:cNvPr id="27" name="TextBox 26"/>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400800" y="2075688"/>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0" name="TextBox 29"/>
          <p:cNvSpPr txBox="1"/>
          <p:nvPr/>
        </p:nvSpPr>
        <p:spPr>
          <a:xfrm>
            <a:off x="6766560" y="2084831"/>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SupportTicket (angry, order KW-O-000000, claim 12999, signals [angry_or_abusive, refund_above_auto_cap], injection = true)   customer KW-C-00317   today 2026-07-16   execute = False</a:t>
            </a:r>
          </a:p>
        </p:txBody>
      </p:sp>
      <p:sp>
        <p:nvSpPr>
          <p:cNvPr id="31" name="Rectangle 30"/>
          <p:cNvSpPr/>
          <p:nvPr/>
        </p:nvSpPr>
        <p:spPr>
          <a:xfrm>
            <a:off x="6400800" y="2734056"/>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2761487"/>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3" name="TextBox 32"/>
          <p:cNvSpPr txBox="1"/>
          <p:nvPr/>
        </p:nvSpPr>
        <p:spPr>
          <a:xfrm>
            <a:off x="6766560" y="2743199"/>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order_ref = KW-O-000000 is present, so no request for more information</a:t>
            </a:r>
          </a:p>
        </p:txBody>
      </p:sp>
      <p:sp>
        <p:nvSpPr>
          <p:cNvPr id="34" name="Rectangle 33"/>
          <p:cNvSpPr/>
          <p:nvPr/>
        </p:nvSpPr>
        <p:spPr>
          <a:xfrm>
            <a:off x="6400800" y="3392424"/>
            <a:ext cx="5257800" cy="603503"/>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3419856"/>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3</a:t>
            </a:r>
          </a:p>
        </p:txBody>
      </p:sp>
      <p:sp>
        <p:nvSpPr>
          <p:cNvPr id="36" name="TextBox 35"/>
          <p:cNvSpPr txBox="1"/>
          <p:nvPr/>
        </p:nvSpPr>
        <p:spPr>
          <a:xfrm>
            <a:off x="6766560" y="3401568"/>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400800" y="4050791"/>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40782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39" name="TextBox 38"/>
          <p:cNvSpPr txBox="1"/>
          <p:nvPr/>
        </p:nvSpPr>
        <p:spPr>
          <a:xfrm>
            <a:off x="6766560" y="4059936"/>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Tools not consulted. Had they run: order is this customer's, delivered 3 days ago, eligible, refund 12999 from the order price, approver = ops_manager (human)</a:t>
            </a:r>
          </a:p>
        </p:txBody>
      </p:sp>
      <p:sp>
        <p:nvSpPr>
          <p:cNvPr id="40" name="Rectangle 39"/>
          <p:cNvSpPr/>
          <p:nvPr/>
        </p:nvSpPr>
        <p:spPr>
          <a:xfrm>
            <a:off x="6400800" y="4709159"/>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473659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2" name="TextBox 41"/>
          <p:cNvSpPr txBox="1"/>
          <p:nvPr/>
        </p:nvSpPr>
        <p:spPr>
          <a:xfrm>
            <a:off x="6766560" y="4718304"/>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flag_for_human(customer KW-C-00317, order KW-O-000000, trigger = refund_above_auto_cap, note = "Angry, damaged order, demands 12999.")   proposed only, nothing written</a:t>
            </a:r>
          </a:p>
        </p:txBody>
      </p:sp>
      <p:sp>
        <p:nvSpPr>
          <p:cNvPr id="43" name="Rectangle 42"/>
          <p:cNvSpPr/>
          <p:nvPr/>
        </p:nvSpPr>
        <p:spPr>
          <a:xfrm>
            <a:off x="6400800" y="5367527"/>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5394959"/>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6</a:t>
            </a:r>
          </a:p>
        </p:txBody>
      </p:sp>
      <p:sp>
        <p:nvSpPr>
          <p:cNvPr id="45" name="TextBox 44"/>
          <p:cNvSpPr txBox="1"/>
          <p:nvPr/>
        </p:nvSpPr>
        <p:spPr>
          <a:xfrm>
            <a:off x="6766560" y="5376672"/>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ActionProposal: human_review, requires_human = true, executed = false, "Route to a human because of refund_above_auto_cap"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one rule set, three tickets, three outcomes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48640" y="1554480"/>
            <a:ext cx="3611880" cy="5486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627632"/>
            <a:ext cx="3383280" cy="457200"/>
          </a:xfrm>
          <a:prstGeom prst="rect">
            <a:avLst/>
          </a:prstGeom>
          <a:noFill/>
        </p:spPr>
        <p:txBody>
          <a:bodyPr wrap="square" lIns="45720" rIns="45720">
            <a:spAutoFit/>
          </a:bodyPr>
          <a:lstStyle/>
          <a:p>
            <a:pPr>
              <a:spcAft>
                <a:spcPts val="600"/>
              </a:spcAft>
            </a:pPr>
            <a:r>
              <a:rPr sz="1600" b="1">
                <a:solidFill>
                  <a:srgbClr val="FFFFFF"/>
                </a:solidFill>
                <a:latin typeface="Calibri"/>
              </a:rPr>
              <a:t>A  Hostile, red flags on</a:t>
            </a:r>
          </a:p>
        </p:txBody>
      </p:sp>
      <p:sp>
        <p:nvSpPr>
          <p:cNvPr id="9" name="TextBox 8"/>
          <p:cNvSpPr txBox="1"/>
          <p:nvPr/>
        </p:nvSpPr>
        <p:spPr>
          <a:xfrm>
            <a:off x="548640" y="224028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INPUT</a:t>
            </a:r>
          </a:p>
        </p:txBody>
      </p:sp>
      <p:sp>
        <p:nvSpPr>
          <p:cNvPr id="10" name="TextBox 9"/>
          <p:cNvSpPr txBox="1"/>
          <p:nvPr/>
        </p:nvSpPr>
        <p:spPr>
          <a:xfrm>
            <a:off x="548640" y="2496312"/>
            <a:ext cx="3611880" cy="658368"/>
          </a:xfrm>
          <a:prstGeom prst="rect">
            <a:avLst/>
          </a:prstGeom>
          <a:noFill/>
        </p:spPr>
        <p:txBody>
          <a:bodyPr wrap="square" lIns="45720" rIns="45720">
            <a:spAutoFit/>
          </a:bodyPr>
          <a:lstStyle/>
          <a:p>
            <a:pPr>
              <a:spcAft>
                <a:spcPts val="100"/>
              </a:spcAft>
            </a:pPr>
            <a:r>
              <a:rPr sz="1200" b="0">
                <a:solidFill>
                  <a:srgbClr val="222B38"/>
                </a:solidFill>
                <a:latin typeface="Calibri"/>
              </a:rPr>
              <a:t>KW-C-00317  |  KW-O-000000 (Rs 12,999)</a:t>
            </a:r>
          </a:p>
          <a:p>
            <a:pPr>
              <a:spcAft>
                <a:spcPts val="100"/>
              </a:spcAft>
            </a:pPr>
            <a:r>
              <a:rPr sz="1200" b="0">
                <a:solidFill>
                  <a:srgbClr val="222B38"/>
                </a:solidFill>
                <a:latin typeface="Calibri"/>
              </a:rPr>
              <a:t>signals: angry_or_abusive, refund_above_auto_cap</a:t>
            </a:r>
          </a:p>
        </p:txBody>
      </p:sp>
      <p:sp>
        <p:nvSpPr>
          <p:cNvPr id="11" name="TextBox 10"/>
          <p:cNvSpPr txBox="1"/>
          <p:nvPr/>
        </p:nvSpPr>
        <p:spPr>
          <a:xfrm>
            <a:off x="548640" y="324612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TOOLS CALLED</a:t>
            </a:r>
          </a:p>
        </p:txBody>
      </p:sp>
      <p:sp>
        <p:nvSpPr>
          <p:cNvPr id="12" name="TextBox 11"/>
          <p:cNvSpPr txBox="1"/>
          <p:nvPr/>
        </p:nvSpPr>
        <p:spPr>
          <a:xfrm>
            <a:off x="548640" y="3502152"/>
            <a:ext cx="3611880" cy="612647"/>
          </a:xfrm>
          <a:prstGeom prst="rect">
            <a:avLst/>
          </a:prstGeom>
          <a:noFill/>
        </p:spPr>
        <p:txBody>
          <a:bodyPr wrap="square" lIns="45720" rIns="45720">
            <a:spAutoFit/>
          </a:bodyPr>
          <a:lstStyle/>
          <a:p>
            <a:pPr>
              <a:spcAft>
                <a:spcPts val="100"/>
              </a:spcAft>
            </a:pPr>
            <a:r>
              <a:rPr sz="1200" b="1">
                <a:solidFill>
                  <a:srgbClr val="222B38"/>
                </a:solidFill>
                <a:latin typeface="Calibri"/>
              </a:rPr>
              <a:t>None</a:t>
            </a:r>
          </a:p>
        </p:txBody>
      </p:sp>
      <p:sp>
        <p:nvSpPr>
          <p:cNvPr id="13" name="TextBox 12"/>
          <p:cNvSpPr txBox="1"/>
          <p:nvPr/>
        </p:nvSpPr>
        <p:spPr>
          <a:xfrm>
            <a:off x="548640" y="420624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M2 DECIDES</a:t>
            </a:r>
          </a:p>
        </p:txBody>
      </p:sp>
      <p:sp>
        <p:nvSpPr>
          <p:cNvPr id="14" name="TextBox 13"/>
          <p:cNvSpPr txBox="1"/>
          <p:nvPr/>
        </p:nvSpPr>
        <p:spPr>
          <a:xfrm>
            <a:off x="548640" y="446227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Stops at the first red flag: refund_above_auto_cap</a:t>
            </a:r>
          </a:p>
        </p:txBody>
      </p:sp>
      <p:sp>
        <p:nvSpPr>
          <p:cNvPr id="15" name="Rounded Rectangle 14"/>
          <p:cNvSpPr/>
          <p:nvPr/>
        </p:nvSpPr>
        <p:spPr>
          <a:xfrm>
            <a:off x="548640" y="5212080"/>
            <a:ext cx="3611880" cy="5486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285232"/>
            <a:ext cx="3383280" cy="411480"/>
          </a:xfrm>
          <a:prstGeom prst="rect">
            <a:avLst/>
          </a:prstGeom>
          <a:noFill/>
        </p:spPr>
        <p:txBody>
          <a:bodyPr wrap="square" lIns="45720" rIns="45720">
            <a:spAutoFit/>
          </a:bodyPr>
          <a:lstStyle/>
          <a:p>
            <a:pPr>
              <a:spcAft>
                <a:spcPts val="600"/>
              </a:spcAft>
            </a:pPr>
            <a:r>
              <a:rPr sz="1600" b="1">
                <a:solidFill>
                  <a:srgbClr val="FFFFFF"/>
                </a:solidFill>
                <a:latin typeface="Calibri"/>
              </a:rPr>
              <a:t>human_review</a:t>
            </a:r>
          </a:p>
        </p:txBody>
      </p:sp>
      <p:sp>
        <p:nvSpPr>
          <p:cNvPr id="17" name="Rounded Rectangle 16"/>
          <p:cNvSpPr/>
          <p:nvPr/>
        </p:nvSpPr>
        <p:spPr>
          <a:xfrm>
            <a:off x="4297680" y="1554480"/>
            <a:ext cx="3611880" cy="54864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7408" y="1627632"/>
            <a:ext cx="3383280" cy="457200"/>
          </a:xfrm>
          <a:prstGeom prst="rect">
            <a:avLst/>
          </a:prstGeom>
          <a:noFill/>
        </p:spPr>
        <p:txBody>
          <a:bodyPr wrap="square" lIns="45720" rIns="45720">
            <a:spAutoFit/>
          </a:bodyPr>
          <a:lstStyle/>
          <a:p>
            <a:pPr>
              <a:spcAft>
                <a:spcPts val="600"/>
              </a:spcAft>
            </a:pPr>
            <a:r>
              <a:rPr sz="1600" b="1">
                <a:solidFill>
                  <a:srgbClr val="222B38"/>
                </a:solidFill>
                <a:latin typeface="Calibri"/>
              </a:rPr>
              <a:t>B  Same ticket, no red flags</a:t>
            </a:r>
          </a:p>
        </p:txBody>
      </p:sp>
      <p:sp>
        <p:nvSpPr>
          <p:cNvPr id="19" name="TextBox 18"/>
          <p:cNvSpPr txBox="1"/>
          <p:nvPr/>
        </p:nvSpPr>
        <p:spPr>
          <a:xfrm>
            <a:off x="4297680" y="224028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INPUT</a:t>
            </a:r>
          </a:p>
        </p:txBody>
      </p:sp>
      <p:sp>
        <p:nvSpPr>
          <p:cNvPr id="20" name="TextBox 19"/>
          <p:cNvSpPr txBox="1"/>
          <p:nvPr/>
        </p:nvSpPr>
        <p:spPr>
          <a:xfrm>
            <a:off x="4297680" y="2496312"/>
            <a:ext cx="3611880" cy="658368"/>
          </a:xfrm>
          <a:prstGeom prst="rect">
            <a:avLst/>
          </a:prstGeom>
          <a:noFill/>
        </p:spPr>
        <p:txBody>
          <a:bodyPr wrap="square" lIns="45720" rIns="45720">
            <a:spAutoFit/>
          </a:bodyPr>
          <a:lstStyle/>
          <a:p>
            <a:pPr>
              <a:spcAft>
                <a:spcPts val="100"/>
              </a:spcAft>
            </a:pPr>
            <a:r>
              <a:rPr sz="1200" b="0">
                <a:solidFill>
                  <a:srgbClr val="222B38"/>
                </a:solidFill>
                <a:latin typeface="Calibri"/>
              </a:rPr>
              <a:t>KW-C-00317  |  KW-O-000000 (Rs 12,999)</a:t>
            </a:r>
          </a:p>
          <a:p>
            <a:pPr>
              <a:spcAft>
                <a:spcPts val="100"/>
              </a:spcAft>
            </a:pPr>
            <a:r>
              <a:rPr sz="1200" b="0">
                <a:solidFill>
                  <a:srgbClr val="222B38"/>
                </a:solidFill>
                <a:latin typeface="Calibri"/>
              </a:rPr>
              <a:t>signals: none</a:t>
            </a:r>
          </a:p>
        </p:txBody>
      </p:sp>
      <p:sp>
        <p:nvSpPr>
          <p:cNvPr id="21" name="TextBox 20"/>
          <p:cNvSpPr txBox="1"/>
          <p:nvPr/>
        </p:nvSpPr>
        <p:spPr>
          <a:xfrm>
            <a:off x="4297680" y="324612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TOOLS CALLED</a:t>
            </a:r>
          </a:p>
        </p:txBody>
      </p:sp>
      <p:sp>
        <p:nvSpPr>
          <p:cNvPr id="22" name="TextBox 21"/>
          <p:cNvSpPr txBox="1"/>
          <p:nvPr/>
        </p:nvSpPr>
        <p:spPr>
          <a:xfrm>
            <a:off x="4297680" y="350215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check_eligibility, calculate_refund, required_approver</a:t>
            </a:r>
          </a:p>
        </p:txBody>
      </p:sp>
      <p:sp>
        <p:nvSpPr>
          <p:cNvPr id="23" name="TextBox 22"/>
          <p:cNvSpPr txBox="1"/>
          <p:nvPr/>
        </p:nvSpPr>
        <p:spPr>
          <a:xfrm>
            <a:off x="4297680" y="420624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M2 DECIDES</a:t>
            </a:r>
          </a:p>
        </p:txBody>
      </p:sp>
      <p:sp>
        <p:nvSpPr>
          <p:cNvPr id="24" name="TextBox 23"/>
          <p:cNvSpPr txBox="1"/>
          <p:nvPr/>
        </p:nvSpPr>
        <p:spPr>
          <a:xfrm>
            <a:off x="4297680" y="446227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Refund 12,999 from the order price; approver = ops_manager (a human)</a:t>
            </a:r>
          </a:p>
        </p:txBody>
      </p:sp>
      <p:sp>
        <p:nvSpPr>
          <p:cNvPr id="25" name="Rounded Rectangle 24"/>
          <p:cNvSpPr/>
          <p:nvPr/>
        </p:nvSpPr>
        <p:spPr>
          <a:xfrm>
            <a:off x="4297680" y="5212080"/>
            <a:ext cx="3611880" cy="54864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7408" y="5285232"/>
            <a:ext cx="3383280" cy="411480"/>
          </a:xfrm>
          <a:prstGeom prst="rect">
            <a:avLst/>
          </a:prstGeom>
          <a:noFill/>
        </p:spPr>
        <p:txBody>
          <a:bodyPr wrap="square" lIns="45720" rIns="45720">
            <a:spAutoFit/>
          </a:bodyPr>
          <a:lstStyle/>
          <a:p>
            <a:pPr>
              <a:spcAft>
                <a:spcPts val="600"/>
              </a:spcAft>
            </a:pPr>
            <a:r>
              <a:rPr sz="1600" b="1">
                <a:solidFill>
                  <a:srgbClr val="222B38"/>
                </a:solidFill>
                <a:latin typeface="Calibri"/>
              </a:rPr>
              <a:t>human_review</a:t>
            </a:r>
          </a:p>
        </p:txBody>
      </p:sp>
      <p:sp>
        <p:nvSpPr>
          <p:cNvPr id="27" name="Rounded Rectangle 26"/>
          <p:cNvSpPr/>
          <p:nvPr/>
        </p:nvSpPr>
        <p:spPr>
          <a:xfrm>
            <a:off x="8046720" y="1554480"/>
            <a:ext cx="3611880" cy="54864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56448" y="1627632"/>
            <a:ext cx="3383280" cy="457200"/>
          </a:xfrm>
          <a:prstGeom prst="rect">
            <a:avLst/>
          </a:prstGeom>
          <a:noFill/>
        </p:spPr>
        <p:txBody>
          <a:bodyPr wrap="square" lIns="45720" rIns="45720">
            <a:spAutoFit/>
          </a:bodyPr>
          <a:lstStyle/>
          <a:p>
            <a:pPr>
              <a:spcAft>
                <a:spcPts val="600"/>
              </a:spcAft>
            </a:pPr>
            <a:r>
              <a:rPr sz="1600" b="1">
                <a:solidFill>
                  <a:srgbClr val="FFFFFF"/>
                </a:solidFill>
                <a:latin typeface="Calibri"/>
              </a:rPr>
              <a:t>C  Calm, small order</a:t>
            </a:r>
          </a:p>
        </p:txBody>
      </p:sp>
      <p:sp>
        <p:nvSpPr>
          <p:cNvPr id="29" name="TextBox 28"/>
          <p:cNvSpPr txBox="1"/>
          <p:nvPr/>
        </p:nvSpPr>
        <p:spPr>
          <a:xfrm>
            <a:off x="8046720" y="224028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INPUT</a:t>
            </a:r>
          </a:p>
        </p:txBody>
      </p:sp>
      <p:sp>
        <p:nvSpPr>
          <p:cNvPr id="30" name="TextBox 29"/>
          <p:cNvSpPr txBox="1"/>
          <p:nvPr/>
        </p:nvSpPr>
        <p:spPr>
          <a:xfrm>
            <a:off x="8046720" y="2496312"/>
            <a:ext cx="3611880" cy="658368"/>
          </a:xfrm>
          <a:prstGeom prst="rect">
            <a:avLst/>
          </a:prstGeom>
          <a:noFill/>
        </p:spPr>
        <p:txBody>
          <a:bodyPr wrap="square" lIns="45720" rIns="45720">
            <a:spAutoFit/>
          </a:bodyPr>
          <a:lstStyle/>
          <a:p>
            <a:pPr>
              <a:spcAft>
                <a:spcPts val="100"/>
              </a:spcAft>
            </a:pPr>
            <a:r>
              <a:rPr sz="1200" b="0">
                <a:solidFill>
                  <a:srgbClr val="222B38"/>
                </a:solidFill>
                <a:latin typeface="Calibri"/>
              </a:rPr>
              <a:t>KW-C-00338  |  KW-O-000019 (Rs 299), damaged</a:t>
            </a:r>
          </a:p>
          <a:p>
            <a:pPr>
              <a:spcAft>
                <a:spcPts val="100"/>
              </a:spcAft>
            </a:pPr>
            <a:r>
              <a:rPr sz="1200" b="0">
                <a:solidFill>
                  <a:srgbClr val="222B38"/>
                </a:solidFill>
                <a:latin typeface="Calibri"/>
              </a:rPr>
              <a:t>signals: none</a:t>
            </a:r>
          </a:p>
        </p:txBody>
      </p:sp>
      <p:sp>
        <p:nvSpPr>
          <p:cNvPr id="31" name="TextBox 30"/>
          <p:cNvSpPr txBox="1"/>
          <p:nvPr/>
        </p:nvSpPr>
        <p:spPr>
          <a:xfrm>
            <a:off x="8046720" y="324612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TOOLS CALLED</a:t>
            </a:r>
          </a:p>
        </p:txBody>
      </p:sp>
      <p:sp>
        <p:nvSpPr>
          <p:cNvPr id="32" name="TextBox 31"/>
          <p:cNvSpPr txBox="1"/>
          <p:nvPr/>
        </p:nvSpPr>
        <p:spPr>
          <a:xfrm>
            <a:off x="8046720" y="350215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check_eligibility, calculate_refund, required_approver</a:t>
            </a:r>
          </a:p>
        </p:txBody>
      </p:sp>
      <p:sp>
        <p:nvSpPr>
          <p:cNvPr id="33" name="TextBox 32"/>
          <p:cNvSpPr txBox="1"/>
          <p:nvPr/>
        </p:nvSpPr>
        <p:spPr>
          <a:xfrm>
            <a:off x="8046720" y="420624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M2 DECIDES</a:t>
            </a:r>
          </a:p>
        </p:txBody>
      </p:sp>
      <p:sp>
        <p:nvSpPr>
          <p:cNvPr id="34" name="TextBox 33"/>
          <p:cNvSpPr txBox="1"/>
          <p:nvPr/>
        </p:nvSpPr>
        <p:spPr>
          <a:xfrm>
            <a:off x="8046720" y="446227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Eligible; approver = auto, so no human needed</a:t>
            </a:r>
          </a:p>
        </p:txBody>
      </p:sp>
      <p:sp>
        <p:nvSpPr>
          <p:cNvPr id="35" name="Rounded Rectangle 34"/>
          <p:cNvSpPr/>
          <p:nvPr/>
        </p:nvSpPr>
        <p:spPr>
          <a:xfrm>
            <a:off x="8046720" y="5212080"/>
            <a:ext cx="3611880" cy="54864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56448" y="5285232"/>
            <a:ext cx="3383280" cy="411480"/>
          </a:xfrm>
          <a:prstGeom prst="rect">
            <a:avLst/>
          </a:prstGeom>
          <a:noFill/>
        </p:spPr>
        <p:txBody>
          <a:bodyPr wrap="square" lIns="45720" rIns="45720">
            <a:spAutoFit/>
          </a:bodyPr>
          <a:lstStyle/>
          <a:p>
            <a:pPr>
              <a:spcAft>
                <a:spcPts val="600"/>
              </a:spcAft>
            </a:pPr>
            <a:r>
              <a:rPr sz="1600" b="1">
                <a:solidFill>
                  <a:srgbClr val="FFFFFF"/>
                </a:solidFill>
                <a:latin typeface="Calibri"/>
              </a:rPr>
              <a:t>replacement (create_replacement)</a:t>
            </a:r>
          </a:p>
        </p:txBody>
      </p:sp>
      <p:sp>
        <p:nvSpPr>
          <p:cNvPr id="37" name="TextBox 36"/>
          <p:cNvSpPr txBox="1"/>
          <p:nvPr/>
        </p:nvSpPr>
        <p:spPr>
          <a:xfrm>
            <a:off x="548640" y="5897880"/>
            <a:ext cx="11064240" cy="457200"/>
          </a:xfrm>
          <a:prstGeom prst="rect">
            <a:avLst/>
          </a:prstGeom>
          <a:noFill/>
        </p:spPr>
        <p:txBody>
          <a:bodyPr wrap="square" lIns="45720" rIns="45720">
            <a:spAutoFit/>
          </a:bodyPr>
          <a:lstStyle/>
          <a:p>
            <a:pPr>
              <a:spcAft>
                <a:spcPts val="600"/>
              </a:spcAft>
            </a:pPr>
            <a:r>
              <a:rPr sz="1700" b="1">
                <a:solidFill>
                  <a:srgbClr val="142B4D"/>
                </a:solidFill>
                <a:latin typeface="Calibri"/>
              </a:rPr>
              <a:t>The red flag is a shortcut. The value rule is the safety net. Only small, clean tickets run on their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3 AND 4  |  MEMORY AND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and M4: remember the customer, answer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393192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365760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index</a:t>
            </a:r>
          </a:p>
        </p:txBody>
      </p:sp>
      <p:sp>
        <p:nvSpPr>
          <p:cNvPr id="9" name="TextBox 8"/>
          <p:cNvSpPr txBox="1"/>
          <p:nvPr/>
        </p:nvSpPr>
        <p:spPr>
          <a:xfrm>
            <a:off x="548640" y="22402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3931920" cy="64008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1" name="TextBox 10"/>
          <p:cNvSpPr txBox="1"/>
          <p:nvPr/>
        </p:nvSpPr>
        <p:spPr>
          <a:xfrm>
            <a:off x="548640" y="31546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429000"/>
            <a:ext cx="3931920" cy="1005840"/>
          </a:xfrm>
          <a:prstGeom prst="rect">
            <a:avLst/>
          </a:prstGeom>
          <a:noFill/>
        </p:spPr>
        <p:txBody>
          <a:bodyPr wrap="square" lIns="45720" rIns="45720">
            <a:spAutoFit/>
          </a:bodyPr>
          <a:lstStyle/>
          <a:p>
            <a:pPr>
              <a:spcAft>
                <a:spcPts val="200"/>
              </a:spcAft>
            </a:pPr>
            <a:r>
              <a:rPr sz="1300" b="0">
                <a:solidFill>
                  <a:srgbClr val="222B38"/>
                </a:solidFill>
                <a:latin typeface="Calibri"/>
              </a:rPr>
              <a:t>•  SQLite memory, rolling summary; 3+ repeat contacts escalate</a:t>
            </a:r>
          </a:p>
          <a:p>
            <a:pPr>
              <a:spcAft>
                <a:spcPts val="200"/>
              </a:spcAft>
            </a:pPr>
            <a:r>
              <a:rPr sz="1300" b="0">
                <a:solidFill>
                  <a:srgbClr val="222B38"/>
                </a:solidFill>
                <a:latin typeface="Calibri"/>
              </a:rPr>
              <a:t>•  Policy chunks in Qdrant, 768-dim Gemini vectors</a:t>
            </a:r>
          </a:p>
        </p:txBody>
      </p:sp>
      <p:sp>
        <p:nvSpPr>
          <p:cNvPr id="13" name="TextBox 12"/>
          <p:cNvSpPr txBox="1"/>
          <p:nvPr/>
        </p:nvSpPr>
        <p:spPr>
          <a:xfrm>
            <a:off x="548640" y="443484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709160"/>
            <a:ext cx="3931920" cy="457200"/>
          </a:xfrm>
          <a:prstGeom prst="rect">
            <a:avLst/>
          </a:prstGeom>
          <a:noFill/>
        </p:spPr>
        <p:txBody>
          <a:bodyPr wrap="square" lIns="45720" rIns="45720">
            <a:spAutoFit/>
          </a:bodyPr>
          <a:lstStyle/>
          <a:p>
            <a:pPr>
              <a:spcAft>
                <a:spcPts val="200"/>
              </a:spcAft>
            </a:pPr>
            <a:r>
              <a:rPr sz="1300" b="0">
                <a:solidFill>
                  <a:srgbClr val="222B38"/>
                </a:solidFill>
                <a:latin typeface="Calibri"/>
              </a:rPr>
              <a:t>•  Summary visible in /chat output; 5 tests</a:t>
            </a:r>
          </a:p>
        </p:txBody>
      </p:sp>
      <p:sp>
        <p:nvSpPr>
          <p:cNvPr id="15" name="Rounded Rectangle 14"/>
          <p:cNvSpPr/>
          <p:nvPr/>
        </p:nvSpPr>
        <p:spPr>
          <a:xfrm>
            <a:off x="4663440" y="1554480"/>
            <a:ext cx="694944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09344"/>
            <a:ext cx="6675120" cy="457200"/>
          </a:xfrm>
          <a:prstGeom prst="rect">
            <a:avLst/>
          </a:prstGeom>
          <a:noFill/>
        </p:spPr>
        <p:txBody>
          <a:bodyPr wrap="square" lIns="45720" rIns="45720">
            <a:spAutoFit/>
          </a:bodyPr>
          <a:lstStyle/>
          <a:p>
            <a:pPr>
              <a:spcAft>
                <a:spcPts val="600"/>
              </a:spcAft>
            </a:pPr>
            <a:r>
              <a:rPr sz="1700" b="1">
                <a:solidFill>
                  <a:srgbClr val="FFFFFF"/>
                </a:solidFill>
                <a:latin typeface="Calibri"/>
              </a:rPr>
              <a:t>M4  Grounded policy RAG  (24 questions)</a:t>
            </a:r>
          </a:p>
        </p:txBody>
      </p:sp>
      <p:graphicFrame>
        <p:nvGraphicFramePr>
          <p:cNvPr id="17" name="Table 16"/>
          <p:cNvGraphicFramePr>
            <a:graphicFrameLocks noGrp="1"/>
          </p:cNvGraphicFramePr>
          <p:nvPr/>
        </p:nvGraphicFramePr>
        <p:xfrm>
          <a:off x="4663440" y="2286000"/>
          <a:ext cx="6949440" cy="1920240"/>
        </p:xfrm>
        <a:graphic>
          <a:graphicData uri="http://schemas.openxmlformats.org/drawingml/2006/table">
            <a:tbl>
              <a:tblPr firstRow="1" bandRow="1">
                <a:tableStyleId>{5C22544A-7EE6-4342-B048-85BDC9FD1C3A}</a:tableStyleId>
              </a:tblPr>
              <a:tblGrid>
                <a:gridCol w="2834640"/>
                <a:gridCol w="1280160"/>
                <a:gridCol w="1463040"/>
                <a:gridCol w="1371600"/>
              </a:tblGrid>
              <a:tr h="384048">
                <a:tc>
                  <a:txBody>
                    <a:bodyPr wrap="square"/>
                    <a:lstStyle/>
                    <a:p>
                      <a:pPr>
                        <a:spcAft>
                          <a:spcPts val="0"/>
                        </a:spcAft>
                      </a:pPr>
                      <a:r>
                        <a:rPr sz="13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300" b="1">
                          <a:solidFill>
                            <a:srgbClr val="FFFFFF"/>
                          </a:solidFill>
                          <a:latin typeface="Calibri"/>
                        </a:rPr>
                        <a:t>hit@1</a:t>
                      </a:r>
                    </a:p>
                  </a:txBody>
                  <a:tcPr marT="36576" marB="36576">
                    <a:solidFill>
                      <a:srgbClr val="142B4D"/>
                    </a:solidFill>
                  </a:tcPr>
                </a:tc>
                <a:tc>
                  <a:txBody>
                    <a:bodyPr wrap="square"/>
                    <a:lstStyle/>
                    <a:p>
                      <a:pPr>
                        <a:spcAft>
                          <a:spcPts val="0"/>
                        </a:spcAft>
                      </a:pPr>
                      <a:r>
                        <a:rPr sz="1300" b="1">
                          <a:solidFill>
                            <a:srgbClr val="FFFFFF"/>
                          </a:solidFill>
                          <a:latin typeface="Calibri"/>
                        </a:rPr>
                        <a:t>recall@3</a:t>
                      </a:r>
                    </a:p>
                  </a:txBody>
                  <a:tcPr marT="36576" marB="36576">
                    <a:solidFill>
                      <a:srgbClr val="142B4D"/>
                    </a:solidFill>
                  </a:tcPr>
                </a:tc>
                <a:tc>
                  <a:txBody>
                    <a:bodyPr wrap="square"/>
                    <a:lstStyle/>
                    <a:p>
                      <a:pPr>
                        <a:spcAft>
                          <a:spcPts val="0"/>
                        </a:spcAft>
                      </a:pPr>
                      <a:r>
                        <a:rPr sz="1300" b="1">
                          <a:solidFill>
                            <a:srgbClr val="FFFFFF"/>
                          </a:solidFill>
                          <a:latin typeface="Calibri"/>
                        </a:rPr>
                        <a:t>MRR</a:t>
                      </a:r>
                    </a:p>
                  </a:txBody>
                  <a:tcPr marT="36576" marB="36576">
                    <a:solidFill>
                      <a:srgbClr val="142B4D"/>
                    </a:solidFill>
                  </a:tcPr>
                </a:tc>
              </a:tr>
              <a:tr h="384048">
                <a:tc>
                  <a:txBody>
                    <a:bodyPr wrap="square"/>
                    <a:lstStyle/>
                    <a:p>
                      <a:pPr>
                        <a:spcAft>
                          <a:spcPts val="0"/>
                        </a:spcAft>
                      </a:pPr>
                      <a:r>
                        <a:rPr sz="1300" b="0">
                          <a:solidFill>
                            <a:srgbClr val="222B38"/>
                          </a:solidFill>
                          <a:latin typeface="Calibri"/>
                        </a:rPr>
                        <a:t>Dense only</a:t>
                      </a:r>
                    </a:p>
                  </a:txBody>
                  <a:tcPr marT="36576" marB="36576">
                    <a:solidFill>
                      <a:srgbClr val="EEF3F8"/>
                    </a:solidFill>
                  </a:tcPr>
                </a:tc>
                <a:tc>
                  <a:txBody>
                    <a:bodyPr wrap="square"/>
                    <a:lstStyle/>
                    <a:p>
                      <a:pPr>
                        <a:spcAft>
                          <a:spcPts val="0"/>
                        </a:spcAft>
                      </a:pPr>
                      <a:r>
                        <a:rPr sz="1300" b="0">
                          <a:solidFill>
                            <a:srgbClr val="222B38"/>
                          </a:solidFill>
                          <a:latin typeface="Calibri"/>
                        </a:rPr>
                        <a:t>0.917</a:t>
                      </a:r>
                    </a:p>
                  </a:txBody>
                  <a:tcPr marT="36576" marB="36576">
                    <a:solidFill>
                      <a:srgbClr val="EEF3F8"/>
                    </a:solidFill>
                  </a:tcPr>
                </a:tc>
                <a:tc>
                  <a:txBody>
                    <a:bodyPr wrap="square"/>
                    <a:lstStyle/>
                    <a:p>
                      <a:pPr>
                        <a:spcAft>
                          <a:spcPts val="0"/>
                        </a:spcAft>
                      </a:pPr>
                      <a:r>
                        <a:rPr sz="1300" b="0">
                          <a:solidFill>
                            <a:srgbClr val="222B38"/>
                          </a:solidFill>
                          <a:latin typeface="Calibri"/>
                        </a:rPr>
                        <a:t>0.979</a:t>
                      </a:r>
                    </a:p>
                  </a:txBody>
                  <a:tcPr marT="36576" marB="36576">
                    <a:solidFill>
                      <a:srgbClr val="EEF3F8"/>
                    </a:solidFill>
                  </a:tcPr>
                </a:tc>
                <a:tc>
                  <a:txBody>
                    <a:bodyPr wrap="square"/>
                    <a:lstStyle/>
                    <a:p>
                      <a:pPr>
                        <a:spcAft>
                          <a:spcPts val="0"/>
                        </a:spcAft>
                      </a:pPr>
                      <a:r>
                        <a:rPr sz="1300" b="0">
                          <a:solidFill>
                            <a:srgbClr val="222B38"/>
                          </a:solidFill>
                          <a:latin typeface="Calibri"/>
                        </a:rPr>
                        <a:t>0.951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BM25 only</a:t>
                      </a:r>
                    </a:p>
                  </a:txBody>
                  <a:tcPr marT="36576" marB="36576">
                    <a:solidFill>
                      <a:srgbClr val="FFFFFF"/>
                    </a:solidFill>
                  </a:tcPr>
                </a:tc>
                <a:tc>
                  <a:txBody>
                    <a:bodyPr wrap="square"/>
                    <a:lstStyle/>
                    <a:p>
                      <a:pPr>
                        <a:spcAft>
                          <a:spcPts val="0"/>
                        </a:spcAft>
                      </a:pPr>
                      <a:r>
                        <a:rPr sz="1300" b="0">
                          <a:solidFill>
                            <a:srgbClr val="222B38"/>
                          </a:solidFill>
                          <a:latin typeface="Calibri"/>
                        </a:rPr>
                        <a:t>0.542</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r>
              <a:tr h="384048">
                <a:tc>
                  <a:txBody>
                    <a:bodyPr wrap="square"/>
                    <a:lstStyle/>
                    <a:p>
                      <a:pPr>
                        <a:spcAft>
                          <a:spcPts val="0"/>
                        </a:spcAft>
                      </a:pPr>
                      <a:r>
                        <a:rPr sz="1300" b="0">
                          <a:solidFill>
                            <a:srgbClr val="222B38"/>
                          </a:solidFill>
                          <a:latin typeface="Calibri"/>
                        </a:rPr>
                        <a:t>Hybrid fused</a:t>
                      </a:r>
                    </a:p>
                  </a:txBody>
                  <a:tcPr marT="36576" marB="36576">
                    <a:solidFill>
                      <a:srgbClr val="EEF3F8"/>
                    </a:solidFill>
                  </a:tcPr>
                </a:tc>
                <a:tc>
                  <a:txBody>
                    <a:bodyPr wrap="square"/>
                    <a:lstStyle/>
                    <a:p>
                      <a:pPr>
                        <a:spcAft>
                          <a:spcPts val="0"/>
                        </a:spcAft>
                      </a:pPr>
                      <a:r>
                        <a:rPr sz="1300" b="0">
                          <a:solidFill>
                            <a:srgbClr val="222B38"/>
                          </a:solidFill>
                          <a:latin typeface="Calibri"/>
                        </a:rPr>
                        <a:t>0.875</a:t>
                      </a:r>
                    </a:p>
                  </a:txBody>
                  <a:tcPr marT="36576" marB="36576">
                    <a:solidFill>
                      <a:srgbClr val="EEF3F8"/>
                    </a:solidFill>
                  </a:tcPr>
                </a:tc>
                <a:tc>
                  <a:txBody>
                    <a:bodyPr wrap="square"/>
                    <a:lstStyle/>
                    <a:p>
                      <a:pPr>
                        <a:spcAft>
                          <a:spcPts val="0"/>
                        </a:spcAft>
                      </a:pPr>
                      <a:r>
                        <a:rPr sz="1300" b="0">
                          <a:solidFill>
                            <a:srgbClr val="222B38"/>
                          </a:solidFill>
                          <a:latin typeface="Calibri"/>
                        </a:rPr>
                        <a:t>1.000</a:t>
                      </a:r>
                    </a:p>
                  </a:txBody>
                  <a:tcPr marT="36576" marB="36576">
                    <a:solidFill>
                      <a:srgbClr val="EEF3F8"/>
                    </a:solidFill>
                  </a:tcPr>
                </a:tc>
                <a:tc>
                  <a:txBody>
                    <a:bodyPr wrap="square"/>
                    <a:lstStyle/>
                    <a:p>
                      <a:pPr>
                        <a:spcAft>
                          <a:spcPts val="0"/>
                        </a:spcAft>
                      </a:pPr>
                      <a:r>
                        <a:rPr sz="1300" b="0">
                          <a:solidFill>
                            <a:srgbClr val="222B38"/>
                          </a:solidFill>
                          <a:latin typeface="Calibri"/>
                        </a:rPr>
                        <a:t>0.931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Hybrid + rerank</a:t>
                      </a:r>
                    </a:p>
                  </a:txBody>
                  <a:tcPr marT="36576" marB="36576">
                    <a:solidFill>
                      <a:srgbClr val="FFFFFF"/>
                    </a:solidFill>
                  </a:tcPr>
                </a:tc>
                <a:tc>
                  <a:txBody>
                    <a:bodyPr wrap="square"/>
                    <a:lstStyle/>
                    <a:p>
                      <a:pPr>
                        <a:spcAft>
                          <a:spcPts val="0"/>
                        </a:spcAft>
                      </a:pPr>
                      <a:r>
                        <a:rPr sz="1300" b="0">
                          <a:solidFill>
                            <a:srgbClr val="222B38"/>
                          </a:solidFill>
                          <a:latin typeface="Calibri"/>
                        </a:rPr>
                        <a:t>0.875</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c>
                  <a:txBody>
                    <a:bodyPr wrap="square"/>
                    <a:lstStyle/>
                    <a:p>
                      <a:pPr>
                        <a:spcAft>
                          <a:spcPts val="0"/>
                        </a:spcAft>
                      </a:pPr>
                      <a:r>
                        <a:rPr sz="1300" b="0">
                          <a:solidFill>
                            <a:srgbClr val="222B38"/>
                          </a:solidFill>
                          <a:latin typeface="Calibri"/>
                        </a:rPr>
                        <a:t>0.924</a:t>
                      </a:r>
                    </a:p>
                  </a:txBody>
                  <a:tcPr marT="36576" marB="36576">
                    <a:solidFill>
                      <a:srgbClr val="FFFFFF"/>
                    </a:solidFill>
                  </a:tcPr>
                </a:tc>
              </a:tr>
            </a:tbl>
          </a:graphicData>
        </a:graphic>
      </p:graphicFrame>
      <p:sp>
        <p:nvSpPr>
          <p:cNvPr id="18" name="TextBox 17"/>
          <p:cNvSpPr txBox="1"/>
          <p:nvPr/>
        </p:nvSpPr>
        <p:spPr>
          <a:xfrm>
            <a:off x="4663440" y="4343400"/>
            <a:ext cx="6949440" cy="1188720"/>
          </a:xfrm>
          <a:prstGeom prst="rect">
            <a:avLst/>
          </a:prstGeom>
          <a:noFill/>
        </p:spPr>
        <p:txBody>
          <a:bodyPr wrap="square" lIns="45720" rIns="45720">
            <a:spAutoFit/>
          </a:bodyPr>
          <a:lstStyle/>
          <a:p>
            <a:pPr>
              <a:spcAft>
                <a:spcPts val="300"/>
              </a:spcAft>
            </a:pPr>
            <a:r>
              <a:rPr sz="1300" b="0">
                <a:solidFill>
                  <a:srgbClr val="222B38"/>
                </a:solidFill>
                <a:latin typeface="Calibri"/>
              </a:rPr>
              <a:t>•  Answers with the order's category: 24 of 24 (22 without it)</a:t>
            </a:r>
          </a:p>
          <a:p>
            <a:pPr>
              <a:spcAft>
                <a:spcPts val="300"/>
              </a:spcAft>
            </a:pPr>
            <a:r>
              <a:rPr sz="1300" b="0">
                <a:solidFill>
                  <a:srgbClr val="222B38"/>
                </a:solidFill>
                <a:latin typeface="Calibri"/>
              </a:rPr>
              <a:t>•  The category excludes other categories' return windows</a:t>
            </a:r>
          </a:p>
          <a:p>
            <a:pPr>
              <a:spcAft>
                <a:spcPts val="300"/>
              </a:spcAft>
            </a:pPr>
            <a:r>
              <a:rPr sz="1300" b="0">
                <a:solidFill>
                  <a:srgbClr val="222B38"/>
                </a:solidFill>
                <a:latin typeface="Calibri"/>
              </a:rPr>
              <a:t>•  Extractive answers quote the policy text; nothing is invented</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tests/unit/test_memory.py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