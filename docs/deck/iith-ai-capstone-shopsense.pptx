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complete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TICKETS A, B, C</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F8B8D"/>
                </a:solidFill>
                <a:latin typeface="Calibri"/>
              </a:rPr>
              <a:t>TICKETS A, B, C IN LANGFUSE (LIVE, MCP; CLICK AN ID)</a:t>
            </a:r>
          </a:p>
        </p:txBody>
      </p:sp>
      <p:graphicFrame>
        <p:nvGraphicFramePr>
          <p:cNvPr id="34" name="Table 33"/>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142B4D"/>
                    </a:solidFill>
                  </a:tcPr>
                </a:tc>
                <a:tc>
                  <a:txBody>
                    <a:bodyPr wrap="square"/>
                    <a:lstStyle/>
                    <a:p>
                      <a:pPr>
                        <a:spcAft>
                          <a:spcPts val="0"/>
                        </a:spcAft>
                      </a:pPr>
                      <a:r>
                        <a:rPr sz="900" b="1">
                          <a:solidFill>
                            <a:srgbClr val="FFFFFF"/>
                          </a:solidFill>
                          <a:latin typeface="Calibri"/>
                        </a:rPr>
                        <a:t>Route</a:t>
                      </a:r>
                    </a:p>
                  </a:txBody>
                  <a:tcPr marT="36576" marB="36576">
                    <a:solidFill>
                      <a:srgbClr val="142B4D"/>
                    </a:solidFill>
                  </a:tcPr>
                </a:tc>
                <a:tc>
                  <a:txBody>
                    <a:bodyPr wrap="square"/>
                    <a:lstStyle/>
                    <a:p>
                      <a:pPr>
                        <a:spcAft>
                          <a:spcPts val="0"/>
                        </a:spcAft>
                      </a:pPr>
                      <a:r>
                        <a:rPr sz="900" b="1">
                          <a:solidFill>
                            <a:srgbClr val="FFFFFF"/>
                          </a:solidFill>
                          <a:latin typeface="Calibri"/>
                        </a:rPr>
                        <a:t>Spans</a:t>
                      </a:r>
                    </a:p>
                  </a:txBody>
                  <a:tcPr marT="36576" marB="36576">
                    <a:solidFill>
                      <a:srgbClr val="142B4D"/>
                    </a:solidFill>
                  </a:tcPr>
                </a:tc>
                <a:tc>
                  <a:txBody>
                    <a:bodyPr wrap="square"/>
                    <a:lstStyle/>
                    <a:p>
                      <a:pPr>
                        <a:spcAft>
                          <a:spcPts val="0"/>
                        </a:spcAft>
                      </a:pPr>
                      <a:r>
                        <a:rPr sz="900" b="1">
                          <a:solidFill>
                            <a:srgbClr val="FFFFFF"/>
                          </a:solidFill>
                          <a:latin typeface="Calibri"/>
                        </a:rPr>
                        <a:t>Tokens in/out</a:t>
                      </a:r>
                    </a:p>
                  </a:txBody>
                  <a:tcPr marT="36576" marB="36576">
                    <a:solidFill>
                      <a:srgbClr val="142B4D"/>
                    </a:solidFill>
                  </a:tcPr>
                </a:tc>
                <a:tc>
                  <a:txBody>
                    <a:bodyPr wrap="square"/>
                    <a:lstStyle/>
                    <a:p>
                      <a:pPr>
                        <a:spcAft>
                          <a:spcPts val="0"/>
                        </a:spcAft>
                      </a:pPr>
                      <a:r>
                        <a:rPr sz="900" b="1">
                          <a:solidFill>
                            <a:srgbClr val="FFFFFF"/>
                          </a:solidFill>
                          <a:latin typeface="Calibri"/>
                        </a:rPr>
                        <a:t>Cost</a:t>
                      </a:r>
                    </a:p>
                  </a:txBody>
                  <a:tcPr marT="36576" marB="36576">
                    <a:solidFill>
                      <a:srgbClr val="142B4D"/>
                    </a:solidFill>
                  </a:tcPr>
                </a:tc>
                <a:tc>
                  <a:txBody>
                    <a:bodyPr wrap="square"/>
                    <a:lstStyle/>
                    <a:p>
                      <a:pPr>
                        <a:spcAft>
                          <a:spcPts val="0"/>
                        </a:spcAft>
                      </a:pPr>
                      <a:r>
                        <a:rPr sz="900" b="1">
                          <a:solidFill>
                            <a:srgbClr val="FFFFFF"/>
                          </a:solidFill>
                          <a:latin typeface="Calibri"/>
                        </a:rPr>
                        <a:t>Time</a:t>
                      </a:r>
                    </a:p>
                  </a:txBody>
                  <a:tcPr marT="36576" marB="36576">
                    <a:solidFill>
                      <a:srgbClr val="142B4D"/>
                    </a:solidFill>
                  </a:tcPr>
                </a:tc>
              </a:tr>
              <a:tr h="246888">
                <a:tc>
                  <a:txBody>
                    <a:bodyPr wrap="square"/>
                    <a:lstStyle/>
                    <a:p>
                      <a:pPr>
                        <a:spcAft>
                          <a:spcPts val="0"/>
                        </a:spcAft>
                      </a:pPr>
                      <a:r>
                        <a:rPr sz="900" b="0">
                          <a:solidFill>
                            <a:srgbClr val="222B38"/>
                          </a:solidFill>
                          <a:latin typeface="Calibri"/>
                          <a:hlinkClick r:id="rId3"/>
                        </a:rPr>
                        <a:t>A  62f3393f</a:t>
                      </a:r>
                    </a:p>
                  </a:txBody>
                  <a:tcPr marT="36576" marB="36576">
                    <a:solidFill>
                      <a:srgbClr val="EEF3F8"/>
                    </a:solidFill>
                  </a:tcPr>
                </a:tc>
                <a:tc>
                  <a:txBody>
                    <a:bodyPr wrap="square"/>
                    <a:lstStyle/>
                    <a:p>
                      <a:pPr>
                        <a:spcAft>
                          <a:spcPts val="0"/>
                        </a:spcAft>
                      </a:pPr>
                      <a:r>
                        <a:rPr sz="900" b="0">
                          <a:solidFill>
                            <a:srgbClr val="222B38"/>
                          </a:solidFill>
                          <a:latin typeface="Calibri"/>
                        </a:rPr>
                        <a:t>full, human</a:t>
                      </a:r>
                    </a:p>
                  </a:txBody>
                  <a:tcPr marT="36576" marB="36576">
                    <a:solidFill>
                      <a:srgbClr val="EEF3F8"/>
                    </a:solidFill>
                  </a:tcPr>
                </a:tc>
                <a:tc>
                  <a:txBody>
                    <a:bodyPr wrap="square"/>
                    <a:lstStyle/>
                    <a:p>
                      <a:pPr>
                        <a:spcAft>
                          <a:spcPts val="0"/>
                        </a:spcAft>
                      </a:pPr>
                      <a:r>
                        <a:rPr sz="900" b="0">
                          <a:solidFill>
                            <a:srgbClr val="222B38"/>
                          </a:solidFill>
                          <a:latin typeface="Calibri"/>
                        </a:rPr>
                        <a:t>9</a:t>
                      </a:r>
                    </a:p>
                  </a:txBody>
                  <a:tcPr marT="36576" marB="36576">
                    <a:solidFill>
                      <a:srgbClr val="EEF3F8"/>
                    </a:solidFill>
                  </a:tcPr>
                </a:tc>
                <a:tc>
                  <a:txBody>
                    <a:bodyPr wrap="square"/>
                    <a:lstStyle/>
                    <a:p>
                      <a:pPr>
                        <a:spcAft>
                          <a:spcPts val="0"/>
                        </a:spcAft>
                      </a:pPr>
                      <a:r>
                        <a:rPr sz="900" b="0">
                          <a:solidFill>
                            <a:srgbClr val="222B38"/>
                          </a:solidFill>
                          <a:latin typeface="Calibri"/>
                        </a:rPr>
                        <a:t>1079 / 193</a:t>
                      </a:r>
                    </a:p>
                  </a:txBody>
                  <a:tcPr marT="36576" marB="36576">
                    <a:solidFill>
                      <a:srgbClr val="EEF3F8"/>
                    </a:solidFill>
                  </a:tcPr>
                </a:tc>
                <a:tc>
                  <a:txBody>
                    <a:bodyPr wrap="square"/>
                    <a:lstStyle/>
                    <a:p>
                      <a:pPr>
                        <a:spcAft>
                          <a:spcPts val="0"/>
                        </a:spcAft>
                      </a:pPr>
                      <a:r>
                        <a:rPr sz="900" b="0">
                          <a:solidFill>
                            <a:srgbClr val="222B38"/>
                          </a:solidFill>
                          <a:latin typeface="Calibri"/>
                        </a:rPr>
                        <a:t>$0.00081</a:t>
                      </a:r>
                    </a:p>
                  </a:txBody>
                  <a:tcPr marT="36576" marB="36576">
                    <a:solidFill>
                      <a:srgbClr val="EEF3F8"/>
                    </a:solidFill>
                  </a:tcPr>
                </a:tc>
                <a:tc>
                  <a:txBody>
                    <a:bodyPr wrap="square"/>
                    <a:lstStyle/>
                    <a:p>
                      <a:pPr>
                        <a:spcAft>
                          <a:spcPts val="0"/>
                        </a:spcAft>
                      </a:pPr>
                      <a:r>
                        <a:rPr sz="900" b="0">
                          <a:solidFill>
                            <a:srgbClr val="222B38"/>
                          </a:solidFill>
                          <a:latin typeface="Calibri"/>
                        </a:rPr>
                        <a:t>7.6 s</a:t>
                      </a:r>
                    </a:p>
                  </a:txBody>
                  <a:tcPr marT="36576" marB="36576">
                    <a:solidFill>
                      <a:srgbClr val="EEF3F8"/>
                    </a:solidFill>
                  </a:tcPr>
                </a:tc>
              </a:tr>
              <a:tr h="246888">
                <a:tc>
                  <a:txBody>
                    <a:bodyPr wrap="square"/>
                    <a:lstStyle/>
                    <a:p>
                      <a:pPr>
                        <a:spcAft>
                          <a:spcPts val="0"/>
                        </a:spcAft>
                      </a:pPr>
                      <a:r>
                        <a:rPr sz="900" b="0">
                          <a:solidFill>
                            <a:srgbClr val="222B38"/>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222B38"/>
                          </a:solidFill>
                          <a:latin typeface="Calibri"/>
                        </a:rPr>
                        <a:t>fast_track</a:t>
                      </a:r>
                    </a:p>
                  </a:txBody>
                  <a:tcPr marT="36576" marB="36576">
                    <a:solidFill>
                      <a:srgbClr val="FFFFFF"/>
                    </a:solidFill>
                  </a:tcPr>
                </a:tc>
                <a:tc>
                  <a:txBody>
                    <a:bodyPr wrap="square"/>
                    <a:lstStyle/>
                    <a:p>
                      <a:pPr>
                        <a:spcAft>
                          <a:spcPts val="0"/>
                        </a:spcAft>
                      </a:pPr>
                      <a:r>
                        <a:rPr sz="900" b="0">
                          <a:solidFill>
                            <a:srgbClr val="222B38"/>
                          </a:solidFill>
                          <a:latin typeface="Calibri"/>
                        </a:rPr>
                        <a:t>7</a:t>
                      </a:r>
                    </a:p>
                  </a:txBody>
                  <a:tcPr marT="36576" marB="36576">
                    <a:solidFill>
                      <a:srgbClr val="FFFFFF"/>
                    </a:solidFill>
                  </a:tcPr>
                </a:tc>
                <a:tc>
                  <a:txBody>
                    <a:bodyPr wrap="square"/>
                    <a:lstStyle/>
                    <a:p>
                      <a:pPr>
                        <a:spcAft>
                          <a:spcPts val="0"/>
                        </a:spcAft>
                      </a:pPr>
                      <a:r>
                        <a:rPr sz="900" b="0">
                          <a:solidFill>
                            <a:srgbClr val="222B38"/>
                          </a:solidFill>
                          <a:latin typeface="Calibri"/>
                        </a:rPr>
                        <a:t>1029 / 177</a:t>
                      </a:r>
                    </a:p>
                  </a:txBody>
                  <a:tcPr marT="36576" marB="36576">
                    <a:solidFill>
                      <a:srgbClr val="FFFFFF"/>
                    </a:solidFill>
                  </a:tcPr>
                </a:tc>
                <a:tc>
                  <a:txBody>
                    <a:bodyPr wrap="square"/>
                    <a:lstStyle/>
                    <a:p>
                      <a:pPr>
                        <a:spcAft>
                          <a:spcPts val="0"/>
                        </a:spcAft>
                      </a:pPr>
                      <a:r>
                        <a:rPr sz="900" b="0">
                          <a:solidFill>
                            <a:srgbClr val="222B38"/>
                          </a:solidFill>
                          <a:latin typeface="Calibri"/>
                        </a:rPr>
                        <a:t>$0.00075</a:t>
                      </a:r>
                    </a:p>
                  </a:txBody>
                  <a:tcPr marT="36576" marB="36576">
                    <a:solidFill>
                      <a:srgbClr val="FFFFFF"/>
                    </a:solidFill>
                  </a:tcPr>
                </a:tc>
                <a:tc>
                  <a:txBody>
                    <a:bodyPr wrap="square"/>
                    <a:lstStyle/>
                    <a:p>
                      <a:pPr>
                        <a:spcAft>
                          <a:spcPts val="0"/>
                        </a:spcAft>
                      </a:pPr>
                      <a:r>
                        <a:rPr sz="900" b="0">
                          <a:solidFill>
                            <a:srgbClr val="222B38"/>
                          </a:solidFill>
                          <a:latin typeface="Calibri"/>
                        </a:rPr>
                        <a:t>4.1 s</a:t>
                      </a:r>
                    </a:p>
                  </a:txBody>
                  <a:tcPr marT="36576" marB="36576">
                    <a:solidFill>
                      <a:srgbClr val="FFFFFF"/>
                    </a:solidFill>
                  </a:tcPr>
                </a:tc>
              </a:tr>
              <a:tr h="246888">
                <a:tc>
                  <a:txBody>
                    <a:bodyPr wrap="square"/>
                    <a:lstStyle/>
                    <a:p>
                      <a:pPr>
                        <a:spcAft>
                          <a:spcPts val="0"/>
                        </a:spcAft>
                      </a:pPr>
                      <a:r>
                        <a:rPr sz="900" b="0">
                          <a:solidFill>
                            <a:srgbClr val="222B38"/>
                          </a:solidFill>
                          <a:latin typeface="Calibri"/>
                          <a:hlinkClick r:id="rId5"/>
                        </a:rPr>
                        <a:t>C  72b4b6c3</a:t>
                      </a:r>
                    </a:p>
                  </a:txBody>
                  <a:tcPr marT="36576" marB="36576">
                    <a:solidFill>
                      <a:srgbClr val="EEF3F8"/>
                    </a:solidFill>
                  </a:tcPr>
                </a:tc>
                <a:tc>
                  <a:txBody>
                    <a:bodyPr wrap="square"/>
                    <a:lstStyle/>
                    <a:p>
                      <a:pPr>
                        <a:spcAft>
                          <a:spcPts val="0"/>
                        </a:spcAft>
                      </a:pPr>
                      <a:r>
                        <a:rPr sz="900" b="0">
                          <a:solidFill>
                            <a:srgbClr val="222B38"/>
                          </a:solidFill>
                          <a:latin typeface="Calibri"/>
                        </a:rPr>
                        <a:t>escalate_now</a:t>
                      </a:r>
                    </a:p>
                  </a:txBody>
                  <a:tcPr marT="36576" marB="36576">
                    <a:solidFill>
                      <a:srgbClr val="EEF3F8"/>
                    </a:solidFill>
                  </a:tcPr>
                </a:tc>
                <a:tc>
                  <a:txBody>
                    <a:bodyPr wrap="square"/>
                    <a:lstStyle/>
                    <a:p>
                      <a:pPr>
                        <a:spcAft>
                          <a:spcPts val="0"/>
                        </a:spcAft>
                      </a:pPr>
                      <a:r>
                        <a:rPr sz="900" b="0">
                          <a:solidFill>
                            <a:srgbClr val="222B38"/>
                          </a:solidFill>
                          <a:latin typeface="Calibri"/>
                        </a:rPr>
                        <a:t>7</a:t>
                      </a:r>
                    </a:p>
                  </a:txBody>
                  <a:tcPr marT="36576" marB="36576">
                    <a:solidFill>
                      <a:srgbClr val="EEF3F8"/>
                    </a:solidFill>
                  </a:tcPr>
                </a:tc>
                <a:tc>
                  <a:txBody>
                    <a:bodyPr wrap="square"/>
                    <a:lstStyle/>
                    <a:p>
                      <a:pPr>
                        <a:spcAft>
                          <a:spcPts val="0"/>
                        </a:spcAft>
                      </a:pPr>
                      <a:r>
                        <a:rPr sz="900" b="0">
                          <a:solidFill>
                            <a:srgbClr val="222B38"/>
                          </a:solidFill>
                          <a:latin typeface="Calibri"/>
                        </a:rPr>
                        <a:t>1045 / 145</a:t>
                      </a:r>
                    </a:p>
                  </a:txBody>
                  <a:tcPr marT="36576" marB="36576">
                    <a:solidFill>
                      <a:srgbClr val="EEF3F8"/>
                    </a:solidFill>
                  </a:tcPr>
                </a:tc>
                <a:tc>
                  <a:txBody>
                    <a:bodyPr wrap="square"/>
                    <a:lstStyle/>
                    <a:p>
                      <a:pPr>
                        <a:spcAft>
                          <a:spcPts val="0"/>
                        </a:spcAft>
                      </a:pPr>
                      <a:r>
                        <a:rPr sz="900" b="0">
                          <a:solidFill>
                            <a:srgbClr val="222B38"/>
                          </a:solidFill>
                          <a:latin typeface="Calibri"/>
                        </a:rPr>
                        <a:t>$0.00068</a:t>
                      </a:r>
                    </a:p>
                  </a:txBody>
                  <a:tcPr marT="36576" marB="36576">
                    <a:solidFill>
                      <a:srgbClr val="EEF3F8"/>
                    </a:solidFill>
                  </a:tcPr>
                </a:tc>
                <a:tc>
                  <a:txBody>
                    <a:bodyPr wrap="square"/>
                    <a:lstStyle/>
                    <a:p>
                      <a:pPr>
                        <a:spcAft>
                          <a:spcPts val="0"/>
                        </a:spcAft>
                      </a:pPr>
                      <a:r>
                        <a:rPr sz="900" b="0">
                          <a:solidFill>
                            <a:srgbClr val="222B38"/>
                          </a:solidFill>
                          <a:latin typeface="Calibri"/>
                        </a:rPr>
                        <a:t>4.4 s</a:t>
                      </a:r>
                    </a:p>
                  </a:txBody>
                  <a:tcPr marT="36576" marB="36576">
                    <a:solidFill>
                      <a:srgbClr val="EEF3F8"/>
                    </a:solidFill>
                  </a:tcPr>
                </a:tc>
              </a:tr>
            </a:tbl>
          </a:graphicData>
        </a:graphic>
      </p:graphicFrame>
      <p:sp>
        <p:nvSpPr>
          <p:cNvPr id="35" name="Rounded Rectangle 34"/>
          <p:cNvSpPr/>
          <p:nvPr/>
        </p:nvSpPr>
        <p:spPr>
          <a:xfrm>
            <a:off x="6949440" y="2651760"/>
            <a:ext cx="4709160" cy="96012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7D32"/>
                </a:solidFill>
                <a:latin typeface="Calibri"/>
              </a:rPr>
              <a:t>Failure checks</a:t>
            </a:r>
          </a:p>
          <a:p>
            <a:pPr>
              <a:spcAft>
                <a:spcPts val="100"/>
              </a:spcAft>
            </a:pPr>
            <a:r>
              <a:rPr sz="950" b="0">
                <a:solidFill>
                  <a:srgbClr val="222B38"/>
                </a:solidFill>
                <a:latin typeface="Calibri"/>
              </a:rPr>
              <a:t>MCP unreachable: ticket B still resolved, the result says failover. LLM unavailable: /chat answered 200 and queued the case (KW-HQ-00003).</a:t>
            </a:r>
          </a:p>
          <a:p>
            <a:pPr>
              <a:spcAft>
                <a:spcPts val="100"/>
              </a:spcAft>
            </a:pPr>
            <a:r>
              <a:rPr sz="950" b="0">
                <a:solidFill>
                  <a:srgbClr val="222B38"/>
                </a:solidFill>
                <a:latin typeface="Calibri"/>
              </a:rPr>
              <a:t>A and C already end at a person, so an outage changes nothing for them.</a:t>
            </a:r>
          </a:p>
        </p:txBody>
      </p:sp>
      <p:sp>
        <p:nvSpPr>
          <p:cNvPr id="37" name="TextBox 36"/>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8" name="Table 37"/>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142B4D"/>
                    </a:solidFill>
                  </a:tcPr>
                </a:tc>
                <a:tc>
                  <a:txBody>
                    <a:bodyPr wrap="square"/>
                    <a:lstStyle/>
                    <a:p>
                      <a:pPr>
                        <a:spcAft>
                          <a:spcPts val="0"/>
                        </a:spcAft>
                      </a:pPr>
                      <a:r>
                        <a:rPr sz="950" b="1">
                          <a:solidFill>
                            <a:srgbClr val="FFFFFF"/>
                          </a:solidFill>
                          <a:latin typeface="Calibri"/>
                        </a:rPr>
                        <a:t>How</a:t>
                      </a:r>
                    </a:p>
                  </a:txBody>
                  <a:tcPr marT="36576" marB="36576">
                    <a:solidFill>
                      <a:srgbClr val="142B4D"/>
                    </a:solidFill>
                  </a:tcPr>
                </a:tc>
              </a:tr>
              <a:tr h="246888">
                <a:tc>
                  <a:txBody>
                    <a:bodyPr wrap="square"/>
                    <a:lstStyle/>
                    <a:p>
                      <a:pPr>
                        <a:spcAft>
                          <a:spcPts val="0"/>
                        </a:spcAft>
                      </a:pPr>
                      <a:r>
                        <a:rPr sz="95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950" b="0">
                          <a:solidFill>
                            <a:srgbClr val="222B38"/>
                          </a:solidFill>
                          <a:latin typeface="Calibri"/>
                        </a:rPr>
                        <a:t>backoff; malformed goes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Breaker</a:t>
                      </a:r>
                    </a:p>
                  </a:txBody>
                  <a:tcPr marT="36576" marB="36576">
                    <a:solidFill>
                      <a:srgbClr val="FFFFFF"/>
                    </a:solidFill>
                  </a:tcPr>
                </a:tc>
                <a:tc>
                  <a:txBody>
                    <a:bodyPr wrap="square"/>
                    <a:lstStyle/>
                    <a:p>
                      <a:pPr>
                        <a:spcAft>
                          <a:spcPts val="0"/>
                        </a:spcAft>
                      </a:pPr>
                      <a:r>
                        <a:rPr sz="950" b="0">
                          <a:solidFill>
                            <a:srgbClr val="222B38"/>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200 seeded calls</a:t>
                      </a:r>
                    </a:p>
                  </a:txBody>
                  <a:tcPr marT="36576" marB="36576">
                    <a:solidFill>
                      <a:srgbClr val="EEF3F8"/>
                    </a:solidFill>
                  </a:tcPr>
                </a:tc>
                <a:tc>
                  <a:txBody>
                    <a:bodyPr wrap="square"/>
                    <a:lstStyle/>
                    <a:p>
                      <a:pPr>
                        <a:spcAft>
                          <a:spcPts val="0"/>
                        </a:spcAft>
                      </a:pPr>
                      <a:r>
                        <a:rPr sz="950" b="0">
                          <a:solidFill>
                            <a:srgbClr val="222B38"/>
                          </a:solidFill>
                          <a:latin typeface="Calibri"/>
                        </a:rPr>
                        <a:t>57% clean, then 179 + 21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Dead tool</a:t>
                      </a:r>
                    </a:p>
                  </a:txBody>
                  <a:tcPr marT="36576" marB="36576">
                    <a:solidFill>
                      <a:srgbClr val="FFFFFF"/>
                    </a:solidFill>
                  </a:tcPr>
                </a:tc>
                <a:tc>
                  <a:txBody>
                    <a:bodyPr wrap="square"/>
                    <a:lstStyle/>
                    <a:p>
                      <a:pPr>
                        <a:spcAft>
                          <a:spcPts val="0"/>
                        </a:spcAft>
                      </a:pPr>
                      <a:r>
                        <a:rPr sz="950" b="0">
                          <a:solidFill>
                            <a:srgbClr val="222B38"/>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Tracing cost</a:t>
                      </a:r>
                    </a:p>
                  </a:txBody>
                  <a:tcPr marT="36576" marB="36576">
                    <a:solidFill>
                      <a:srgbClr val="EEF3F8"/>
                    </a:solidFill>
                  </a:tcPr>
                </a:tc>
                <a:tc>
                  <a:txBody>
                    <a:bodyPr wrap="square"/>
                    <a:lstStyle/>
                    <a:p>
                      <a:pPr>
                        <a:spcAft>
                          <a:spcPts val="0"/>
                        </a:spcAft>
                      </a:pPr>
                      <a:r>
                        <a:rPr sz="950" b="0">
                          <a:solidFill>
                            <a:srgbClr val="222B38"/>
                          </a:solidFill>
                          <a:latin typeface="Calibri"/>
                        </a:rPr>
                        <a:t>+1.3 ms per ticket (a flush per ticket cost 200 ms, now batched)</a:t>
                      </a:r>
                    </a:p>
                  </a:txBody>
                  <a:tcPr marT="36576" marB="36576">
                    <a:solidFill>
                      <a:srgbClr val="EEF3F8"/>
                    </a:solidFill>
                  </a:tcPr>
                </a:tc>
              </a:tr>
            </a:tbl>
          </a:graphicData>
        </a:graphic>
      </p:graphicFrame>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1645919"/>
        </p:xfrm>
        <a:graphic>
          <a:graphicData uri="http://schemas.openxmlformats.org/drawingml/2006/table">
            <a:tbl>
              <a:tblPr firstRow="1" bandRow="1">
                <a:tableStyleId>{5C22544A-7EE6-4342-B048-85BDC9FD1C3A}</a:tableStyleId>
              </a:tblPr>
              <a:tblGrid>
                <a:gridCol w="2743200"/>
                <a:gridCol w="1463040"/>
              </a:tblGrid>
              <a:tr h="329183">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29183">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98 passed</a:t>
                      </a:r>
                    </a:p>
                  </a:txBody>
                  <a:tcPr marT="36576" marB="36576">
                    <a:solidFill>
                      <a:srgbClr val="EEF3F8"/>
                    </a:solidFill>
                  </a:tcPr>
                </a:tc>
              </a:tr>
              <a:tr h="329183">
                <a:tc>
                  <a:txBody>
                    <a:bodyPr wrap="square"/>
                    <a:lstStyle/>
                    <a:p>
                      <a:pPr>
                        <a:spcAft>
                          <a:spcPts val="0"/>
                        </a:spcAft>
                      </a:pPr>
                      <a:r>
                        <a:rPr sz="1100" b="0">
                          <a:solidFill>
                            <a:srgbClr val="222B38"/>
                          </a:solidFill>
                          <a:latin typeface="Calibri"/>
                        </a:rPr>
                        <a:t>M8 golden tickets, stored and live</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29183">
                <a:tc>
                  <a:txBody>
                    <a:bodyPr wrap="square"/>
                    <a:lstStyle/>
                    <a:p>
                      <a:pPr>
                        <a:spcAft>
                          <a:spcPts val="0"/>
                        </a:spcAft>
                      </a:pPr>
                      <a:r>
                        <a:rPr sz="1100" b="0">
                          <a:solidFill>
                            <a:srgbClr val="222B38"/>
                          </a:solidFill>
                          <a:latin typeface="Calibri"/>
                        </a:rPr>
                        <a:t>M8 components: rules / judge</a:t>
                      </a:r>
                    </a:p>
                  </a:txBody>
                  <a:tcPr marT="36576" marB="36576">
                    <a:solidFill>
                      <a:srgbClr val="EEF3F8"/>
                    </a:solidFill>
                  </a:tcPr>
                </a:tc>
                <a:tc>
                  <a:txBody>
                    <a:bodyPr wrap="square"/>
                    <a:lstStyle/>
                    <a:p>
                      <a:pPr>
                        <a:spcAft>
                          <a:spcPts val="0"/>
                        </a:spcAft>
                      </a:pPr>
                      <a:r>
                        <a:rPr sz="1100" b="0">
                          <a:solidFill>
                            <a:srgbClr val="222B38"/>
                          </a:solidFill>
                          <a:latin typeface="Calibri"/>
                        </a:rPr>
                        <a:t>1.0 / 0.64</a:t>
                      </a:r>
                    </a:p>
                  </a:txBody>
                  <a:tcPr marT="36576" marB="36576">
                    <a:solidFill>
                      <a:srgbClr val="EEF3F8"/>
                    </a:solidFill>
                  </a:tcPr>
                </a:tc>
              </a:tr>
              <a:tr h="329187">
                <a:tc>
                  <a:txBody>
                    <a:bodyPr wrap="square"/>
                    <a:lstStyle/>
                    <a:p>
                      <a:pPr>
                        <a:spcAft>
                          <a:spcPts val="0"/>
                        </a:spcAft>
                      </a:pPr>
                      <a:r>
                        <a:rPr sz="1100" b="0">
                          <a:solidFill>
                            <a:srgbClr val="222B38"/>
                          </a:solidFill>
                          <a:latin typeface="Calibri"/>
                        </a:rPr>
                        <a:t>M1 intent accuracy</a:t>
                      </a:r>
                    </a:p>
                  </a:txBody>
                  <a:tcPr marT="36576" marB="36576">
                    <a:solidFill>
                      <a:srgbClr val="FFFFFF"/>
                    </a:solidFill>
                  </a:tcPr>
                </a:tc>
                <a:tc>
                  <a:txBody>
                    <a:bodyPr wrap="square"/>
                    <a:lstStyle/>
                    <a:p>
                      <a:pPr>
                        <a:spcAft>
                          <a:spcPts val="0"/>
                        </a:spcAft>
                      </a:pPr>
                      <a:r>
                        <a:rPr sz="1100" b="0">
                          <a:solidFill>
                            <a:srgbClr val="222B38"/>
                          </a:solidFill>
                          <a:latin typeface="Calibri"/>
                        </a:rPr>
                        <a:t>0.72 (target 0.8)</a:t>
                      </a:r>
                    </a:p>
                  </a:txBody>
                  <a:tcPr marT="36576" marB="36576">
                    <a:solidFill>
                      <a:srgbClr val="FFFFFF"/>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463040"/>
          </a:xfrm>
          <a:prstGeom prst="rect">
            <a:avLst/>
          </a:prstGeom>
          <a:noFill/>
        </p:spPr>
        <p:txBody>
          <a:bodyPr wrap="square" lIns="45720" rIns="45720">
            <a:spAutoFit/>
          </a:bodyPr>
          <a:lstStyle/>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a:p>
            <a:pPr>
              <a:spcAft>
                <a:spcPts val="300"/>
              </a:spcAft>
            </a:pPr>
            <a:r>
              <a:rPr sz="1100" b="0">
                <a:solidFill>
                  <a:srgbClr val="222B38"/>
                </a:solidFill>
                <a:latin typeface="Calibri"/>
              </a:rPr>
              <a:t>•  Judge found weak retrieval on safety and double charge</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1463040"/>
          </a:xfrm>
          <a:prstGeom prst="rect">
            <a:avLst/>
          </a:prstGeom>
          <a:noFill/>
        </p:spPr>
        <p:txBody>
          <a:bodyPr wrap="square" lIns="45720" rIns="45720">
            <a:spAutoFit/>
          </a:bodyPr>
          <a:lstStyle/>
          <a:p>
            <a:pPr>
              <a:spcAft>
                <a:spcPts val="300"/>
              </a:spcAft>
            </a:pPr>
            <a:r>
              <a:rPr sz="1100" b="0">
                <a:solidFill>
                  <a:srgbClr val="222B38"/>
                </a:solidFill>
                <a:latin typeface="Calibri"/>
              </a:rPr>
              <a:t>•  No auth on /chat, no PII redaction</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Docker image written, not built</a:t>
            </a:r>
          </a:p>
        </p:txBody>
      </p:sp>
      <p:graphicFrame>
        <p:nvGraphicFramePr>
          <p:cNvPr id="12" name="Table 11"/>
          <p:cNvGraphicFramePr>
            <a:graphicFrameLocks noGrp="1"/>
          </p:cNvGraphicFramePr>
          <p:nvPr/>
        </p:nvGraphicFramePr>
        <p:xfrm>
          <a:off x="548640" y="3429000"/>
          <a:ext cx="11109960" cy="1243584"/>
        </p:xfrm>
        <a:graphic>
          <a:graphicData uri="http://schemas.openxmlformats.org/drawingml/2006/table">
            <a:tbl>
              <a:tblPr firstRow="1" bandRow="1">
                <a:tableStyleId>{5C22544A-7EE6-4342-B048-85BDC9FD1C3A}</a:tableStyleId>
              </a:tblPr>
              <a:tblGrid>
                <a:gridCol w="1645920"/>
                <a:gridCol w="5120640"/>
                <a:gridCol w="4343400"/>
              </a:tblGrid>
              <a:tr h="310896">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310896">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98 passed</a:t>
                      </a:r>
                    </a:p>
                  </a:txBody>
                  <a:tcPr marT="36576" marB="36576">
                    <a:solidFill>
                      <a:srgbClr val="EEF3F8"/>
                    </a:solidFill>
                  </a:tcPr>
                </a:tc>
              </a:tr>
              <a:tr h="310896">
                <a:tc>
                  <a:txBody>
                    <a:bodyPr wrap="square"/>
                    <a:lstStyle/>
                    <a:p>
                      <a:pPr>
                        <a:spcAft>
                          <a:spcPts val="0"/>
                        </a:spcAft>
                      </a:pPr>
                      <a:r>
                        <a:rPr sz="1050" b="0">
                          <a:solidFill>
                            <a:srgbClr val="222B38"/>
                          </a:solidFill>
                          <a:latin typeface="Calibri"/>
                        </a:rPr>
                        <a:t>2  Golden eval</a:t>
                      </a:r>
                    </a:p>
                  </a:txBody>
                  <a:tcPr marT="36576" marB="36576">
                    <a:solidFill>
                      <a:srgbClr val="FFFFFF"/>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FFFFFF"/>
                    </a:solidFill>
                  </a:tcPr>
                </a:tc>
              </a:tr>
              <a:tr h="310896">
                <a:tc>
                  <a:txBody>
                    <a:bodyPr wrap="square"/>
                    <a:lstStyle/>
                    <a:p>
                      <a:pPr>
                        <a:spcAft>
                          <a:spcPts val="0"/>
                        </a:spcAft>
                      </a:pPr>
                      <a:r>
                        <a:rPr sz="1050" b="0">
                          <a:solidFill>
                            <a:srgbClr val="222B38"/>
                          </a:solidFill>
                          <a:latin typeface="Calibri"/>
                        </a:rPr>
                        <a:t>3  API</a:t>
                      </a:r>
                    </a:p>
                  </a:txBody>
                  <a:tcPr marT="36576" marB="36576">
                    <a:solidFill>
                      <a:srgbClr val="EEF3F8"/>
                    </a:solidFill>
                  </a:tcPr>
                </a:tc>
                <a:tc>
                  <a:txBody>
                    <a:bodyPr wrap="square"/>
                    <a:lstStyle/>
                    <a:p>
                      <a:pPr>
                        <a:spcAft>
                          <a:spcPts val="0"/>
                        </a:spcAft>
                      </a:pPr>
                      <a:r>
                        <a:rPr sz="1050" b="0">
                          <a:solidFill>
                            <a:srgbClr val="222B38"/>
                          </a:solidFill>
                          <a:latin typeface="Calibri"/>
                        </a:rPr>
                        <a:t>uvicorn capstone.api:app, then the Postman collection</a:t>
                      </a:r>
                    </a:p>
                  </a:txBody>
                  <a:tcPr marT="36576" marB="36576">
                    <a:solidFill>
                      <a:srgbClr val="EEF3F8"/>
                    </a:solidFill>
                  </a:tcPr>
                </a:tc>
                <a:tc>
                  <a:txBody>
                    <a:bodyPr wrap="square"/>
                    <a:lstStyle/>
                    <a:p>
                      <a:pPr>
                        <a:spcAft>
                          <a:spcPts val="0"/>
                        </a:spcAft>
                      </a:pPr>
                      <a:r>
                        <a:rPr sz="1050" b="0">
                          <a:solidFill>
                            <a:srgbClr val="222B38"/>
                          </a:solidFill>
                          <a:latin typeface="Calibri"/>
                        </a:rPr>
                        <a:t>Tickets A, B, C; empty text gives 422</a:t>
                      </a:r>
                    </a:p>
                  </a:txBody>
                  <a:tcPr marT="36576" marB="36576">
                    <a:solidFill>
                      <a:srgbClr val="EEF3F8"/>
                    </a:solidFill>
                  </a:tcPr>
                </a:tc>
              </a:tr>
            </a:tbl>
          </a:graphicData>
        </a:graphic>
      </p:graphicFrame>
      <p:sp>
        <p:nvSpPr>
          <p:cNvPr id="13" name="Rounded Rectangle 12"/>
          <p:cNvSpPr/>
          <p:nvPr/>
        </p:nvSpPr>
        <p:spPr>
          <a:xfrm>
            <a:off x="548640" y="50292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0566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98 tests, 40 golden items.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