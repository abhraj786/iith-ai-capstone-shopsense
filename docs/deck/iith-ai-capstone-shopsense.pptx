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(tickets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Oval 1"/>
          <p:cNvSpPr/>
          <p:nvPr/>
        </p:nvSpPr>
        <p:spPr>
          <a:xfrm>
            <a:off x="8778240" y="-1463040"/>
            <a:ext cx="4754880" cy="4754880"/>
          </a:xfrm>
          <a:prstGeom prst="ellipse">
            <a:avLst/>
          </a:prstGeom>
          <a:solidFill>
            <a:srgbClr val="1A6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4206240"/>
            <a:ext cx="4023360" cy="4023360"/>
          </a:xfrm>
          <a:prstGeom prst="ellipse">
            <a:avLst/>
          </a:prstGeom>
          <a:solidFill>
            <a:srgbClr val="084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822960"/>
            <a:ext cx="822960" cy="6400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60120"/>
            <a:ext cx="6949440" cy="731520"/>
          </a:xfrm>
          <a:prstGeom prst="rect">
            <a:avLst/>
          </a:prstGeom>
          <a:noFill/>
        </p:spPr>
        <p:txBody>
          <a:bodyPr wrap="square" lIns="45720" rIns="45720">
            <a:spAutoFit/>
          </a:bodyPr>
          <a:lstStyle/>
          <a:p>
            <a:pPr>
              <a:spcAft>
                <a:spcPts val="0"/>
              </a:spcAft>
            </a:pPr>
            <a:r>
              <a:rPr sz="1300" b="1">
                <a:solidFill>
                  <a:srgbClr val="90D0FE"/>
                </a:solidFill>
                <a:latin typeface="Calibri"/>
              </a:rPr>
              <a:t>APPLIED AI PROFESSIONAL</a:t>
            </a:r>
          </a:p>
          <a:p>
            <a:pPr>
              <a:spcAft>
                <a:spcPts val="0"/>
              </a:spcAft>
            </a:pPr>
            <a:r>
              <a:rPr sz="1300" b="1">
                <a:solidFill>
                  <a:srgbClr val="90D0FE"/>
                </a:solidFill>
                <a:latin typeface="Calibri"/>
              </a:rPr>
              <a:t>CERTIFICATION PROGRAM  |  CAPSTONE PROJECT</a:t>
            </a:r>
          </a:p>
        </p:txBody>
      </p:sp>
      <p:sp>
        <p:nvSpPr>
          <p:cNvPr id="6" name="TextBox 5"/>
          <p:cNvSpPr txBox="1"/>
          <p:nvPr/>
        </p:nvSpPr>
        <p:spPr>
          <a:xfrm>
            <a:off x="777240" y="1783080"/>
            <a:ext cx="6949440" cy="1097280"/>
          </a:xfrm>
          <a:prstGeom prst="rect">
            <a:avLst/>
          </a:prstGeom>
          <a:noFill/>
        </p:spPr>
        <p:txBody>
          <a:bodyPr wrap="square" lIns="45720" rIns="45720">
            <a:spAutoFit/>
          </a:bodyPr>
          <a:lstStyle/>
          <a:p>
            <a:pPr>
              <a:spcAft>
                <a:spcPts val="600"/>
              </a:spcAft>
            </a:pPr>
            <a:r>
              <a:rPr sz="6600" b="1">
                <a:solidFill>
                  <a:srgbClr val="FFFFFF"/>
                </a:solidFill>
                <a:latin typeface="Calibri"/>
              </a:rPr>
              <a:t>ShopSense</a:t>
            </a:r>
          </a:p>
        </p:txBody>
      </p:sp>
      <p:sp>
        <p:nvSpPr>
          <p:cNvPr id="7" name="TextBox 6"/>
          <p:cNvSpPr txBox="1"/>
          <p:nvPr/>
        </p:nvSpPr>
        <p:spPr>
          <a:xfrm>
            <a:off x="777240" y="2926080"/>
            <a:ext cx="6766560" cy="109728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8" name="Rectangle 7"/>
          <p:cNvSpPr/>
          <p:nvPr/>
        </p:nvSpPr>
        <p:spPr>
          <a:xfrm>
            <a:off x="822960" y="4160520"/>
            <a:ext cx="6400800" cy="1828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297680"/>
            <a:ext cx="694944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10" name="TextBox 9"/>
          <p:cNvSpPr txBox="1"/>
          <p:nvPr/>
        </p:nvSpPr>
        <p:spPr>
          <a:xfrm>
            <a:off x="777240" y="4800600"/>
            <a:ext cx="6949440" cy="365760"/>
          </a:xfrm>
          <a:prstGeom prst="rect">
            <a:avLst/>
          </a:prstGeom>
          <a:noFill/>
        </p:spPr>
        <p:txBody>
          <a:bodyPr wrap="square" lIns="45720" rIns="45720">
            <a:spAutoFit/>
          </a:bodyPr>
          <a:lstStyle/>
          <a:p>
            <a:pPr>
              <a:spcAft>
                <a:spcPts val="600"/>
              </a:spcAft>
            </a:pPr>
            <a:r>
              <a:rPr sz="1700" b="0">
                <a:solidFill>
                  <a:srgbClr val="B8C7DA"/>
                </a:solidFill>
                <a:latin typeface="Calibri"/>
              </a:rPr>
              <a:t>Lead Member of Technical Staff, Salesforce</a:t>
            </a:r>
          </a:p>
        </p:txBody>
      </p:sp>
      <p:sp>
        <p:nvSpPr>
          <p:cNvPr id="11" name="Rounded Rectangle 10"/>
          <p:cNvSpPr/>
          <p:nvPr/>
        </p:nvSpPr>
        <p:spPr>
          <a:xfrm>
            <a:off x="822960" y="5349240"/>
            <a:ext cx="4846320" cy="384048"/>
          </a:xfrm>
          <a:prstGeom prst="roundRect">
            <a:avLst>
              <a:gd name="adj" fmla="val 50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394960"/>
            <a:ext cx="4846320" cy="329184"/>
          </a:xfrm>
          <a:prstGeom prst="rect">
            <a:avLst/>
          </a:prstGeom>
          <a:noFill/>
        </p:spPr>
        <p:txBody>
          <a:bodyPr wrap="square" lIns="45720" rIns="45720">
            <a:spAutoFit/>
          </a:bodyPr>
          <a:lstStyle/>
          <a:p>
            <a:pPr algn="ctr">
              <a:spcAft>
                <a:spcPts val="0"/>
              </a:spcAft>
            </a:pPr>
            <a:r>
              <a:rPr sz="1200" b="1">
                <a:solidFill>
                  <a:srgbClr val="032D60"/>
                </a:solidFill>
                <a:latin typeface="Calibri"/>
                <a:hlinkClick r:id="rId2"/>
              </a:rPr>
              <a:t>Github Link: github.com/abhraj786/iith-ai-capstone-shopsense</a:t>
            </a:r>
          </a:p>
        </p:txBody>
      </p:sp>
      <p:sp>
        <p:nvSpPr>
          <p:cNvPr id="13" name="TextBox 12"/>
          <p:cNvSpPr txBox="1"/>
          <p:nvPr/>
        </p:nvSpPr>
        <p:spPr>
          <a:xfrm>
            <a:off x="777240" y="6080760"/>
            <a:ext cx="7498079" cy="365760"/>
          </a:xfrm>
          <a:prstGeom prst="rect">
            <a:avLst/>
          </a:prstGeom>
          <a:noFill/>
        </p:spPr>
        <p:txBody>
          <a:bodyPr wrap="square" lIns="45720" rIns="45720">
            <a:spAutoFit/>
          </a:bodyPr>
          <a:lstStyle/>
          <a:p>
            <a:pPr>
              <a:spcAft>
                <a:spcPts val="600"/>
              </a:spcAft>
            </a:pPr>
            <a:r>
              <a:rPr sz="1200" b="0">
                <a:solidFill>
                  <a:srgbClr val="B8C7DA"/>
                </a:solidFill>
                <a:latin typeface="Calibri"/>
              </a:rPr>
              <a:t>Department of Computer Science &amp; Engineering, Indian Institute of Technology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utterance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UTTERANCES WE FOLLOW, SAME CODE FOR ALL  (bar colour = where it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Utterance</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TICKETS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ticket,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TICKETS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Ticket,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tickets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TICKETS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ticket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TICKET: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ticket)</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Ticket B (tracking) needs no policy, so M6 skips it; ticket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Tickets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Ticket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Tickets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TICKETS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TICKETS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ticket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303520"/>
          <a:ext cx="11109960" cy="822959"/>
        </p:xfrm>
        <a:graphic>
          <a:graphicData uri="http://schemas.openxmlformats.org/drawingml/2006/table">
            <a:tbl>
              <a:tblPr firstRow="1" bandRow="1">
                <a:tableStyleId>{5C22544A-7EE6-4342-B048-85BDC9FD1C3A}</a:tableStyleId>
              </a:tblPr>
              <a:tblGrid>
                <a:gridCol w="1645920"/>
                <a:gridCol w="5120640"/>
                <a:gridCol w="4343400"/>
              </a:tblGrid>
              <a:tr h="274319">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19">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274321">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