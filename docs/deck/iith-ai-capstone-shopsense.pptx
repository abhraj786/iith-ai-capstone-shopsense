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chips under it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Rectangle 1"/>
          <p:cNvSpPr/>
          <p:nvPr/>
        </p:nvSpPr>
        <p:spPr>
          <a:xfrm>
            <a:off x="731520" y="2011680"/>
            <a:ext cx="109728" cy="2011680"/>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4" name="TextBox 3"/>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5" name="TextBox 4"/>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6" name="TextBox 5"/>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
        <p:nvSpPr>
          <p:cNvPr id="7" name="TextBox 6"/>
          <p:cNvSpPr txBox="1"/>
          <p:nvPr/>
        </p:nvSpPr>
        <p:spPr>
          <a:xfrm>
            <a:off x="1005840" y="512064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WRAPPED AROUND THE WHOLE PIPELINE</a:t>
            </a:r>
          </a:p>
        </p:txBody>
      </p:sp>
      <p:sp>
        <p:nvSpPr>
          <p:cNvPr id="22" name="Rounded Rectangle 21"/>
          <p:cNvSpPr/>
          <p:nvPr/>
        </p:nvSpPr>
        <p:spPr>
          <a:xfrm>
            <a:off x="4572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M5 LangGraph</a:t>
            </a:r>
          </a:p>
          <a:p>
            <a:pPr>
              <a:spcAft>
                <a:spcPts val="0"/>
              </a:spcAft>
            </a:pPr>
            <a:r>
              <a:rPr sz="1000" b="0">
                <a:solidFill>
                  <a:srgbClr val="54697E"/>
                </a:solidFill>
                <a:latin typeface="Calibri"/>
              </a:rPr>
              <a:t>human interrupt, resume</a:t>
            </a:r>
          </a:p>
        </p:txBody>
      </p:sp>
      <p:sp>
        <p:nvSpPr>
          <p:cNvPr id="24" name="Rounded Rectangle 23"/>
          <p:cNvSpPr/>
          <p:nvPr/>
        </p:nvSpPr>
        <p:spPr>
          <a:xfrm>
            <a:off x="33147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61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M6 supervised team</a:t>
            </a:r>
          </a:p>
          <a:p>
            <a:pPr>
              <a:spcAft>
                <a:spcPts val="0"/>
              </a:spcAft>
            </a:pPr>
            <a:r>
              <a:rPr sz="1000" b="0">
                <a:solidFill>
                  <a:srgbClr val="54697E"/>
                </a:solidFill>
                <a:latin typeface="Calibri"/>
              </a:rPr>
              <a:t>route, review, revise</a:t>
            </a:r>
          </a:p>
        </p:txBody>
      </p:sp>
      <p:sp>
        <p:nvSpPr>
          <p:cNvPr id="26" name="Rounded Rectangle 25"/>
          <p:cNvSpPr/>
          <p:nvPr/>
        </p:nvSpPr>
        <p:spPr>
          <a:xfrm>
            <a:off x="61722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M7 tracing + fallback</a:t>
            </a:r>
          </a:p>
          <a:p>
            <a:pPr>
              <a:spcAft>
                <a:spcPts val="0"/>
              </a:spcAft>
            </a:pPr>
            <a:r>
              <a:rPr sz="1000" b="0">
                <a:solidFill>
                  <a:srgbClr val="54697E"/>
                </a:solidFill>
                <a:latin typeface="Calibri"/>
              </a:rPr>
              <a:t>Langfuse, retries, breaker</a:t>
            </a:r>
          </a:p>
        </p:txBody>
      </p:sp>
      <p:sp>
        <p:nvSpPr>
          <p:cNvPr id="28" name="Rounded Rectangle 27"/>
          <p:cNvSpPr/>
          <p:nvPr/>
        </p:nvSpPr>
        <p:spPr>
          <a:xfrm>
            <a:off x="90297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211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M8 /chat + golden eval</a:t>
            </a:r>
          </a:p>
          <a:p>
            <a:pPr>
              <a:spcAft>
                <a:spcPts val="0"/>
              </a:spcAft>
            </a:pPr>
            <a:r>
              <a:rPr sz="1000" b="0">
                <a:solidFill>
                  <a:srgbClr val="54697E"/>
                </a:solidFill>
                <a:latin typeface="Calibri"/>
              </a:rPr>
              <a:t>guardrails, judge, Docker</a:t>
            </a:r>
          </a:p>
        </p:txBody>
      </p:sp>
      <p:sp>
        <p:nvSpPr>
          <p:cNvPr id="30" name="TextBox 29"/>
          <p:cNvSpPr txBox="1"/>
          <p:nvPr/>
        </p:nvSpPr>
        <p:spPr>
          <a:xfrm>
            <a:off x="457200" y="420624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TICKETS WE FOLLOW, SAME CODE FOR ALL  (bar colour = where the ticket ends up)</a:t>
            </a:r>
          </a:p>
        </p:txBody>
      </p:sp>
      <p:graphicFrame>
        <p:nvGraphicFramePr>
          <p:cNvPr id="31" name="Table 30"/>
          <p:cNvGraphicFramePr>
            <a:graphicFrameLocks noGrp="1"/>
          </p:cNvGraphicFramePr>
          <p:nvPr/>
        </p:nvGraphicFramePr>
        <p:xfrm>
          <a:off x="548640" y="4526280"/>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32" name="Rectangle 31"/>
          <p:cNvSpPr/>
          <p:nvPr/>
        </p:nvSpPr>
        <p:spPr>
          <a:xfrm>
            <a:off x="457200" y="48737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5202936"/>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532120"/>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TICKETS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ticket,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TICKETS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Ticket,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tickets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TICKETS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ticket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TICKET: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ticket)</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Ticket B (tracking) needs no policy, so M6 skips it; ticket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Tickets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Ticket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Tickets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TICKETS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TICKETS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ticket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graphicFrame>
        <p:nvGraphicFramePr>
          <p:cNvPr id="6" name="Table 5"/>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032D60"/>
                    </a:solidFill>
                  </a:tcPr>
                </a:tc>
                <a:tc>
                  <a:txBody>
                    <a:bodyPr wrap="square"/>
                    <a:lstStyle/>
                    <a:p>
                      <a:pPr>
                        <a:spcAft>
                          <a:spcPts val="0"/>
                        </a:spcAft>
                      </a:pPr>
                      <a:r>
                        <a:rPr sz="1100" b="1">
                          <a:solidFill>
                            <a:srgbClr val="FFFFFF"/>
                          </a:solidFill>
                          <a:latin typeface="Calibri"/>
                        </a:rPr>
                        <a:t>Result</a:t>
                      </a:r>
                    </a:p>
                  </a:txBody>
                  <a:tcPr marT="36576" marB="36576">
                    <a:solidFill>
                      <a:srgbClr val="032D60"/>
                    </a:solidFill>
                  </a:tcPr>
                </a:tc>
              </a:tr>
              <a:tr h="329184">
                <a:tc>
                  <a:txBody>
                    <a:bodyPr wrap="square"/>
                    <a:lstStyle/>
                    <a:p>
                      <a:pPr>
                        <a:spcAft>
                          <a:spcPts val="0"/>
                        </a:spcAft>
                      </a:pPr>
                      <a:r>
                        <a:rPr sz="1100" b="0">
                          <a:solidFill>
                            <a:srgbClr val="1C2A3E"/>
                          </a:solidFill>
                          <a:latin typeface="Calibri"/>
                        </a:rPr>
                        <a:t>Unit tests (fresh clone)</a:t>
                      </a:r>
                    </a:p>
                  </a:txBody>
                  <a:tcPr marT="36576" marB="36576">
                    <a:solidFill>
                      <a:srgbClr val="EAF5FE"/>
                    </a:solidFill>
                  </a:tcPr>
                </a:tc>
                <a:tc>
                  <a:txBody>
                    <a:bodyPr wrap="square"/>
                    <a:lstStyle/>
                    <a:p>
                      <a:pPr>
                        <a:spcAft>
                          <a:spcPts val="0"/>
                        </a:spcAft>
                      </a:pPr>
                      <a:r>
                        <a:rPr sz="1100" b="0">
                          <a:solidFill>
                            <a:srgbClr val="1C2A3E"/>
                          </a:solidFill>
                          <a:latin typeface="Calibri"/>
                        </a:rPr>
                        <a:t>98 passed</a:t>
                      </a:r>
                    </a:p>
                  </a:txBody>
                  <a:tcPr marT="36576" marB="36576">
                    <a:solidFill>
                      <a:srgbClr val="EAF5FE"/>
                    </a:solidFill>
                  </a:tcPr>
                </a:tc>
              </a:tr>
              <a:tr h="329184">
                <a:tc>
                  <a:txBody>
                    <a:bodyPr wrap="square"/>
                    <a:lstStyle/>
                    <a:p>
                      <a:pPr>
                        <a:spcAft>
                          <a:spcPts val="0"/>
                        </a:spcAft>
                      </a:pPr>
                      <a:r>
                        <a:rPr sz="1100" b="0">
                          <a:solidFill>
                            <a:srgbClr val="1C2A3E"/>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1C2A3E"/>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1C2A3E"/>
                          </a:solidFill>
                          <a:latin typeface="Calibri"/>
                        </a:rPr>
                        <a:t>M8 components (4 x 5 items)</a:t>
                      </a:r>
                    </a:p>
                  </a:txBody>
                  <a:tcPr marT="36576" marB="36576">
                    <a:solidFill>
                      <a:srgbClr val="EAF5FE"/>
                    </a:solidFill>
                  </a:tcPr>
                </a:tc>
                <a:tc>
                  <a:txBody>
                    <a:bodyPr wrap="square"/>
                    <a:lstStyle/>
                    <a:p>
                      <a:pPr>
                        <a:spcAft>
                          <a:spcPts val="0"/>
                        </a:spcAft>
                      </a:pPr>
                      <a:r>
                        <a:rPr sz="1100" b="0">
                          <a:solidFill>
                            <a:srgbClr val="1C2A3E"/>
                          </a:solidFill>
                          <a:latin typeface="Calibri"/>
                        </a:rPr>
                        <a:t>1.0</a:t>
                      </a:r>
                    </a:p>
                  </a:txBody>
                  <a:tcPr marT="36576" marB="36576">
                    <a:solidFill>
                      <a:srgbClr val="EAF5FE"/>
                    </a:solidFill>
                  </a:tcPr>
                </a:tc>
              </a:tr>
              <a:tr h="329184">
                <a:tc>
                  <a:txBody>
                    <a:bodyPr wrap="square"/>
                    <a:lstStyle/>
                    <a:p>
                      <a:pPr>
                        <a:spcAft>
                          <a:spcPts val="0"/>
                        </a:spcAft>
                      </a:pPr>
                      <a:r>
                        <a:rPr sz="1100" b="0">
                          <a:solidFill>
                            <a:srgbClr val="1C2A3E"/>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1C2A3E"/>
                          </a:solidFill>
                          <a:latin typeface="Calibri"/>
                        </a:rPr>
                        <a:t>1.0</a:t>
                      </a:r>
                    </a:p>
                  </a:txBody>
                  <a:tcPr marT="36576" marB="36576">
                    <a:solidFill>
                      <a:srgbClr val="FFFFFF"/>
                    </a:solidFill>
                  </a:tcPr>
                </a:tc>
              </a:tr>
              <a:tr h="329184">
                <a:tc>
                  <a:txBody>
                    <a:bodyPr wrap="square"/>
                    <a:lstStyle/>
                    <a:p>
                      <a:pPr>
                        <a:spcAft>
                          <a:spcPts val="0"/>
                        </a:spcAft>
                      </a:pPr>
                      <a:r>
                        <a:rPr sz="1100" b="0">
                          <a:solidFill>
                            <a:srgbClr val="1C2A3E"/>
                          </a:solidFill>
                          <a:latin typeface="Calibri"/>
                        </a:rPr>
                        <a:t>M4 recall@3, hybrid</a:t>
                      </a:r>
                    </a:p>
                  </a:txBody>
                  <a:tcPr marT="36576" marB="36576">
                    <a:solidFill>
                      <a:srgbClr val="EAF5FE"/>
                    </a:solidFill>
                  </a:tcPr>
                </a:tc>
                <a:tc>
                  <a:txBody>
                    <a:bodyPr wrap="square"/>
                    <a:lstStyle/>
                    <a:p>
                      <a:pPr>
                        <a:spcAft>
                          <a:spcPts val="0"/>
                        </a:spcAft>
                      </a:pPr>
                      <a:r>
                        <a:rPr sz="1100" b="0">
                          <a:solidFill>
                            <a:srgbClr val="1C2A3E"/>
                          </a:solidFill>
                          <a:latin typeface="Calibri"/>
                        </a:rPr>
                        <a:t>1.000</a:t>
                      </a:r>
                    </a:p>
                  </a:txBody>
                  <a:tcPr marT="36576" marB="36576">
                    <a:solidFill>
                      <a:srgbClr val="EAF5FE"/>
                    </a:solidFill>
                  </a:tcPr>
                </a:tc>
              </a:tr>
            </a:tbl>
          </a:graphicData>
        </a:graphic>
      </p:graphicFrame>
      <p:sp>
        <p:nvSpPr>
          <p:cNvPr id="7" name="TextBox 6"/>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8" name="TextBox 7"/>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1C2A3E"/>
                </a:solidFill>
                <a:latin typeface="Calibri"/>
              </a:rPr>
              <a:t>•  Hinglish injection missed: regex screen</a:t>
            </a:r>
          </a:p>
          <a:p>
            <a:pPr>
              <a:spcAft>
                <a:spcPts val="300"/>
              </a:spcAft>
            </a:pPr>
            <a:r>
              <a:rPr sz="1100" b="0">
                <a:solidFill>
                  <a:srgbClr val="1C2A3E"/>
                </a:solidFill>
                <a:latin typeface="Calibri"/>
              </a:rPr>
              <a:t>•  Refund could run before the reviewer: reviewer now first</a:t>
            </a:r>
          </a:p>
          <a:p>
            <a:pPr>
              <a:spcAft>
                <a:spcPts val="300"/>
              </a:spcAft>
            </a:pPr>
            <a:r>
              <a:rPr sz="1100" b="0">
                <a:solidFill>
                  <a:srgbClr val="1C2A3E"/>
                </a:solidFill>
                <a:latin typeface="Calibri"/>
              </a:rPr>
              <a:t>•  Wrong category's return window: category filter (22 to 24 of 24)</a:t>
            </a:r>
          </a:p>
        </p:txBody>
      </p:sp>
      <p:sp>
        <p:nvSpPr>
          <p:cNvPr id="9" name="TextBox 8"/>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844A"/>
                </a:solidFill>
                <a:latin typeface="Calibri"/>
              </a:rPr>
              <a:t>SAFETY BUILT IN</a:t>
            </a:r>
          </a:p>
        </p:txBody>
      </p:sp>
      <p:sp>
        <p:nvSpPr>
          <p:cNvPr id="10" name="TextBox 9"/>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1C2A3E"/>
                </a:solidFill>
                <a:latin typeface="Calibri"/>
              </a:rPr>
              <a:t>•  Refunds over Rs 2,000 always go to a human</a:t>
            </a:r>
          </a:p>
          <a:p>
            <a:pPr>
              <a:spcAft>
                <a:spcPts val="300"/>
              </a:spcAft>
            </a:pPr>
            <a:r>
              <a:rPr sz="1100" b="0">
                <a:solidFill>
                  <a:srgbClr val="1C2A3E"/>
                </a:solidFill>
                <a:latin typeface="Calibri"/>
              </a:rPr>
              <a:t>•  Injection blocked in tickets and policy text</a:t>
            </a:r>
          </a:p>
          <a:p>
            <a:pPr>
              <a:spcAft>
                <a:spcPts val="300"/>
              </a:spcAft>
            </a:pPr>
            <a:r>
              <a:rPr sz="1100" b="0">
                <a:solidFill>
                  <a:srgbClr val="1C2A3E"/>
                </a:solidFill>
                <a:latin typeface="Calibri"/>
              </a:rPr>
              <a:t>•  Unsupported policy answers are blocked</a:t>
            </a:r>
          </a:p>
        </p:txBody>
      </p:sp>
      <p:graphicFrame>
        <p:nvGraphicFramePr>
          <p:cNvPr id="11" name="Table 10"/>
          <p:cNvGraphicFramePr>
            <a:graphicFrameLocks noGrp="1"/>
          </p:cNvGraphicFramePr>
          <p:nvPr/>
        </p:nvGraphicFramePr>
        <p:xfrm>
          <a:off x="548640" y="3749039"/>
          <a:ext cx="11109960" cy="932688"/>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310896">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310896">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