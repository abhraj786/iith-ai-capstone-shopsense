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Tool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SQLite for who the customer is, Qdrant for what the rules are. Repeat contacts of 3 or more feed the escalation signals.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ACTION PLANNING ON THE SAME SAMPLE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Tools + data</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6888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9456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Ticket in</a:t>
            </a:r>
          </a:p>
        </p:txBody>
      </p:sp>
      <p:sp>
        <p:nvSpPr>
          <p:cNvPr id="17" name="Rounded Rectangle 16"/>
          <p:cNvSpPr/>
          <p:nvPr/>
        </p:nvSpPr>
        <p:spPr>
          <a:xfrm>
            <a:off x="1828800" y="2788920"/>
            <a:ext cx="1737360" cy="5029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74519" y="2862072"/>
            <a:ext cx="1645919" cy="365760"/>
          </a:xfrm>
          <a:prstGeom prst="rect">
            <a:avLst/>
          </a:prstGeom>
          <a:noFill/>
        </p:spPr>
        <p:txBody>
          <a:bodyPr wrap="square" lIns="45720" rIns="45720">
            <a:spAutoFit/>
          </a:bodyPr>
          <a:lstStyle/>
          <a:p>
            <a:pPr algn="ctr">
              <a:spcAft>
                <a:spcPts val="0"/>
              </a:spcAft>
            </a:pPr>
            <a:r>
              <a:rPr sz="1100" b="1">
                <a:solidFill>
                  <a:srgbClr val="222B38"/>
                </a:solidFill>
                <a:latin typeface="Calibri"/>
              </a:rPr>
              <a:t>2 Order ID present</a:t>
            </a:r>
          </a:p>
        </p:txBody>
      </p:sp>
      <p:sp>
        <p:nvSpPr>
          <p:cNvPr id="19" name="Rounded Rectangle 18"/>
          <p:cNvSpPr/>
          <p:nvPr/>
        </p:nvSpPr>
        <p:spPr>
          <a:xfrm>
            <a:off x="1828800" y="3447288"/>
            <a:ext cx="3291840" cy="50292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3520440"/>
            <a:ext cx="3200400" cy="365760"/>
          </a:xfrm>
          <a:prstGeom prst="rect">
            <a:avLst/>
          </a:prstGeom>
          <a:noFill/>
        </p:spPr>
        <p:txBody>
          <a:bodyPr wrap="square" lIns="45720" rIns="45720">
            <a:spAutoFit/>
          </a:bodyPr>
          <a:lstStyle/>
          <a:p>
            <a:pPr algn="ctr">
              <a:spcAft>
                <a:spcPts val="0"/>
              </a:spcAft>
            </a:pPr>
            <a:r>
              <a:rPr sz="1100" b="1">
                <a:solidFill>
                  <a:srgbClr val="C0392B"/>
                </a:solidFill>
                <a:latin typeface="Calibri"/>
              </a:rPr>
              <a:t>3 Red flag: above cap. STOP</a:t>
            </a:r>
          </a:p>
        </p:txBody>
      </p:sp>
      <p:cxnSp>
        <p:nvCxnSpPr>
          <p:cNvPr id="21" name="Connector 20"/>
          <p:cNvCxnSpPr/>
          <p:nvPr/>
        </p:nvCxnSpPr>
        <p:spPr>
          <a:xfrm>
            <a:off x="2697480" y="4443984"/>
            <a:ext cx="1417320"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724912" y="416966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Tools not called</a:t>
            </a:r>
          </a:p>
        </p:txBody>
      </p:sp>
      <p:cxnSp>
        <p:nvCxnSpPr>
          <p:cNvPr id="23" name="Connector 22"/>
          <p:cNvCxnSpPr/>
          <p:nvPr/>
        </p:nvCxnSpPr>
        <p:spPr>
          <a:xfrm>
            <a:off x="2697480" y="5102352"/>
            <a:ext cx="283464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828032"/>
            <a:ext cx="277977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Flag for human</a:t>
            </a:r>
          </a:p>
        </p:txBody>
      </p:sp>
      <p:cxnSp>
        <p:nvCxnSpPr>
          <p:cNvPr id="25" name="Connector 24"/>
          <p:cNvCxnSpPr/>
          <p:nvPr/>
        </p:nvCxnSpPr>
        <p:spPr>
          <a:xfrm flipH="1">
            <a:off x="1280160" y="5760720"/>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307592" y="5486400"/>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6 ActionProposal</a:t>
            </a:r>
          </a:p>
        </p:txBody>
      </p:sp>
      <p:sp>
        <p:nvSpPr>
          <p:cNvPr id="27" name="TextBox 26"/>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400800" y="2075688"/>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0" name="TextBox 29"/>
          <p:cNvSpPr txBox="1"/>
          <p:nvPr/>
        </p:nvSpPr>
        <p:spPr>
          <a:xfrm>
            <a:off x="6766560" y="2084831"/>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SupportTicket (angry, order KW-O-000000, claim 12999, signals [angry_or_abusive, refund_above_auto_cap], injection = true)   customer KW-C-00317   today 2026-07-16   execute = False</a:t>
            </a:r>
          </a:p>
        </p:txBody>
      </p:sp>
      <p:sp>
        <p:nvSpPr>
          <p:cNvPr id="31" name="Rectangle 30"/>
          <p:cNvSpPr/>
          <p:nvPr/>
        </p:nvSpPr>
        <p:spPr>
          <a:xfrm>
            <a:off x="6400800" y="2734056"/>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2761487"/>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3" name="TextBox 32"/>
          <p:cNvSpPr txBox="1"/>
          <p:nvPr/>
        </p:nvSpPr>
        <p:spPr>
          <a:xfrm>
            <a:off x="6766560" y="2743199"/>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order_ref = KW-O-000000 is present, so no request for more information</a:t>
            </a:r>
          </a:p>
        </p:txBody>
      </p:sp>
      <p:sp>
        <p:nvSpPr>
          <p:cNvPr id="34" name="Rectangle 33"/>
          <p:cNvSpPr/>
          <p:nvPr/>
        </p:nvSpPr>
        <p:spPr>
          <a:xfrm>
            <a:off x="6400800" y="3392424"/>
            <a:ext cx="5257800" cy="603503"/>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419856"/>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3</a:t>
            </a:r>
          </a:p>
        </p:txBody>
      </p:sp>
      <p:sp>
        <p:nvSpPr>
          <p:cNvPr id="36" name="TextBox 35"/>
          <p:cNvSpPr txBox="1"/>
          <p:nvPr/>
        </p:nvSpPr>
        <p:spPr>
          <a:xfrm>
            <a:off x="6766560" y="3401568"/>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400800" y="4050791"/>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0782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39" name="TextBox 38"/>
          <p:cNvSpPr txBox="1"/>
          <p:nvPr/>
        </p:nvSpPr>
        <p:spPr>
          <a:xfrm>
            <a:off x="6766560" y="4059936"/>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Tools not consulted. Had they run: order is this customer's, delivered 3 days ago, eligible, refund 12999 from the order price, approver = ops_manager (human)</a:t>
            </a:r>
          </a:p>
        </p:txBody>
      </p:sp>
      <p:sp>
        <p:nvSpPr>
          <p:cNvPr id="40" name="Rectangle 39"/>
          <p:cNvSpPr/>
          <p:nvPr/>
        </p:nvSpPr>
        <p:spPr>
          <a:xfrm>
            <a:off x="6400800" y="4709159"/>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473659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2" name="TextBox 41"/>
          <p:cNvSpPr txBox="1"/>
          <p:nvPr/>
        </p:nvSpPr>
        <p:spPr>
          <a:xfrm>
            <a:off x="6766560" y="4718304"/>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flag_for_human(customer KW-C-00317, order KW-O-000000, trigger = refund_above_auto_cap, note = "Angry, damaged order, demands 12999.")   proposed only, nothing written</a:t>
            </a:r>
          </a:p>
        </p:txBody>
      </p:sp>
      <p:sp>
        <p:nvSpPr>
          <p:cNvPr id="43" name="Rectangle 42"/>
          <p:cNvSpPr/>
          <p:nvPr/>
        </p:nvSpPr>
        <p:spPr>
          <a:xfrm>
            <a:off x="6400800" y="5367527"/>
            <a:ext cx="5257800" cy="603503"/>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5394959"/>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6</a:t>
            </a:r>
          </a:p>
        </p:txBody>
      </p:sp>
      <p:sp>
        <p:nvSpPr>
          <p:cNvPr id="45" name="TextBox 44"/>
          <p:cNvSpPr txBox="1"/>
          <p:nvPr/>
        </p:nvSpPr>
        <p:spPr>
          <a:xfrm>
            <a:off x="6766560" y="5376672"/>
            <a:ext cx="4846320" cy="603503"/>
          </a:xfrm>
          <a:prstGeom prst="rect">
            <a:avLst/>
          </a:prstGeom>
          <a:noFill/>
        </p:spPr>
        <p:txBody>
          <a:bodyPr wrap="square" lIns="45720" rIns="45720">
            <a:spAutoFit/>
          </a:bodyPr>
          <a:lstStyle/>
          <a:p>
            <a:pPr>
              <a:spcAft>
                <a:spcPts val="0"/>
              </a:spcAft>
            </a:pPr>
            <a:r>
              <a:rPr sz="1100" b="0">
                <a:solidFill>
                  <a:srgbClr val="222B38"/>
                </a:solidFill>
                <a:latin typeface="Calibri"/>
              </a:rPr>
              <a:t>ActionProposal: human_review, requires_human = true, executed = false, "Route to a human because of refund_above_auto_cap"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one rule set, three tickets, three outcomes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A  Hostile, red flags on</a:t>
            </a:r>
          </a:p>
        </p:txBody>
      </p:sp>
      <p:sp>
        <p:nvSpPr>
          <p:cNvPr id="9" name="TextBox 8"/>
          <p:cNvSpPr txBox="1"/>
          <p:nvPr/>
        </p:nvSpPr>
        <p:spPr>
          <a:xfrm>
            <a:off x="54864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10" name="TextBox 9"/>
          <p:cNvSpPr txBox="1"/>
          <p:nvPr/>
        </p:nvSpPr>
        <p:spPr>
          <a:xfrm>
            <a:off x="54864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angry_or_abusive, refund_above_auto_cap</a:t>
            </a:r>
          </a:p>
        </p:txBody>
      </p:sp>
      <p:sp>
        <p:nvSpPr>
          <p:cNvPr id="11" name="TextBox 10"/>
          <p:cNvSpPr txBox="1"/>
          <p:nvPr/>
        </p:nvSpPr>
        <p:spPr>
          <a:xfrm>
            <a:off x="54864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 IN ORDER</a:t>
            </a:r>
          </a:p>
        </p:txBody>
      </p:sp>
      <p:sp>
        <p:nvSpPr>
          <p:cNvPr id="12" name="TextBox 11"/>
          <p:cNvSpPr txBox="1"/>
          <p:nvPr/>
        </p:nvSpPr>
        <p:spPr>
          <a:xfrm>
            <a:off x="548640" y="3502152"/>
            <a:ext cx="3611880" cy="612647"/>
          </a:xfrm>
          <a:prstGeom prst="rect">
            <a:avLst/>
          </a:prstGeom>
          <a:noFill/>
        </p:spPr>
        <p:txBody>
          <a:bodyPr wrap="square" lIns="45720" rIns="45720">
            <a:spAutoFit/>
          </a:bodyPr>
          <a:lstStyle/>
          <a:p>
            <a:pPr>
              <a:spcAft>
                <a:spcPts val="100"/>
              </a:spcAft>
            </a:pPr>
            <a:r>
              <a:rPr sz="1200" b="1">
                <a:solidFill>
                  <a:srgbClr val="222B38"/>
                </a:solidFill>
                <a:latin typeface="Calibri"/>
              </a:rPr>
              <a:t>None</a:t>
            </a:r>
          </a:p>
        </p:txBody>
      </p:sp>
      <p:sp>
        <p:nvSpPr>
          <p:cNvPr id="13" name="TextBox 12"/>
          <p:cNvSpPr txBox="1"/>
          <p:nvPr/>
        </p:nvSpPr>
        <p:spPr>
          <a:xfrm>
            <a:off x="54864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14" name="TextBox 13"/>
          <p:cNvSpPr txBox="1"/>
          <p:nvPr/>
        </p:nvSpPr>
        <p:spPr>
          <a:xfrm>
            <a:off x="54864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Stops at the first red flag: refund_above_auto_cap</a:t>
            </a:r>
          </a:p>
        </p:txBody>
      </p:sp>
      <p:sp>
        <p:nvSpPr>
          <p:cNvPr id="15" name="Rounded Rectangle 14"/>
          <p:cNvSpPr/>
          <p:nvPr/>
        </p:nvSpPr>
        <p:spPr>
          <a:xfrm>
            <a:off x="548640" y="5212080"/>
            <a:ext cx="3611880" cy="5486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human_review</a:t>
            </a:r>
          </a:p>
        </p:txBody>
      </p:sp>
      <p:sp>
        <p:nvSpPr>
          <p:cNvPr id="17" name="Rounded Rectangle 16"/>
          <p:cNvSpPr/>
          <p:nvPr/>
        </p:nvSpPr>
        <p:spPr>
          <a:xfrm>
            <a:off x="4297680" y="15544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627632"/>
            <a:ext cx="3383280" cy="457200"/>
          </a:xfrm>
          <a:prstGeom prst="rect">
            <a:avLst/>
          </a:prstGeom>
          <a:noFill/>
        </p:spPr>
        <p:txBody>
          <a:bodyPr wrap="square" lIns="45720" rIns="45720">
            <a:spAutoFit/>
          </a:bodyPr>
          <a:lstStyle/>
          <a:p>
            <a:pPr>
              <a:spcAft>
                <a:spcPts val="600"/>
              </a:spcAft>
            </a:pPr>
            <a:r>
              <a:rPr sz="1600" b="1">
                <a:solidFill>
                  <a:srgbClr val="222B38"/>
                </a:solidFill>
                <a:latin typeface="Calibri"/>
              </a:rPr>
              <a:t>B  Same ticket, no red flags</a:t>
            </a:r>
          </a:p>
        </p:txBody>
      </p:sp>
      <p:sp>
        <p:nvSpPr>
          <p:cNvPr id="19" name="TextBox 18"/>
          <p:cNvSpPr txBox="1"/>
          <p:nvPr/>
        </p:nvSpPr>
        <p:spPr>
          <a:xfrm>
            <a:off x="429768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20" name="TextBox 19"/>
          <p:cNvSpPr txBox="1"/>
          <p:nvPr/>
        </p:nvSpPr>
        <p:spPr>
          <a:xfrm>
            <a:off x="429768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KW-C-00317  |  KW-O-000000 (Rs 12,999)</a:t>
            </a:r>
          </a:p>
          <a:p>
            <a:pPr>
              <a:spcAft>
                <a:spcPts val="100"/>
              </a:spcAft>
            </a:pPr>
            <a:r>
              <a:rPr sz="1200" b="0">
                <a:solidFill>
                  <a:srgbClr val="222B38"/>
                </a:solidFill>
                <a:latin typeface="Calibri"/>
              </a:rPr>
              <a:t>signals: none</a:t>
            </a:r>
          </a:p>
        </p:txBody>
      </p:sp>
      <p:sp>
        <p:nvSpPr>
          <p:cNvPr id="21" name="TextBox 20"/>
          <p:cNvSpPr txBox="1"/>
          <p:nvPr/>
        </p:nvSpPr>
        <p:spPr>
          <a:xfrm>
            <a:off x="429768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 IN ORDER</a:t>
            </a:r>
          </a:p>
        </p:txBody>
      </p:sp>
      <p:sp>
        <p:nvSpPr>
          <p:cNvPr id="22" name="TextBox 21"/>
          <p:cNvSpPr txBox="1"/>
          <p:nvPr/>
        </p:nvSpPr>
        <p:spPr>
          <a:xfrm>
            <a:off x="429768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23" name="TextBox 22"/>
          <p:cNvSpPr txBox="1"/>
          <p:nvPr/>
        </p:nvSpPr>
        <p:spPr>
          <a:xfrm>
            <a:off x="429768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24" name="TextBox 23"/>
          <p:cNvSpPr txBox="1"/>
          <p:nvPr/>
        </p:nvSpPr>
        <p:spPr>
          <a:xfrm>
            <a:off x="429768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Refund 12,999 from the order price; approver = ops_manager (a human)</a:t>
            </a:r>
          </a:p>
        </p:txBody>
      </p:sp>
      <p:sp>
        <p:nvSpPr>
          <p:cNvPr id="25" name="Rounded Rectangle 24"/>
          <p:cNvSpPr/>
          <p:nvPr/>
        </p:nvSpPr>
        <p:spPr>
          <a:xfrm>
            <a:off x="4297680" y="5212080"/>
            <a:ext cx="3611880" cy="54864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5285232"/>
            <a:ext cx="3383280" cy="411480"/>
          </a:xfrm>
          <a:prstGeom prst="rect">
            <a:avLst/>
          </a:prstGeom>
          <a:noFill/>
        </p:spPr>
        <p:txBody>
          <a:bodyPr wrap="square" lIns="45720" rIns="45720">
            <a:spAutoFit/>
          </a:bodyPr>
          <a:lstStyle/>
          <a:p>
            <a:pPr>
              <a:spcAft>
                <a:spcPts val="600"/>
              </a:spcAft>
            </a:pPr>
            <a:r>
              <a:rPr sz="1600" b="1">
                <a:solidFill>
                  <a:srgbClr val="222B38"/>
                </a:solidFill>
                <a:latin typeface="Calibri"/>
              </a:rPr>
              <a:t>human_review</a:t>
            </a:r>
          </a:p>
        </p:txBody>
      </p:sp>
      <p:sp>
        <p:nvSpPr>
          <p:cNvPr id="27" name="Rounded Rectangle 26"/>
          <p:cNvSpPr/>
          <p:nvPr/>
        </p:nvSpPr>
        <p:spPr>
          <a:xfrm>
            <a:off x="8046720" y="15544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1627632"/>
            <a:ext cx="3383280" cy="457200"/>
          </a:xfrm>
          <a:prstGeom prst="rect">
            <a:avLst/>
          </a:prstGeom>
          <a:noFill/>
        </p:spPr>
        <p:txBody>
          <a:bodyPr wrap="square" lIns="45720" rIns="45720">
            <a:spAutoFit/>
          </a:bodyPr>
          <a:lstStyle/>
          <a:p>
            <a:pPr>
              <a:spcAft>
                <a:spcPts val="600"/>
              </a:spcAft>
            </a:pPr>
            <a:r>
              <a:rPr sz="1600" b="1">
                <a:solidFill>
                  <a:srgbClr val="FFFFFF"/>
                </a:solidFill>
                <a:latin typeface="Calibri"/>
              </a:rPr>
              <a:t>C  Calm, small order</a:t>
            </a:r>
          </a:p>
        </p:txBody>
      </p:sp>
      <p:sp>
        <p:nvSpPr>
          <p:cNvPr id="29" name="TextBox 28"/>
          <p:cNvSpPr txBox="1"/>
          <p:nvPr/>
        </p:nvSpPr>
        <p:spPr>
          <a:xfrm>
            <a:off x="8046720" y="224028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INPUT</a:t>
            </a:r>
          </a:p>
        </p:txBody>
      </p:sp>
      <p:sp>
        <p:nvSpPr>
          <p:cNvPr id="30" name="TextBox 29"/>
          <p:cNvSpPr txBox="1"/>
          <p:nvPr/>
        </p:nvSpPr>
        <p:spPr>
          <a:xfrm>
            <a:off x="8046720" y="2496312"/>
            <a:ext cx="3611880" cy="658368"/>
          </a:xfrm>
          <a:prstGeom prst="rect">
            <a:avLst/>
          </a:prstGeom>
          <a:noFill/>
        </p:spPr>
        <p:txBody>
          <a:bodyPr wrap="square" lIns="45720" rIns="45720">
            <a:spAutoFit/>
          </a:bodyPr>
          <a:lstStyle/>
          <a:p>
            <a:pPr>
              <a:spcAft>
                <a:spcPts val="100"/>
              </a:spcAft>
            </a:pPr>
            <a:r>
              <a:rPr sz="1200" b="0">
                <a:solidFill>
                  <a:srgbClr val="222B38"/>
                </a:solidFill>
                <a:latin typeface="Calibri"/>
              </a:rPr>
              <a:t>KW-C-00338  |  KW-O-000019 (Rs 299), damaged</a:t>
            </a:r>
          </a:p>
          <a:p>
            <a:pPr>
              <a:spcAft>
                <a:spcPts val="100"/>
              </a:spcAft>
            </a:pPr>
            <a:r>
              <a:rPr sz="1200" b="0">
                <a:solidFill>
                  <a:srgbClr val="222B38"/>
                </a:solidFill>
                <a:latin typeface="Calibri"/>
              </a:rPr>
              <a:t>signals: none</a:t>
            </a:r>
          </a:p>
        </p:txBody>
      </p:sp>
      <p:sp>
        <p:nvSpPr>
          <p:cNvPr id="31" name="TextBox 30"/>
          <p:cNvSpPr txBox="1"/>
          <p:nvPr/>
        </p:nvSpPr>
        <p:spPr>
          <a:xfrm>
            <a:off x="8046720" y="324612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TOOLS CALLED, IN ORDER</a:t>
            </a:r>
          </a:p>
        </p:txBody>
      </p:sp>
      <p:sp>
        <p:nvSpPr>
          <p:cNvPr id="32" name="TextBox 31"/>
          <p:cNvSpPr txBox="1"/>
          <p:nvPr/>
        </p:nvSpPr>
        <p:spPr>
          <a:xfrm>
            <a:off x="8046720" y="350215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check_eligibility, calculate_refund, required_approver</a:t>
            </a:r>
          </a:p>
        </p:txBody>
      </p:sp>
      <p:sp>
        <p:nvSpPr>
          <p:cNvPr id="33" name="TextBox 32"/>
          <p:cNvSpPr txBox="1"/>
          <p:nvPr/>
        </p:nvSpPr>
        <p:spPr>
          <a:xfrm>
            <a:off x="8046720" y="4206240"/>
            <a:ext cx="361188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M2 DECIDES</a:t>
            </a:r>
          </a:p>
        </p:txBody>
      </p:sp>
      <p:sp>
        <p:nvSpPr>
          <p:cNvPr id="34" name="TextBox 33"/>
          <p:cNvSpPr txBox="1"/>
          <p:nvPr/>
        </p:nvSpPr>
        <p:spPr>
          <a:xfrm>
            <a:off x="8046720" y="4462272"/>
            <a:ext cx="3611880" cy="612647"/>
          </a:xfrm>
          <a:prstGeom prst="rect">
            <a:avLst/>
          </a:prstGeom>
          <a:noFill/>
        </p:spPr>
        <p:txBody>
          <a:bodyPr wrap="square" lIns="45720" rIns="45720">
            <a:spAutoFit/>
          </a:bodyPr>
          <a:lstStyle/>
          <a:p>
            <a:pPr>
              <a:spcAft>
                <a:spcPts val="100"/>
              </a:spcAft>
            </a:pPr>
            <a:r>
              <a:rPr sz="1200" b="0">
                <a:solidFill>
                  <a:srgbClr val="222B38"/>
                </a:solidFill>
                <a:latin typeface="Calibri"/>
              </a:rPr>
              <a:t>Eligible; approver = auto, so no human needed</a:t>
            </a:r>
          </a:p>
        </p:txBody>
      </p:sp>
      <p:sp>
        <p:nvSpPr>
          <p:cNvPr id="35" name="Rounded Rectangle 34"/>
          <p:cNvSpPr/>
          <p:nvPr/>
        </p:nvSpPr>
        <p:spPr>
          <a:xfrm>
            <a:off x="8046720" y="5212080"/>
            <a:ext cx="3611880" cy="54864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5285232"/>
            <a:ext cx="3383280" cy="411480"/>
          </a:xfrm>
          <a:prstGeom prst="rect">
            <a:avLst/>
          </a:prstGeom>
          <a:noFill/>
        </p:spPr>
        <p:txBody>
          <a:bodyPr wrap="square" lIns="45720" rIns="45720">
            <a:spAutoFit/>
          </a:bodyPr>
          <a:lstStyle/>
          <a:p>
            <a:pPr>
              <a:spcAft>
                <a:spcPts val="600"/>
              </a:spcAft>
            </a:pPr>
            <a:r>
              <a:rPr sz="1600" b="1">
                <a:solidFill>
                  <a:srgbClr val="FFFFFF"/>
                </a:solidFill>
                <a:latin typeface="Calibri"/>
              </a:rPr>
              <a:t>replacement (create_replacement)</a:t>
            </a:r>
          </a:p>
        </p:txBody>
      </p:sp>
      <p:sp>
        <p:nvSpPr>
          <p:cNvPr id="37" name="TextBox 36"/>
          <p:cNvSpPr txBox="1"/>
          <p:nvPr/>
        </p:nvSpPr>
        <p:spPr>
          <a:xfrm>
            <a:off x="548640" y="5897880"/>
            <a:ext cx="11064240" cy="457200"/>
          </a:xfrm>
          <a:prstGeom prst="rect">
            <a:avLst/>
          </a:prstGeom>
          <a:noFill/>
        </p:spPr>
        <p:txBody>
          <a:bodyPr wrap="square" lIns="45720" rIns="45720">
            <a:spAutoFit/>
          </a:bodyPr>
          <a:lstStyle/>
          <a:p>
            <a:pPr>
              <a:spcAft>
                <a:spcPts val="600"/>
              </a:spcAft>
            </a:pPr>
            <a:r>
              <a:rPr sz="1700" b="1">
                <a:solidFill>
                  <a:srgbClr val="142B4D"/>
                </a:solidFill>
                <a:latin typeface="Calibri"/>
              </a:rPr>
              <a:t>Red flag = shortcut. Value rule = safety net. Each tool runs only if the one before it passes.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0058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rolling summary; 3+ repeat contacts escalate</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43484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70916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