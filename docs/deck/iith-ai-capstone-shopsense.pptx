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complete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what we proved,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29184">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M8 components (4 x 5 items)</a:t>
                      </a:r>
                    </a:p>
                  </a:txBody>
                  <a:tcPr marT="36576" marB="36576">
                    <a:solidFill>
                      <a:srgbClr val="EEF3F8"/>
                    </a:solidFill>
                  </a:tcPr>
                </a:tc>
                <a:tc>
                  <a:txBody>
                    <a:bodyPr wrap="square"/>
                    <a:lstStyle/>
                    <a:p>
                      <a:pPr>
                        <a:spcAft>
                          <a:spcPts val="0"/>
                        </a:spcAft>
                      </a:pPr>
                      <a:r>
                        <a:rPr sz="1100" b="0">
                          <a:solidFill>
                            <a:srgbClr val="222B38"/>
                          </a:solidFill>
                          <a:latin typeface="Calibri"/>
                        </a:rPr>
                        <a:t>1.0</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222B38"/>
                          </a:solidFill>
                          <a:latin typeface="Calibri"/>
                        </a:rPr>
                        <a:t>1.0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M4 recall@3, hybrid</a:t>
                      </a:r>
                    </a:p>
                  </a:txBody>
                  <a:tcPr marT="36576" marB="36576">
                    <a:solidFill>
                      <a:srgbClr val="EEF3F8"/>
                    </a:solidFill>
                  </a:tcPr>
                </a:tc>
                <a:tc>
                  <a:txBody>
                    <a:bodyPr wrap="square"/>
                    <a:lstStyle/>
                    <a:p>
                      <a:pPr>
                        <a:spcAft>
                          <a:spcPts val="0"/>
                        </a:spcAft>
                      </a:pPr>
                      <a:r>
                        <a:rPr sz="1100" b="0">
                          <a:solidFill>
                            <a:srgbClr val="222B38"/>
                          </a:solidFill>
                          <a:latin typeface="Calibri"/>
                        </a:rPr>
                        <a:t>1.000</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a:p>
            <a:pPr>
              <a:spcAft>
                <a:spcPts val="300"/>
              </a:spcAft>
            </a:pPr>
            <a:r>
              <a:rPr sz="1100" b="0">
                <a:solidFill>
                  <a:srgbClr val="222B38"/>
                </a:solidFill>
                <a:latin typeface="Calibri"/>
              </a:rPr>
              <a:t>•  Judge cross-checks the keyword scores</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7D32"/>
                </a:solidFill>
                <a:latin typeface="Calibri"/>
              </a:rPr>
              <a:t>SAFETY BUILT IN</a:t>
            </a:r>
          </a:p>
        </p:txBody>
      </p:sp>
      <p:sp>
        <p:nvSpPr>
          <p:cNvPr id="11" name="TextBox 10"/>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222B38"/>
                </a:solidFill>
                <a:latin typeface="Calibri"/>
              </a:rPr>
              <a:t>•  Refunds over Rs 2,000 always go to a human</a:t>
            </a:r>
          </a:p>
          <a:p>
            <a:pPr>
              <a:spcAft>
                <a:spcPts val="300"/>
              </a:spcAft>
            </a:pPr>
            <a:r>
              <a:rPr sz="1100" b="0">
                <a:solidFill>
                  <a:srgbClr val="222B38"/>
                </a:solidFill>
                <a:latin typeface="Calibri"/>
              </a:rPr>
              <a:t>•  Injection blocked in tickets and policy text</a:t>
            </a:r>
          </a:p>
          <a:p>
            <a:pPr>
              <a:spcAft>
                <a:spcPts val="300"/>
              </a:spcAft>
            </a:pPr>
            <a:r>
              <a:rPr sz="1100" b="0">
                <a:solidFill>
                  <a:srgbClr val="222B38"/>
                </a:solidFill>
                <a:latin typeface="Calibri"/>
              </a:rPr>
              <a:t>•  Unsupported policy answers are blocked</a:t>
            </a:r>
          </a:p>
        </p:txBody>
      </p:sp>
      <p:graphicFrame>
        <p:nvGraphicFramePr>
          <p:cNvPr id="12" name="Table 11"/>
          <p:cNvGraphicFramePr>
            <a:graphicFrameLocks noGrp="1"/>
          </p:cNvGraphicFramePr>
          <p:nvPr/>
        </p:nvGraphicFramePr>
        <p:xfrm>
          <a:off x="548640" y="3429000"/>
          <a:ext cx="11109960" cy="1243584"/>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310896">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050" b="0">
                          <a:solidFill>
                            <a:srgbClr val="222B38"/>
                          </a:solidFill>
                          <a:latin typeface="Calibri"/>
                        </a:rPr>
                        <a:t>2  Golden eval</a:t>
                      </a:r>
                    </a:p>
                  </a:txBody>
                  <a:tcPr marT="36576" marB="36576">
                    <a:solidFill>
                      <a:srgbClr val="FFFFFF"/>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FFFFFF"/>
                    </a:solidFill>
                  </a:tcPr>
                </a:tc>
              </a:tr>
              <a:tr h="310896">
                <a:tc>
                  <a:txBody>
                    <a:bodyPr wrap="square"/>
                    <a:lstStyle/>
                    <a:p>
                      <a:pPr>
                        <a:spcAft>
                          <a:spcPts val="0"/>
                        </a:spcAft>
                      </a:pPr>
                      <a:r>
                        <a:rPr sz="1050" b="0">
                          <a:solidFill>
                            <a:srgbClr val="222B38"/>
                          </a:solidFill>
                          <a:latin typeface="Calibri"/>
                        </a:rPr>
                        <a:t>3  API</a:t>
                      </a:r>
                    </a:p>
                  </a:txBody>
                  <a:tcPr marT="36576" marB="36576">
                    <a:solidFill>
                      <a:srgbClr val="EEF3F8"/>
                    </a:solidFill>
                  </a:tcPr>
                </a:tc>
                <a:tc>
                  <a:txBody>
                    <a:bodyPr wrap="square"/>
                    <a:lstStyle/>
                    <a:p>
                      <a:pPr>
                        <a:spcAft>
                          <a:spcPts val="0"/>
                        </a:spcAft>
                      </a:pPr>
                      <a:r>
                        <a:rPr sz="1050" b="0">
                          <a:solidFill>
                            <a:srgbClr val="222B38"/>
                          </a:solidFill>
                          <a:latin typeface="Calibri"/>
                        </a:rPr>
                        <a:t>uvicorn capstone.api:app, then the Postman collection</a:t>
                      </a:r>
                    </a:p>
                  </a:txBody>
                  <a:tcPr marT="36576" marB="36576">
                    <a:solidFill>
                      <a:srgbClr val="EEF3F8"/>
                    </a:solidFill>
                  </a:tcPr>
                </a:tc>
                <a:tc>
                  <a:txBody>
                    <a:bodyPr wrap="square"/>
                    <a:lstStyle/>
                    <a:p>
                      <a:pPr>
                        <a:spcAft>
                          <a:spcPts val="0"/>
                        </a:spcAft>
                      </a:pPr>
                      <a:r>
                        <a:rPr sz="1050" b="0">
                          <a:solidFill>
                            <a:srgbClr val="222B38"/>
                          </a:solidFill>
                          <a:latin typeface="Calibri"/>
                        </a:rPr>
                        <a:t>Tickets A, B, C; empty text gives 422</a:t>
                      </a:r>
                    </a:p>
                  </a:txBody>
                  <a:tcPr marT="36576" marB="36576">
                    <a:solidFill>
                      <a:srgbClr val="EEF3F8"/>
                    </a:solidFill>
                  </a:tcPr>
                </a:tc>
              </a:tr>
            </a:tbl>
          </a:graphicData>
        </a:graphic>
      </p:graphicFrame>
      <p:sp>
        <p:nvSpPr>
          <p:cNvPr id="13" name="Rounded Rectangle 12"/>
          <p:cNvSpPr/>
          <p:nvPr/>
        </p:nvSpPr>
        <p:spPr>
          <a:xfrm>
            <a:off x="548640" y="50292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0566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98 tests, 40 golden items.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