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3, M6 6, M7 3, M8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The query is built from the M1 ticket and the category comes from the order, not from the LLM. Step 2 is the key one: the category addenda contradict each other (Groceries 2 days, Apparel 45, Home &amp; Kitchen 30), so other categories are excluded before searching. Without the category, this very ticket pulled the Groceries rule and would have said 2 days; with it, the answer says 30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LangGraph gives three things: explicit routing, saved state and a real interrupt. The human path is not a flag; the graph stops until someone approves. In M6 each agent has one job and all tool access goes through an MCP server, so the trace reads like an org chart.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Traces are always written locally and forwarded to LangFuse when keys exist; we confirmed through the LangFuse API that spans from a real run arrive. The golden set is deliberately adversarial: five injection variants, cross-customer orders, safety, repeat contact. Both stored and live-LLM runs pass 20 of 20.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right column is the continuous-improvement story: each row is something the first real run exposed.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M8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order lookups via MCP</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57200" y="5394960"/>
            <a:ext cx="11247120" cy="7315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5486400"/>
            <a:ext cx="10881360" cy="548640"/>
          </a:xfrm>
          <a:prstGeom prst="rect">
            <a:avLst/>
          </a:prstGeom>
          <a:noFill/>
        </p:spPr>
        <p:txBody>
          <a:bodyPr wrap="square" lIns="45720" rIns="45720">
            <a:spAutoFit/>
          </a:bodyPr>
          <a:lstStyle/>
          <a:p>
            <a:pPr>
              <a:spcAft>
                <a:spcPts val="600"/>
              </a:spcAft>
            </a:pPr>
            <a:r>
              <a:rPr sz="1400" b="1">
                <a:solidFill>
                  <a:srgbClr val="142B4D"/>
                </a:solidFill>
                <a:latin typeface="Calibri"/>
              </a:rPr>
              <a:t>Wrapped by:  M5 LangGraph (checkpoints, human interrupt)   |   M7 LangFuse tracing + retry/fallback   |   M8 FastAPI /chat + golden eval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4144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67128"/>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Raw text</a:t>
            </a:r>
          </a:p>
        </p:txBody>
      </p:sp>
      <p:cxnSp>
        <p:nvCxnSpPr>
          <p:cNvPr id="17" name="Connector 16"/>
          <p:cNvCxnSpPr/>
          <p:nvPr/>
        </p:nvCxnSpPr>
        <p:spPr>
          <a:xfrm>
            <a:off x="2697480" y="304495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770632"/>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2 Wrapped</a:t>
            </a:r>
          </a:p>
        </p:txBody>
      </p:sp>
      <p:cxnSp>
        <p:nvCxnSpPr>
          <p:cNvPr id="19" name="Connector 18"/>
          <p:cNvCxnSpPr/>
          <p:nvPr/>
        </p:nvCxnSpPr>
        <p:spPr>
          <a:xfrm>
            <a:off x="4114800" y="36484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374136"/>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3 Request</a:t>
            </a:r>
          </a:p>
        </p:txBody>
      </p:sp>
      <p:cxnSp>
        <p:nvCxnSpPr>
          <p:cNvPr id="21" name="Connector 20"/>
          <p:cNvCxnSpPr/>
          <p:nvPr/>
        </p:nvCxnSpPr>
        <p:spPr>
          <a:xfrm flipH="1">
            <a:off x="4114800" y="425196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977640"/>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Draft JSON</a:t>
            </a:r>
          </a:p>
        </p:txBody>
      </p:sp>
      <p:cxnSp>
        <p:nvCxnSpPr>
          <p:cNvPr id="23" name="Connector 22"/>
          <p:cNvCxnSpPr/>
          <p:nvPr/>
        </p:nvCxnSpPr>
        <p:spPr>
          <a:xfrm flipH="1">
            <a:off x="2697480" y="485546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58114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Valid ticket</a:t>
            </a:r>
          </a:p>
        </p:txBody>
      </p:sp>
      <p:sp>
        <p:nvSpPr>
          <p:cNvPr id="25" name="Rounded Rectangle 24"/>
          <p:cNvSpPr/>
          <p:nvPr/>
        </p:nvSpPr>
        <p:spPr>
          <a:xfrm>
            <a:off x="1783080" y="5120640"/>
            <a:ext cx="2743200" cy="4572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5166360"/>
            <a:ext cx="2651760" cy="365760"/>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606247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788152"/>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75688"/>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84831"/>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67919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066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68833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282696"/>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31012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291840"/>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messages + schema SupportTicket   temperature 0   timeout 60 s   2 network retries</a:t>
            </a:r>
          </a:p>
        </p:txBody>
      </p:sp>
      <p:sp>
        <p:nvSpPr>
          <p:cNvPr id="39" name="Rectangle 38"/>
          <p:cNvSpPr/>
          <p:nvPr/>
        </p:nvSpPr>
        <p:spPr>
          <a:xfrm>
            <a:off x="6400800" y="3886200"/>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1363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895344"/>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489704"/>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51713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498848"/>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5093208"/>
            <a:ext cx="5257800" cy="54864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5120640"/>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5102352"/>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69671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7241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70585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signals = [angry_or_abusive, refund_above_auto_cap]   injection = true   missing_fields = []   order_ref = KW-O-000000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78023"/>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542032"/>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3017519"/>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3081527"/>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858768"/>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602735"/>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398264"/>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4142232"/>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93776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68172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SupportTicket (KW-O-000000, claim 12999, signals [angry_or_abusive, refund_above_auto_cap], injection = true); customer KW-C-00317; today 2026-07-16; execute = False</a:t>
            </a:r>
          </a:p>
        </p:txBody>
      </p:sp>
      <p:sp>
        <p:nvSpPr>
          <p:cNvPr id="31" name="Rectangle 30"/>
          <p:cNvSpPr/>
          <p:nvPr/>
        </p:nvSpPr>
        <p:spPr>
          <a:xfrm>
            <a:off x="6263640" y="2423159"/>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441447"/>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432303"/>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962655"/>
            <a:ext cx="5394960" cy="493775"/>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980943"/>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971799"/>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502151"/>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520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511296"/>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4041648"/>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4059936"/>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4050791"/>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581144"/>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59943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590288"/>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TICKETS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A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B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 + facts</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Rounded Rectangle 30"/>
          <p:cNvSpPr/>
          <p:nvPr/>
        </p:nvSpPr>
        <p:spPr>
          <a:xfrm>
            <a:off x="5294376" y="19933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3" name="Rounded Rectangle 32"/>
          <p:cNvSpPr/>
          <p:nvPr/>
        </p:nvSpPr>
        <p:spPr>
          <a:xfrm>
            <a:off x="5294376" y="24505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5" name="Rounded Rectangle 34"/>
          <p:cNvSpPr/>
          <p:nvPr/>
        </p:nvSpPr>
        <p:spPr>
          <a:xfrm>
            <a:off x="5294376" y="29077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7" name="Rounded Rectangle 36"/>
          <p:cNvSpPr/>
          <p:nvPr/>
        </p:nvSpPr>
        <p:spPr>
          <a:xfrm>
            <a:off x="5294376" y="33649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9" name="Rounded Rectangle 38"/>
          <p:cNvSpPr/>
          <p:nvPr/>
        </p:nvSpPr>
        <p:spPr>
          <a:xfrm>
            <a:off x="5294376" y="3822191"/>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1" name="Rounded Rectangle 40"/>
          <p:cNvSpPr/>
          <p:nvPr/>
        </p:nvSpPr>
        <p:spPr>
          <a:xfrm>
            <a:off x="5257800" y="4279392"/>
            <a:ext cx="475488"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3" name="Rounded Rectangle 42"/>
          <p:cNvSpPr/>
          <p:nvPr/>
        </p:nvSpPr>
        <p:spPr>
          <a:xfrm>
            <a:off x="5769864" y="4279392"/>
            <a:ext cx="475488"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5" name="Rounded Rectangle 44"/>
          <p:cNvSpPr/>
          <p:nvPr/>
        </p:nvSpPr>
        <p:spPr>
          <a:xfrm>
            <a:off x="5294376" y="47365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7" name="Rounded Rectangle 46"/>
          <p:cNvSpPr/>
          <p:nvPr/>
        </p:nvSpPr>
        <p:spPr>
          <a:xfrm>
            <a:off x="5294376" y="51937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9" name="TextBox 48"/>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F6B7A"/>
                </a:solidFill>
                <a:latin typeface="Calibri"/>
              </a:rPr>
              <a:t>Memory types:  WORKING = live ticket + newest 5   |   EPISODIC = what happened   |   SEMANTIC = known facts + summary   |   PROCEDURAL (policy index, M2 rules) lives outside this store</a:t>
            </a:r>
          </a:p>
        </p:txBody>
      </p:sp>
      <p:sp>
        <p:nvSpPr>
          <p:cNvPr id="50" name="TextBox 4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51" name="Table 50"/>
          <p:cNvGraphicFramePr>
            <a:graphicFrameLocks noGrp="1"/>
          </p:cNvGraphicFramePr>
          <p:nvPr/>
        </p:nvGraphicFramePr>
        <p:xfrm>
          <a:off x="6263640" y="1691640"/>
          <a:ext cx="5394960" cy="219456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38912">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38912">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38912">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52" name="Rounded Rectangle 51"/>
          <p:cNvSpPr/>
          <p:nvPr/>
        </p:nvSpPr>
        <p:spPr>
          <a:xfrm>
            <a:off x="6263640" y="4114800"/>
            <a:ext cx="5394960" cy="13716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55080" y="4151376"/>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54" name="TextBox 53"/>
          <p:cNvSpPr txBox="1"/>
          <p:nvPr/>
        </p:nvSpPr>
        <p:spPr>
          <a:xfrm>
            <a:off x="6355080" y="4407408"/>
            <a:ext cx="5212080" cy="105156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55" name="TextBox 54"/>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answers are quoted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8" name="Connector 7"/>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47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10" name="Connector 9"/>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649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2" name="Connector 11"/>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Guardrail</a:t>
            </a:r>
          </a:p>
        </p:txBody>
      </p:sp>
      <p:cxnSp>
        <p:nvCxnSpPr>
          <p:cNvPr id="14" name="Connector 13"/>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Query + category</a:t>
            </a:r>
          </a:p>
        </p:txBody>
      </p:sp>
      <p:sp>
        <p:nvSpPr>
          <p:cNvPr id="17" name="Rounded Rectangle 16"/>
          <p:cNvSpPr/>
          <p:nvPr/>
        </p:nvSpPr>
        <p:spPr>
          <a:xfrm>
            <a:off x="1737360" y="2368296"/>
            <a:ext cx="155448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2 Other categories out</a:t>
            </a:r>
          </a:p>
        </p:txBody>
      </p:sp>
      <p:sp>
        <p:nvSpPr>
          <p:cNvPr id="19" name="Rounded Rectangle 18"/>
          <p:cNvSpPr/>
          <p:nvPr/>
        </p:nvSpPr>
        <p:spPr>
          <a:xfrm>
            <a:off x="1737360" y="2788920"/>
            <a:ext cx="155448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3 Dense + BM25 search</a:t>
            </a:r>
          </a:p>
        </p:txBody>
      </p:sp>
      <p:cxnSp>
        <p:nvCxnSpPr>
          <p:cNvPr id="21" name="Connector 20"/>
          <p:cNvCxnSpPr/>
          <p:nvPr/>
        </p:nvCxnSpPr>
        <p:spPr>
          <a:xfrm>
            <a:off x="2514600" y="3529584"/>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4 Top 5 chunks</a:t>
            </a:r>
          </a:p>
        </p:txBody>
      </p:sp>
      <p:sp>
        <p:nvSpPr>
          <p:cNvPr id="23" name="Rounded Rectangle 22"/>
          <p:cNvSpPr/>
          <p:nvPr/>
        </p:nvSpPr>
        <p:spPr>
          <a:xfrm>
            <a:off x="3017520" y="3630168"/>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5 Quote, skip injected</a:t>
            </a:r>
          </a:p>
        </p:txBody>
      </p:sp>
      <p:sp>
        <p:nvSpPr>
          <p:cNvPr id="25" name="Rounded Rectangle 24"/>
          <p:cNvSpPr/>
          <p:nvPr/>
        </p:nvSpPr>
        <p:spPr>
          <a:xfrm>
            <a:off x="3017520" y="4050792"/>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6 Cite, check numbers</a:t>
            </a:r>
          </a:p>
        </p:txBody>
      </p:sp>
      <p:cxnSp>
        <p:nvCxnSpPr>
          <p:cNvPr id="27" name="Connector 26"/>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Answer</a:t>
            </a:r>
          </a:p>
        </p:txBody>
      </p:sp>
      <p:cxnSp>
        <p:nvCxnSpPr>
          <p:cNvPr id="29" name="Connector 28"/>
          <p:cNvCxnSpPr/>
          <p:nvPr/>
        </p:nvCxnSpPr>
        <p:spPr>
          <a:xfrm flipH="1">
            <a:off x="1097280" y="5212080"/>
            <a:ext cx="41148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Allowed or blocked</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M1-M3: ORDER KW-O-000000, HOME &amp; KITCHEN</a:t>
            </a:r>
          </a:p>
        </p:txBody>
      </p:sp>
      <p:sp>
        <p:nvSpPr>
          <p:cNvPr id="32" name="Rounded Rectangle 31"/>
          <p:cNvSpPr/>
          <p:nvPr/>
        </p:nvSpPr>
        <p:spPr>
          <a:xfrm>
            <a:off x="6263640" y="1691640"/>
            <a:ext cx="5394960" cy="86868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822960"/>
          </a:xfrm>
          <a:prstGeom prst="rect">
            <a:avLst/>
          </a:prstGeom>
          <a:noFill/>
        </p:spPr>
        <p:txBody>
          <a:bodyPr wrap="square" lIns="45720" rIns="45720">
            <a:spAutoFit/>
          </a:bodyPr>
          <a:lstStyle/>
          <a:p>
            <a:pPr>
              <a:spcAft>
                <a:spcPts val="200"/>
              </a:spcAft>
            </a:pPr>
            <a:r>
              <a:rPr sz="1050" b="1">
                <a:solidFill>
                  <a:srgbClr val="2E7D32"/>
                </a:solidFill>
                <a:latin typeface="Calibri"/>
              </a:rPr>
              <a:t>WITH the order's category (what we do)</a:t>
            </a:r>
          </a:p>
          <a:p>
            <a:pPr>
              <a:spcAft>
                <a:spcPts val="200"/>
              </a:spcAft>
            </a:pPr>
            <a:r>
              <a:rPr sz="1050" b="0">
                <a:solidFill>
                  <a:srgbClr val="222B38"/>
                </a:solidFill>
                <a:latin typeface="Calibri"/>
              </a:rPr>
              <a:t>Report damage within 30 days of delivery; later goes to the manufacturer warranty. Cited: category-home-kitchen chunk 1.</a:t>
            </a:r>
          </a:p>
        </p:txBody>
      </p:sp>
      <p:sp>
        <p:nvSpPr>
          <p:cNvPr id="34" name="Rounded Rectangle 33"/>
          <p:cNvSpPr/>
          <p:nvPr/>
        </p:nvSpPr>
        <p:spPr>
          <a:xfrm>
            <a:off x="6263640" y="2651760"/>
            <a:ext cx="5394960" cy="86868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679192"/>
            <a:ext cx="5212080" cy="822960"/>
          </a:xfrm>
          <a:prstGeom prst="rect">
            <a:avLst/>
          </a:prstGeom>
          <a:noFill/>
        </p:spPr>
        <p:txBody>
          <a:bodyPr wrap="square" lIns="45720" rIns="45720">
            <a:spAutoFit/>
          </a:bodyPr>
          <a:lstStyle/>
          <a:p>
            <a:pPr>
              <a:spcAft>
                <a:spcPts val="200"/>
              </a:spcAft>
            </a:pPr>
            <a:r>
              <a:rPr sz="1050" b="1">
                <a:solidFill>
                  <a:srgbClr val="C0392B"/>
                </a:solidFill>
                <a:latin typeface="Calibri"/>
              </a:rPr>
              <a:t>WITHOUT it, same ticket (real output)</a:t>
            </a:r>
          </a:p>
          <a:p>
            <a:pPr>
              <a:spcAft>
                <a:spcPts val="200"/>
              </a:spcAft>
            </a:pPr>
            <a:r>
              <a:rPr sz="1050" b="0">
                <a:solidFill>
                  <a:srgbClr val="222B38"/>
                </a:solidFill>
                <a:latin typeface="Calibri"/>
              </a:rPr>
              <a:t>Top hits: Groceries, Electronics, Apparel. Answer: report within 2 days (the Groceries rule). Wrong for a Rs 12,999 home item.</a:t>
            </a:r>
          </a:p>
        </p:txBody>
      </p:sp>
      <p:sp>
        <p:nvSpPr>
          <p:cNvPr id="36" name="TextBox 35"/>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WHY WE CAN TRUST IT: 24 TEST QUESTIONS</a:t>
            </a:r>
          </a:p>
        </p:txBody>
      </p:sp>
      <p:graphicFrame>
        <p:nvGraphicFramePr>
          <p:cNvPr id="37" name="Table 36"/>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142B4D"/>
                    </a:solidFill>
                  </a:tcPr>
                </a:tc>
                <a:tc>
                  <a:txBody>
                    <a:bodyPr wrap="square"/>
                    <a:lstStyle/>
                    <a:p>
                      <a:pPr>
                        <a:spcAft>
                          <a:spcPts val="0"/>
                        </a:spcAft>
                      </a:pPr>
                      <a:r>
                        <a:rPr sz="1050" b="1">
                          <a:solidFill>
                            <a:srgbClr val="FFFFFF"/>
                          </a:solidFill>
                          <a:latin typeface="Calibri"/>
                        </a:rPr>
                        <a:t>Result</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Right document in top 3 (hybrid)</a:t>
                      </a:r>
                    </a:p>
                  </a:txBody>
                  <a:tcPr marT="36576" marB="36576">
                    <a:solidFill>
                      <a:srgbClr val="EEF3F8"/>
                    </a:solidFill>
                  </a:tcPr>
                </a:tc>
                <a:tc>
                  <a:txBody>
                    <a:bodyPr wrap="square"/>
                    <a:lstStyle/>
                    <a:p>
                      <a:pPr>
                        <a:spcAft>
                          <a:spcPts val="0"/>
                        </a:spcAft>
                      </a:pPr>
                      <a:r>
                        <a:rPr sz="1050" b="0">
                          <a:solidFill>
                            <a:srgbClr val="222B38"/>
                          </a:solidFill>
                          <a:latin typeface="Calibri"/>
                        </a:rPr>
                        <a:t>24 / 24  (dense only 0.98)</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222B38"/>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Right answer, with order category</a:t>
                      </a:r>
                    </a:p>
                  </a:txBody>
                  <a:tcPr marT="36576" marB="36576">
                    <a:solidFill>
                      <a:srgbClr val="EEF3F8"/>
                    </a:solidFill>
                  </a:tcPr>
                </a:tc>
                <a:tc>
                  <a:txBody>
                    <a:bodyPr wrap="square"/>
                    <a:lstStyle/>
                    <a:p>
                      <a:pPr>
                        <a:spcAft>
                          <a:spcPts val="0"/>
                        </a:spcAft>
                      </a:pPr>
                      <a:r>
                        <a:rPr sz="1050" b="0">
                          <a:solidFill>
                            <a:srgbClr val="222B38"/>
                          </a:solidFill>
                          <a:latin typeface="Calibri"/>
                        </a:rPr>
                        <a:t>24 / 24</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222B38"/>
                          </a:solidFill>
                          <a:latin typeface="Calibri"/>
                        </a:rPr>
                        <a:t>24 / 24</a:t>
                      </a:r>
                    </a:p>
                  </a:txBody>
                  <a:tcPr marT="36576" marB="36576">
                    <a:solidFill>
                      <a:srgbClr val="FFFFFF"/>
                    </a:solidFill>
                  </a:tcPr>
                </a:tc>
              </a:tr>
            </a:tbl>
          </a:graphicData>
        </a:graphic>
      </p:graphicFrame>
      <p:sp>
        <p:nvSpPr>
          <p:cNvPr id="38" name="TextBox 37"/>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142B4D"/>
                </a:solidFill>
                <a:latin typeface="Calibri"/>
              </a:rPr>
              <a:t>No LLM writes the answer, so a window or amount cannot be invented. The order's category picks the right rulebook.</a:t>
            </a:r>
          </a:p>
        </p:txBody>
      </p:sp>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5 AND 6  |  WORKFLOW AND MULTI-AGENT</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and M6: a pausable graph run by specialist agents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M5  LangGraph workflow</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One graph: memory, policy check, action, then route</a:t>
            </a:r>
          </a:p>
          <a:p>
            <a:pPr>
              <a:spcAft>
                <a:spcPts val="200"/>
              </a:spcAft>
            </a:pPr>
            <a:r>
              <a:rPr sz="1300" b="0">
                <a:solidFill>
                  <a:srgbClr val="222B38"/>
                </a:solidFill>
                <a:latin typeface="Calibri"/>
              </a:rPr>
              <a:t>•  Routes: missing info, human interrupt, or auto-execute</a:t>
            </a:r>
          </a:p>
        </p:txBody>
      </p:sp>
      <p:sp>
        <p:nvSpPr>
          <p:cNvPr id="11" name="TextBox 10"/>
          <p:cNvSpPr txBox="1"/>
          <p:nvPr/>
        </p:nvSpPr>
        <p:spPr>
          <a:xfrm>
            <a:off x="548640" y="329184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56616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SqliteSaver checkpoints; interrupt before human review</a:t>
            </a:r>
          </a:p>
          <a:p>
            <a:pPr>
              <a:spcAft>
                <a:spcPts val="200"/>
              </a:spcAft>
            </a:pPr>
            <a:r>
              <a:rPr sz="1300" b="0">
                <a:solidFill>
                  <a:srgbClr val="222B38"/>
                </a:solidFill>
                <a:latin typeface="Calibri"/>
              </a:rPr>
              <a:t>•  Routing is set by the guardrail result, not the LLM</a:t>
            </a:r>
          </a:p>
        </p:txBody>
      </p:sp>
      <p:sp>
        <p:nvSpPr>
          <p:cNvPr id="13" name="TextBox 12"/>
          <p:cNvSpPr txBox="1"/>
          <p:nvPr/>
        </p:nvSpPr>
        <p:spPr>
          <a:xfrm>
            <a:off x="548640" y="43434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61772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Auto path and interrupt path both tested; 3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M6  Multi-agent team + MCP</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Four specialists: Memory, Policy RAG, Order-Actions, Escalation Reviewer</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Tools served by an MCP server, called by an MCP client</a:t>
            </a:r>
          </a:p>
          <a:p>
            <a:pPr>
              <a:spcAft>
                <a:spcPts val="200"/>
              </a:spcAft>
            </a:pPr>
            <a:r>
              <a:rPr sz="1300" b="0">
                <a:solidFill>
                  <a:srgbClr val="222B38"/>
                </a:solidFill>
                <a:latin typeface="Calibri"/>
              </a:rPr>
              <a:t>•  Each agent is its own span; the reviewer has the last word</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Same decisions as the single-agent path; 6 tests</a:t>
            </a:r>
          </a:p>
          <a:p>
            <a:pPr>
              <a:spcAft>
                <a:spcPts val="200"/>
              </a:spcAft>
            </a:pPr>
            <a:r>
              <a:rPr sz="1300" b="0">
                <a:solidFill>
                  <a:srgbClr val="222B38"/>
                </a:solidFill>
                <a:latin typeface="Calibri"/>
              </a:rPr>
              <a:t>•  Agent spans visible in LangFuse</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     |     pytest tests/unit/test_mcp_tools.py tests/unit/test_multi_agent_team.py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7 AND 8  |  RELIABILITY AND EVALUATION</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and M8: trace every step, prove it on 20 cases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M7  Tracing + reliability</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See every agent, tool and retrieval step; survive provider failures</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LangFuse spans plus local JSONL traces</a:t>
            </a:r>
          </a:p>
          <a:p>
            <a:pPr>
              <a:spcAft>
                <a:spcPts val="200"/>
              </a:spcAft>
            </a:pPr>
            <a:r>
              <a:rPr sz="1300" b="0">
                <a:solidFill>
                  <a:srgbClr val="222B38"/>
                </a:solidFill>
                <a:latin typeface="Calibri"/>
              </a:rPr>
              <a:t>•  LLM: schema re-ask, 429 backoff, 60s timeout. Tools: retry, circuit breaker, human-queue fallback</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Verified in LangFuse: Memory, Policy RAG, Order-Actions, Escalation spans</a:t>
            </a:r>
          </a:p>
          <a:p>
            <a:pPr>
              <a:spcAft>
                <a:spcPts val="200"/>
              </a:spcAft>
            </a:pPr>
            <a:r>
              <a:rPr sz="1300" b="0">
                <a:solidFill>
                  <a:srgbClr val="222B38"/>
                </a:solidFill>
                <a:latin typeface="Calibri"/>
              </a:rPr>
              <a:t>•  3 reliability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M8  Golden eval + FastAPI</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20-case golden set over 5 customers; /chat and /health API</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Each case states action, human-or-not, guardrail codes, forbidden actions</a:t>
            </a:r>
          </a:p>
          <a:p>
            <a:pPr>
              <a:spcAft>
                <a:spcPts val="200"/>
              </a:spcAft>
            </a:pPr>
            <a:r>
              <a:rPr sz="1300" b="0">
                <a:solidFill>
                  <a:srgbClr val="222B38"/>
                </a:solidFill>
                <a:latin typeface="Calibri"/>
              </a:rPr>
              <a:t>•  --live parses raw text with the real LLM</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20 of 20 stored, 20 of 20 live (Gemini)</a:t>
            </a:r>
          </a:p>
          <a:p>
            <a:pPr>
              <a:spcAft>
                <a:spcPts val="200"/>
              </a:spcAft>
            </a:pPr>
            <a:r>
              <a:rPr sz="1300" b="0">
                <a:solidFill>
                  <a:srgbClr val="222B38"/>
                </a:solidFill>
                <a:latin typeface="Calibri"/>
              </a:rPr>
              <a:t>•  Local uvicorn run verified; blocked tickets return 200 + human review</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scripts/run_m8_golden_eval.py --live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EVALUATION, IMPROVEMENTS AND LIMITS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Results: safety passes; the gaps are stated openly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graphicFrame>
        <p:nvGraphicFramePr>
          <p:cNvPr id="7" name="Table 6"/>
          <p:cNvGraphicFramePr>
            <a:graphicFrameLocks noGrp="1"/>
          </p:cNvGraphicFramePr>
          <p:nvPr/>
        </p:nvGraphicFramePr>
        <p:xfrm>
          <a:off x="548640" y="1554480"/>
          <a:ext cx="5394960" cy="3364992"/>
        </p:xfrm>
        <a:graphic>
          <a:graphicData uri="http://schemas.openxmlformats.org/drawingml/2006/table">
            <a:tbl>
              <a:tblPr firstRow="1" bandRow="1">
                <a:tableStyleId>{5C22544A-7EE6-4342-B048-85BDC9FD1C3A}</a:tableStyleId>
              </a:tblPr>
              <a:tblGrid>
                <a:gridCol w="3291840"/>
                <a:gridCol w="2103120"/>
              </a:tblGrid>
              <a:tr h="420624">
                <a:tc>
                  <a:txBody>
                    <a:bodyPr wrap="square"/>
                    <a:lstStyle/>
                    <a:p>
                      <a:pPr>
                        <a:spcAft>
                          <a:spcPts val="0"/>
                        </a:spcAft>
                      </a:pPr>
                      <a:r>
                        <a:rPr sz="1300" b="1">
                          <a:solidFill>
                            <a:srgbClr val="FFFFFF"/>
                          </a:solidFill>
                          <a:latin typeface="Calibri"/>
                        </a:rPr>
                        <a:t>Check</a:t>
                      </a:r>
                    </a:p>
                  </a:txBody>
                  <a:tcPr marT="36576" marB="36576">
                    <a:solidFill>
                      <a:srgbClr val="142B4D"/>
                    </a:solidFill>
                  </a:tcPr>
                </a:tc>
                <a:tc>
                  <a:txBody>
                    <a:bodyPr wrap="square"/>
                    <a:lstStyle/>
                    <a:p>
                      <a:pPr>
                        <a:spcAft>
                          <a:spcPts val="0"/>
                        </a:spcAft>
                      </a:pPr>
                      <a:r>
                        <a:rPr sz="1300" b="1">
                          <a:solidFill>
                            <a:srgbClr val="FFFFFF"/>
                          </a:solidFill>
                          <a:latin typeface="Calibri"/>
                        </a:rPr>
                        <a:t>Result</a:t>
                      </a:r>
                    </a:p>
                  </a:txBody>
                  <a:tcPr marT="36576" marB="36576">
                    <a:solidFill>
                      <a:srgbClr val="142B4D"/>
                    </a:solidFill>
                  </a:tcPr>
                </a:tc>
              </a:tr>
              <a:tr h="420624">
                <a:tc>
                  <a:txBody>
                    <a:bodyPr wrap="square"/>
                    <a:lstStyle/>
                    <a:p>
                      <a:pPr>
                        <a:spcAft>
                          <a:spcPts val="0"/>
                        </a:spcAft>
                      </a:pPr>
                      <a:r>
                        <a:rPr sz="13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300" b="0">
                          <a:solidFill>
                            <a:srgbClr val="222B38"/>
                          </a:solidFill>
                          <a:latin typeface="Calibri"/>
                        </a:rPr>
                        <a:t>69 passed</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300" b="0">
                          <a:solidFill>
                            <a:srgbClr val="222B38"/>
                          </a:solidFill>
                          <a:latin typeface="Calibri"/>
                        </a:rPr>
                        <a:t>20 / 20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300" b="0">
                          <a:solidFill>
                            <a:srgbClr val="222B38"/>
                          </a:solidFill>
                          <a:latin typeface="Calibri"/>
                        </a:rPr>
                        <a:t>20 / 20</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300" b="0">
                          <a:solidFill>
                            <a:srgbClr val="222B38"/>
                          </a:solidFill>
                          <a:latin typeface="Calibri"/>
                        </a:rPr>
                        <a:t>24 / 24</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300" b="0">
                          <a:solidFill>
                            <a:srgbClr val="222B38"/>
                          </a:solidFill>
                          <a:latin typeface="Calibri"/>
                        </a:rPr>
                        <a:t>0.82</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3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6217920" y="1508760"/>
            <a:ext cx="5394960" cy="365760"/>
          </a:xfrm>
          <a:prstGeom prst="rect">
            <a:avLst/>
          </a:prstGeom>
          <a:noFill/>
        </p:spPr>
        <p:txBody>
          <a:bodyPr wrap="square" lIns="45720" rIns="45720">
            <a:spAutoFit/>
          </a:bodyPr>
          <a:lstStyle/>
          <a:p>
            <a:pPr>
              <a:spcAft>
                <a:spcPts val="600"/>
              </a:spcAft>
            </a:pPr>
            <a:r>
              <a:rPr sz="1100" b="1">
                <a:solidFill>
                  <a:srgbClr val="0F8B8D"/>
                </a:solidFill>
                <a:latin typeface="Calibri"/>
              </a:rPr>
              <a:t>FOUND BY RUNNING IT FOR REAL, THEN FIXED</a:t>
            </a:r>
          </a:p>
        </p:txBody>
      </p:sp>
      <p:sp>
        <p:nvSpPr>
          <p:cNvPr id="9" name="TextBox 8"/>
          <p:cNvSpPr txBox="1"/>
          <p:nvPr/>
        </p:nvSpPr>
        <p:spPr>
          <a:xfrm>
            <a:off x="6217920" y="1828800"/>
            <a:ext cx="5394960" cy="2377440"/>
          </a:xfrm>
          <a:prstGeom prst="rect">
            <a:avLst/>
          </a:prstGeom>
          <a:noFill/>
        </p:spPr>
        <p:txBody>
          <a:bodyPr wrap="square" lIns="45720" rIns="45720">
            <a:spAutoFit/>
          </a:bodyPr>
          <a:lstStyle/>
          <a:p>
            <a:pPr>
              <a:spcAft>
                <a:spcPts val="500"/>
              </a:spcAft>
            </a:pPr>
            <a:r>
              <a:rPr sz="1300" b="0">
                <a:solidFill>
                  <a:srgbClr val="222B38"/>
                </a:solidFill>
                <a:latin typeface="Calibri"/>
              </a:rPr>
              <a:t>•  Hash 'embeddings': moved to Gemini + BM25 (recall@3 1.0)</a:t>
            </a:r>
          </a:p>
          <a:p>
            <a:pPr>
              <a:spcAft>
                <a:spcPts val="500"/>
              </a:spcAft>
            </a:pPr>
            <a:r>
              <a:rPr sz="1300" b="0">
                <a:solidFill>
                  <a:srgbClr val="222B38"/>
                </a:solidFill>
                <a:latin typeface="Calibri"/>
              </a:rPr>
              <a:t>•  Wrong category's window: category filter (22 to 24 of 24)</a:t>
            </a:r>
          </a:p>
          <a:p>
            <a:pPr>
              <a:spcAft>
                <a:spcPts val="500"/>
              </a:spcAft>
            </a:pPr>
            <a:r>
              <a:rPr sz="1300" b="0">
                <a:solidFill>
                  <a:srgbClr val="222B38"/>
                </a:solidFill>
                <a:latin typeface="Calibri"/>
              </a:rPr>
              <a:t>•  Hinglish injection missed: regex screen added</a:t>
            </a:r>
          </a:p>
          <a:p>
            <a:pPr>
              <a:spcAft>
                <a:spcPts val="500"/>
              </a:spcAft>
            </a:pPr>
            <a:r>
              <a:rPr sz="1300" b="0">
                <a:solidFill>
                  <a:srgbClr val="222B38"/>
                </a:solidFill>
                <a:latin typeface="Calibri"/>
              </a:rPr>
              <a:t>•  Narrow golden set: rebuilt to 20 cases, live mode</a:t>
            </a:r>
          </a:p>
        </p:txBody>
      </p:sp>
      <p:sp>
        <p:nvSpPr>
          <p:cNvPr id="10" name="TextBox 9"/>
          <p:cNvSpPr txBox="1"/>
          <p:nvPr/>
        </p:nvSpPr>
        <p:spPr>
          <a:xfrm>
            <a:off x="6217920" y="3794760"/>
            <a:ext cx="5394960" cy="365760"/>
          </a:xfrm>
          <a:prstGeom prst="rect">
            <a:avLst/>
          </a:prstGeom>
          <a:noFill/>
        </p:spPr>
        <p:txBody>
          <a:bodyPr wrap="square" lIns="45720" rIns="45720">
            <a:spAutoFit/>
          </a:bodyPr>
          <a:lstStyle/>
          <a:p>
            <a:pPr>
              <a:spcAft>
                <a:spcPts val="600"/>
              </a:spcAft>
            </a:pPr>
            <a:r>
              <a:rPr sz="1100" b="1">
                <a:solidFill>
                  <a:srgbClr val="C0392B"/>
                </a:solidFill>
                <a:latin typeface="Calibri"/>
              </a:rPr>
              <a:t>NOT COVERED IN THIS VERSION</a:t>
            </a:r>
          </a:p>
        </p:txBody>
      </p:sp>
      <p:sp>
        <p:nvSpPr>
          <p:cNvPr id="11" name="TextBox 10"/>
          <p:cNvSpPr txBox="1"/>
          <p:nvPr/>
        </p:nvSpPr>
        <p:spPr>
          <a:xfrm>
            <a:off x="6217920" y="4114800"/>
            <a:ext cx="5394960" cy="2011680"/>
          </a:xfrm>
          <a:prstGeom prst="rect">
            <a:avLst/>
          </a:prstGeom>
          <a:noFill/>
        </p:spPr>
        <p:txBody>
          <a:bodyPr wrap="square" lIns="45720" rIns="45720">
            <a:spAutoFit/>
          </a:bodyPr>
          <a:lstStyle/>
          <a:p>
            <a:pPr>
              <a:spcAft>
                <a:spcPts val="500"/>
              </a:spcAft>
            </a:pPr>
            <a:r>
              <a:rPr sz="1300" b="0">
                <a:solidFill>
                  <a:srgbClr val="222B38"/>
                </a:solidFill>
                <a:latin typeface="Calibri"/>
              </a:rPr>
              <a:t>•  No PII redaction in traces; no auth or rate limit on /chat</a:t>
            </a:r>
          </a:p>
          <a:p>
            <a:pPr>
              <a:spcAft>
                <a:spcPts val="500"/>
              </a:spcAft>
            </a:pPr>
            <a:r>
              <a:rPr sz="1300" b="0">
                <a:solidFill>
                  <a:srgbClr val="222B38"/>
                </a:solidFill>
                <a:latin typeface="Calibri"/>
              </a:rPr>
              <a:t>•  Injection regex can be evaded by novel phrasing</a:t>
            </a:r>
          </a:p>
          <a:p>
            <a:pPr>
              <a:spcAft>
                <a:spcPts val="500"/>
              </a:spcAft>
            </a:pPr>
            <a:r>
              <a:rPr sz="1300" b="0">
                <a:solidFill>
                  <a:srgbClr val="222B38"/>
                </a:solidFill>
                <a:latin typeface="Calibri"/>
              </a:rPr>
              <a:t>•  Small corpus (3 policy docs): retrieval numbers optimistic</a:t>
            </a:r>
          </a:p>
          <a:p>
            <a:pPr>
              <a:spcAft>
                <a:spcPts val="500"/>
              </a:spcAft>
            </a:pPr>
            <a:r>
              <a:rPr sz="1300" b="0">
                <a:solidFill>
                  <a:srgbClr val="222B38"/>
                </a:solidFill>
                <a:latin typeface="Calibri"/>
              </a:rPr>
              <a:t>•  Public endpoint and Docker not exercised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RUN IT YOURSELF  |  TAKEAWAYS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Live demo in five minutes, and what to remember</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554480"/>
          <a:ext cx="11064240" cy="2286000"/>
        </p:xfrm>
        <a:graphic>
          <a:graphicData uri="http://schemas.openxmlformats.org/drawingml/2006/table">
            <a:tbl>
              <a:tblPr firstRow="1" bandRow="1">
                <a:tableStyleId>{5C22544A-7EE6-4342-B048-85BDC9FD1C3A}</a:tableStyleId>
              </a:tblPr>
              <a:tblGrid>
                <a:gridCol w="1828800"/>
                <a:gridCol w="5120640"/>
                <a:gridCol w="4114800"/>
              </a:tblGrid>
              <a:tr h="457200">
                <a:tc>
                  <a:txBody>
                    <a:bodyPr wrap="square"/>
                    <a:lstStyle/>
                    <a:p>
                      <a:pPr>
                        <a:spcAft>
                          <a:spcPts val="0"/>
                        </a:spcAft>
                      </a:pPr>
                      <a:r>
                        <a:rPr sz="1300" b="1">
                          <a:solidFill>
                            <a:srgbClr val="FFFFFF"/>
                          </a:solidFill>
                          <a:latin typeface="Calibri"/>
                        </a:rPr>
                        <a:t>Step</a:t>
                      </a:r>
                    </a:p>
                  </a:txBody>
                  <a:tcPr marT="36576" marB="36576">
                    <a:solidFill>
                      <a:srgbClr val="142B4D"/>
                    </a:solidFill>
                  </a:tcPr>
                </a:tc>
                <a:tc>
                  <a:txBody>
                    <a:bodyPr wrap="square"/>
                    <a:lstStyle/>
                    <a:p>
                      <a:pPr>
                        <a:spcAft>
                          <a:spcPts val="0"/>
                        </a:spcAft>
                      </a:pPr>
                      <a:r>
                        <a:rPr sz="1300" b="1">
                          <a:solidFill>
                            <a:srgbClr val="FFFFFF"/>
                          </a:solidFill>
                          <a:latin typeface="Calibri"/>
                        </a:rPr>
                        <a:t>Command</a:t>
                      </a:r>
                    </a:p>
                  </a:txBody>
                  <a:tcPr marT="36576" marB="36576">
                    <a:solidFill>
                      <a:srgbClr val="142B4D"/>
                    </a:solidFill>
                  </a:tcPr>
                </a:tc>
                <a:tc>
                  <a:txBody>
                    <a:bodyPr wrap="square"/>
                    <a:lstStyle/>
                    <a:p>
                      <a:pPr>
                        <a:spcAft>
                          <a:spcPts val="0"/>
                        </a:spcAft>
                      </a:pPr>
                      <a:r>
                        <a:rPr sz="1300" b="1">
                          <a:solidFill>
                            <a:srgbClr val="FFFFFF"/>
                          </a:solidFill>
                          <a:latin typeface="Calibri"/>
                        </a:rPr>
                        <a:t>What the audience sees</a:t>
                      </a:r>
                    </a:p>
                  </a:txBody>
                  <a:tcPr marT="36576" marB="36576">
                    <a:solidFill>
                      <a:srgbClr val="142B4D"/>
                    </a:solidFill>
                  </a:tcPr>
                </a:tc>
              </a:tr>
              <a:tr h="457200">
                <a:tc>
                  <a:txBody>
                    <a:bodyPr wrap="square"/>
                    <a:lstStyle/>
                    <a:p>
                      <a:pPr>
                        <a:spcAft>
                          <a:spcPts val="0"/>
                        </a:spcAft>
                      </a:pPr>
                      <a:r>
                        <a:rPr sz="1300" b="0">
                          <a:solidFill>
                            <a:srgbClr val="222B38"/>
                          </a:solidFill>
                          <a:latin typeface="Calibri"/>
                        </a:rPr>
                        <a:t>1  Tests</a:t>
                      </a:r>
                    </a:p>
                  </a:txBody>
                  <a:tcPr marT="36576" marB="36576">
                    <a:solidFill>
                      <a:srgbClr val="EEF3F8"/>
                    </a:solidFill>
                  </a:tcPr>
                </a:tc>
                <a:tc>
                  <a:txBody>
                    <a:bodyPr wrap="square"/>
                    <a:lstStyle/>
                    <a:p>
                      <a:pPr>
                        <a:spcAft>
                          <a:spcPts val="0"/>
                        </a:spcAft>
                      </a:pPr>
                      <a:r>
                        <a:rPr sz="130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300" b="0">
                          <a:solidFill>
                            <a:srgbClr val="222B38"/>
                          </a:solidFill>
                          <a:latin typeface="Calibri"/>
                        </a:rPr>
                        <a:t>69 passed</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2  Milestones</a:t>
                      </a:r>
                    </a:p>
                  </a:txBody>
                  <a:tcPr marT="36576" marB="36576">
                    <a:solidFill>
                      <a:srgbClr val="FFFFFF"/>
                    </a:solidFill>
                  </a:tcPr>
                </a:tc>
                <a:tc>
                  <a:txBody>
                    <a:bodyPr wrap="square"/>
                    <a:lstStyle/>
                    <a:p>
                      <a:pPr>
                        <a:spcAft>
                          <a:spcPts val="0"/>
                        </a:spcAft>
                      </a:pPr>
                      <a:r>
                        <a:rPr sz="130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300" b="0">
                          <a:solidFill>
                            <a:srgbClr val="222B38"/>
                          </a:solidFill>
                          <a:latin typeface="Calibri"/>
                        </a:rPr>
                        <a:t>M1 to M8 on live LLM, Qdrant Cloud, LangFuse</a:t>
                      </a:r>
                    </a:p>
                  </a:txBody>
                  <a:tcPr marT="36576" marB="36576">
                    <a:solidFill>
                      <a:srgbClr val="FFFFFF"/>
                    </a:solidFill>
                  </a:tcPr>
                </a:tc>
              </a:tr>
              <a:tr h="457200">
                <a:tc>
                  <a:txBody>
                    <a:bodyPr wrap="square"/>
                    <a:lstStyle/>
                    <a:p>
                      <a:pPr>
                        <a:spcAft>
                          <a:spcPts val="0"/>
                        </a:spcAft>
                      </a:pPr>
                      <a:r>
                        <a:rPr sz="1300" b="0">
                          <a:solidFill>
                            <a:srgbClr val="222B38"/>
                          </a:solidFill>
                          <a:latin typeface="Calibri"/>
                        </a:rPr>
                        <a:t>3  Golden eval</a:t>
                      </a:r>
                    </a:p>
                  </a:txBody>
                  <a:tcPr marT="36576" marB="36576">
                    <a:solidFill>
                      <a:srgbClr val="EEF3F8"/>
                    </a:solidFill>
                  </a:tcPr>
                </a:tc>
                <a:tc>
                  <a:txBody>
                    <a:bodyPr wrap="square"/>
                    <a:lstStyle/>
                    <a:p>
                      <a:pPr>
                        <a:spcAft>
                          <a:spcPts val="0"/>
                        </a:spcAft>
                      </a:pPr>
                      <a:r>
                        <a:rPr sz="130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300" b="0">
                          <a:solidFill>
                            <a:srgbClr val="222B38"/>
                          </a:solidFill>
                          <a:latin typeface="Calibri"/>
                        </a:rPr>
                        <a:t>20 of 20 with guardrail codes</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4  API</a:t>
                      </a:r>
                    </a:p>
                  </a:txBody>
                  <a:tcPr marT="36576" marB="36576">
                    <a:solidFill>
                      <a:srgbClr val="FFFFFF"/>
                    </a:solidFill>
                  </a:tcPr>
                </a:tc>
                <a:tc>
                  <a:txBody>
                    <a:bodyPr wrap="square"/>
                    <a:lstStyle/>
                    <a:p>
                      <a:pPr>
                        <a:spcAft>
                          <a:spcPts val="0"/>
                        </a:spcAft>
                      </a:pPr>
                      <a:r>
                        <a:rPr sz="130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300" b="0">
                          <a:solidFill>
                            <a:srgbClr val="222B38"/>
                          </a:solidFill>
                          <a:latin typeface="Calibri"/>
                        </a:rPr>
                        <a:t>/chat decisions for 7 cases</a:t>
                      </a:r>
                    </a:p>
                  </a:txBody>
                  <a:tcPr marT="36576" marB="36576">
                    <a:solidFill>
                      <a:srgbClr val="FFFFFF"/>
                    </a:solidFill>
                  </a:tcPr>
                </a:tc>
              </a:tr>
            </a:tbl>
          </a:graphicData>
        </a:graphic>
      </p:graphicFrame>
      <p:sp>
        <p:nvSpPr>
          <p:cNvPr id="8" name="TextBox 7"/>
          <p:cNvSpPr txBox="1"/>
          <p:nvPr/>
        </p:nvSpPr>
        <p:spPr>
          <a:xfrm>
            <a:off x="548640" y="3931920"/>
            <a:ext cx="11064240" cy="365760"/>
          </a:xfrm>
          <a:prstGeom prst="rect">
            <a:avLst/>
          </a:prstGeom>
          <a:noFill/>
        </p:spPr>
        <p:txBody>
          <a:bodyPr wrap="square" lIns="45720" rIns="45720">
            <a:spAutoFit/>
          </a:bodyPr>
          <a:lstStyle/>
          <a:p>
            <a:pPr>
              <a:spcAft>
                <a:spcPts val="600"/>
              </a:spcAft>
            </a:pPr>
            <a:r>
              <a:rPr sz="1200" b="0">
                <a:solidFill>
                  <a:srgbClr val="5F6B7A"/>
                </a:solidFill>
                <a:latin typeface="Calibri"/>
              </a:rPr>
              <a:t>Setup: copy .env.example to .env and add the Gemini, Qdrant and LangFuse keys (git-ignored). Backup: demo_milestones.py --offline.</a:t>
            </a:r>
          </a:p>
        </p:txBody>
      </p:sp>
      <p:sp>
        <p:nvSpPr>
          <p:cNvPr id="9" name="Rounded Rectangle 8"/>
          <p:cNvSpPr/>
          <p:nvPr/>
        </p:nvSpPr>
        <p:spPr>
          <a:xfrm>
            <a:off x="548640" y="4434840"/>
            <a:ext cx="11064240" cy="1783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526280"/>
            <a:ext cx="10515600" cy="1645920"/>
          </a:xfrm>
          <a:prstGeom prst="rect">
            <a:avLst/>
          </a:prstGeom>
          <a:noFill/>
        </p:spPr>
        <p:txBody>
          <a:bodyPr wrap="square" lIns="45720" rIns="45720">
            <a:spAutoFit/>
          </a:bodyPr>
          <a:lstStyle/>
          <a:p>
            <a:pPr>
              <a:spcAft>
                <a:spcPts val="600"/>
              </a:spcAft>
            </a:pPr>
            <a:r>
              <a:rPr sz="1700" b="1">
                <a:solidFill>
                  <a:srgbClr val="FFFFFF"/>
                </a:solidFill>
                <a:latin typeface="Calibri"/>
              </a:rPr>
              <a:t>Let the model read, let code decide.  A fooled model still cannot move money.</a:t>
            </a:r>
          </a:p>
          <a:p>
            <a:pPr>
              <a:spcAft>
                <a:spcPts val="600"/>
              </a:spcAft>
            </a:pPr>
            <a:r>
              <a:rPr sz="1700" b="1">
                <a:solidFill>
                  <a:srgbClr val="FFFFFF"/>
                </a:solidFill>
                <a:latin typeface="Calibri"/>
              </a:rPr>
              <a:t>Measure, then fix.  Real runs found four weaknesses; each fix has a number.</a:t>
            </a:r>
          </a:p>
          <a:p>
            <a:pPr>
              <a:spcAft>
                <a:spcPts val="600"/>
              </a:spcAft>
            </a:pPr>
            <a:r>
              <a:rPr sz="1700" b="1">
                <a:solidFill>
                  <a:srgbClr val="FFFFFF"/>
                </a:solidFill>
                <a:latin typeface="Calibri"/>
              </a:rPr>
              <a:t>Every claim is runnable.  69 tests, 20 golden cases, a strict real-services demo.</a:t>
            </a:r>
          </a:p>
          <a:p>
            <a:pPr>
              <a:spcAft>
                <a:spcPts val="600"/>
              </a:spcAft>
            </a:pPr>
            <a:r>
              <a:rPr sz="1200" b="0">
                <a:solidFill>
                  <a:srgbClr val="B8C7DA"/>
                </a:solidFill>
                <a:latin typeface="Calibri"/>
              </a:rPr>
              <a:t>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