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20, M7 8, M8 3.</a:t>
            </a:r>
          </a:p>
          <a:p/>
          <a:p>
            <a:r>
              <a:t>Three tickets run through the same code. A is the hostile Rs 12,999 ticket we follow in detail. B is a plain 'where is my order' (KW-O-000010). C is a consumer-court threat on KW-O-000950. The table shows what each module does with each one; the last column is the M6 route, which is where they finally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a:p/>
          <a:p>
            <a:r>
              <a:t>Ticket B: calm, issue track_order, no escalation signals, no amount, order id found in the text. Ticket C: angry, urgency high, legal_or_regulatory signal, no amount claimed. Nothing in the model decides the outcome here; it only reads.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a:p/>
          <a:p>
            <a:r>
              <a:t>Ticket B: track_order, so the rules call the read-only shipment lookup and no human is needed. Ticket C: the legal_or_regulatory signal is on the priority list, so the plan is flag_for_human straight away. Same rules as ticket A, different first match.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a:p/>
          <a:p>
            <a:r>
              <a:t>Tickets B and C are first contacts with empty memory, so contact number is 1 and no repeat flag is added. Memory has nothing special to say about them; the story is ticket A's eight tickets. If asked why the first row says twitter while the M1 slide says chat: the memory demo replays the hostile message through different channels to show the repeat count works across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a:p/>
          <a:p>
            <a:r>
              <a:t>Ticket B needs no policy answer for tracking, and the live answer was off-topic (shipping address rules), which is why M6 skips this step for such tickets. Ticket C retrieves from escalation-tone, the right document, grounded.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a:p/>
          <a:p>
            <a:r>
              <a:t>Ticket B auto-resolves without a pause: status auto_resolved_proposed, 5 checkpoints. Ticket C pauses at legal_or_regulatory; after approval by ops_manager the human-desk flag is filed, status human_approved_executed, 6 checkpoints. Approval files the case with the desk; it does not pay anything.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M7 story: every ticket now leaves a trace, and the three tickets leave different ones. The table is from one live run over MCP; click an ID to open the trace in Langfuse. A (hostile) has 9 spans because the policy lookup runs, takes 7.6 s and costs about $0.0008. B (plain tracking) has 7 spans, goes fast_track, calls track_shipment over MCP in about 0.27 s, and costs about $0.00075. C (court threat) has 7 spans, skips policy and the tool, goes escalate_now to a person, and costs about $0.00068. Triage and Supervisor show as generations with model, tokens and cost; everything else is tiny because it is code (under 2 ms). Reliability: the tool call goes over MCP by default; if the MCP server cannot start, the same call runs in process and the result says so. Retries only cover transient errors, malformed data goes straight to the human queue, and the breaker lets exactly one trial call through after its cooldown. If the language model itself is down, /chat answers with a safe human hand-off instead of an error. Honest finding: flushing Langfuse after every ticket added about 200 ms, so it is now batched in the background (tracing costs about 1.3 ms). Seeded numbers: 114 of 200 clean at baseline, 179 clean plus 21 sent to a human after hardening. M8: the golden set is deliberately adversarial: five injection variants, cross-customer orders, safety, repeat contact; stored and live runs pass 20 of 20. Detail: docs/diagrams/m7_observability_reliability_sequence.md.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cloud.langfuse.com/project/cmuqxwv4s01zvad0czaq5rtkl/traces/62f3393fdb07d4b3b8eb816982ea4332" TargetMode="External"/><Relationship Id="rId4" Type="http://schemas.openxmlformats.org/officeDocument/2006/relationships/hyperlink" Target="https://cloud.langfuse.com/project/cmuqxwv4s01zvad0czaq5rtkl/traces/697de7ea21f0469aabf1c2cdc7a95fac" TargetMode="External"/><Relationship Id="rId5" Type="http://schemas.openxmlformats.org/officeDocument/2006/relationships/hyperlink" Target="https://cloud.langfuse.com/project/cmuqxwv4s01zvad0czaq5rtkl/traces/72b4b6c3e016bcbfa5654d868efbf72a"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M7 complete,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MCP then Python</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57200" y="1280160"/>
            <a:ext cx="11247120" cy="365760"/>
          </a:xfrm>
          <a:prstGeom prst="rect">
            <a:avLst/>
          </a:prstGeom>
          <a:noFill/>
        </p:spPr>
        <p:txBody>
          <a:bodyPr wrap="square" lIns="45720" rIns="45720">
            <a:spAutoFit/>
          </a:bodyPr>
          <a:lstStyle/>
          <a:p>
            <a:pPr>
              <a:spcAft>
                <a:spcPts val="600"/>
              </a:spcAft>
            </a:pPr>
            <a:r>
              <a:rPr sz="1200" b="1">
                <a:solidFill>
                  <a:srgbClr val="142B4D"/>
                </a:solidFill>
                <a:latin typeface="Calibri"/>
              </a:rPr>
              <a:t>Wrapped by:  M5 LangGraph (human interrupt)  |  M6 supervised agent team  |  M7 tracing + fallback  |  M8 /chat + golden eval</a:t>
            </a:r>
          </a:p>
        </p:txBody>
      </p:sp>
      <p:sp>
        <p:nvSpPr>
          <p:cNvPr id="27" name="TextBox 26"/>
          <p:cNvSpPr txBox="1"/>
          <p:nvPr/>
        </p:nvSpPr>
        <p:spPr>
          <a:xfrm>
            <a:off x="457200" y="5138928"/>
            <a:ext cx="11247120" cy="274320"/>
          </a:xfrm>
          <a:prstGeom prst="rect">
            <a:avLst/>
          </a:prstGeom>
          <a:noFill/>
        </p:spPr>
        <p:txBody>
          <a:bodyPr wrap="square" lIns="45720" rIns="45720">
            <a:spAutoFit/>
          </a:bodyPr>
          <a:lstStyle/>
          <a:p>
            <a:pPr>
              <a:spcAft>
                <a:spcPts val="600"/>
              </a:spcAft>
            </a:pPr>
            <a:r>
              <a:rPr sz="1000" b="1">
                <a:solidFill>
                  <a:srgbClr val="0F8B8D"/>
                </a:solidFill>
                <a:latin typeface="Calibri"/>
              </a:rPr>
              <a:t>THREE TICKETS WE FOLLOW (A: KW-O-000000, B: KW-O-000010, C: KW-O-000950), SAME CODE FOR ALL</a:t>
            </a:r>
          </a:p>
        </p:txBody>
      </p:sp>
      <p:graphicFrame>
        <p:nvGraphicFramePr>
          <p:cNvPr id="28" name="Table 27"/>
          <p:cNvGraphicFramePr>
            <a:graphicFrameLocks noGrp="1"/>
          </p:cNvGraphicFramePr>
          <p:nvPr/>
        </p:nvGraphicFramePr>
        <p:xfrm>
          <a:off x="457200" y="5394960"/>
          <a:ext cx="11247120" cy="950976"/>
        </p:xfrm>
        <a:graphic>
          <a:graphicData uri="http://schemas.openxmlformats.org/drawingml/2006/table">
            <a:tbl>
              <a:tblPr firstRow="1" bandRow="1">
                <a:tableStyleId>{5C22544A-7EE6-4342-B048-85BDC9FD1C3A}</a:tableStyleId>
              </a:tblPr>
              <a:tblGrid>
                <a:gridCol w="2194560"/>
                <a:gridCol w="2651760"/>
                <a:gridCol w="2743200"/>
                <a:gridCol w="1737360"/>
                <a:gridCol w="1920240"/>
              </a:tblGrid>
              <a:tr h="237744">
                <a:tc>
                  <a:txBody>
                    <a:bodyPr wrap="square"/>
                    <a:lstStyle/>
                    <a:p>
                      <a:pPr>
                        <a:spcAft>
                          <a:spcPts val="0"/>
                        </a:spcAft>
                      </a:pPr>
                      <a:r>
                        <a:rPr sz="950" b="1">
                          <a:solidFill>
                            <a:srgbClr val="FFFFFF"/>
                          </a:solidFill>
                          <a:latin typeface="Calibri"/>
                        </a:rPr>
                        <a:t>Ticket</a:t>
                      </a:r>
                    </a:p>
                  </a:txBody>
                  <a:tcPr marT="36576" marB="36576">
                    <a:solidFill>
                      <a:srgbClr val="142B4D"/>
                    </a:solidFill>
                  </a:tcPr>
                </a:tc>
                <a:tc>
                  <a:txBody>
                    <a:bodyPr wrap="square"/>
                    <a:lstStyle/>
                    <a:p>
                      <a:pPr>
                        <a:spcAft>
                          <a:spcPts val="0"/>
                        </a:spcAft>
                      </a:pPr>
                      <a:r>
                        <a:rPr sz="950" b="1">
                          <a:solidFill>
                            <a:srgbClr val="FFFFFF"/>
                          </a:solidFill>
                          <a:latin typeface="Calibri"/>
                        </a:rPr>
                        <a:t>M1 reads</a:t>
                      </a:r>
                    </a:p>
                  </a:txBody>
                  <a:tcPr marT="36576" marB="36576">
                    <a:solidFill>
                      <a:srgbClr val="142B4D"/>
                    </a:solidFill>
                  </a:tcPr>
                </a:tc>
                <a:tc>
                  <a:txBody>
                    <a:bodyPr wrap="square"/>
                    <a:lstStyle/>
                    <a:p>
                      <a:pPr>
                        <a:spcAft>
                          <a:spcPts val="0"/>
                        </a:spcAft>
                      </a:pPr>
                      <a:r>
                        <a:rPr sz="950" b="1">
                          <a:solidFill>
                            <a:srgbClr val="FFFFFF"/>
                          </a:solidFill>
                          <a:latin typeface="Calibri"/>
                        </a:rPr>
                        <a:t>M2 plans, M4 grounds</a:t>
                      </a:r>
                    </a:p>
                  </a:txBody>
                  <a:tcPr marT="36576" marB="36576">
                    <a:solidFill>
                      <a:srgbClr val="142B4D"/>
                    </a:solidFill>
                  </a:tcPr>
                </a:tc>
                <a:tc>
                  <a:txBody>
                    <a:bodyPr wrap="square"/>
                    <a:lstStyle/>
                    <a:p>
                      <a:pPr>
                        <a:spcAft>
                          <a:spcPts val="0"/>
                        </a:spcAft>
                      </a:pPr>
                      <a:r>
                        <a:rPr sz="950" b="1">
                          <a:solidFill>
                            <a:srgbClr val="FFFFFF"/>
                          </a:solidFill>
                          <a:latin typeface="Calibri"/>
                        </a:rPr>
                        <a:t>M5 workflow</a:t>
                      </a:r>
                    </a:p>
                  </a:txBody>
                  <a:tcPr marT="36576" marB="36576">
                    <a:solidFill>
                      <a:srgbClr val="142B4D"/>
                    </a:solidFill>
                  </a:tcPr>
                </a:tc>
                <a:tc>
                  <a:txBody>
                    <a:bodyPr wrap="square"/>
                    <a:lstStyle/>
                    <a:p>
                      <a:pPr>
                        <a:spcAft>
                          <a:spcPts val="0"/>
                        </a:spcAft>
                      </a:pPr>
                      <a:r>
                        <a:rPr sz="950" b="1">
                          <a:solidFill>
                            <a:srgbClr val="FFFFFF"/>
                          </a:solidFill>
                          <a:latin typeface="Calibri"/>
                        </a:rPr>
                        <a:t>M6 route</a:t>
                      </a:r>
                    </a:p>
                  </a:txBody>
                  <a:tcPr marT="36576" marB="36576">
                    <a:solidFill>
                      <a:srgbClr val="142B4D"/>
                    </a:solidFill>
                  </a:tcPr>
                </a:tc>
              </a:tr>
              <a:tr h="237744">
                <a:tc>
                  <a:txBody>
                    <a:bodyPr wrap="square"/>
                    <a:lstStyle/>
                    <a:p>
                      <a:pPr>
                        <a:spcAft>
                          <a:spcPts val="0"/>
                        </a:spcAft>
                      </a:pPr>
                      <a:r>
                        <a:rPr sz="950" b="0">
                          <a:solidFill>
                            <a:srgbClr val="222B38"/>
                          </a:solidFill>
                          <a:latin typeface="Calibri"/>
                        </a:rPr>
                        <a:t>A  Hostile, Rs 12,999</a:t>
                      </a:r>
                    </a:p>
                  </a:txBody>
                  <a:tcPr marT="36576" marB="36576">
                    <a:solidFill>
                      <a:srgbClr val="EEF3F8"/>
                    </a:solidFill>
                  </a:tcPr>
                </a:tc>
                <a:tc>
                  <a:txBody>
                    <a:bodyPr wrap="square"/>
                    <a:lstStyle/>
                    <a:p>
                      <a:pPr>
                        <a:spcAft>
                          <a:spcPts val="0"/>
                        </a:spcAft>
                      </a:pPr>
                      <a:r>
                        <a:rPr sz="950" b="0">
                          <a:solidFill>
                            <a:srgbClr val="222B38"/>
                          </a:solidFill>
                          <a:latin typeface="Calibri"/>
                        </a:rPr>
                        <a:t>angry, injection, above cap</a:t>
                      </a:r>
                    </a:p>
                  </a:txBody>
                  <a:tcPr marT="36576" marB="36576">
                    <a:solidFill>
                      <a:srgbClr val="EEF3F8"/>
                    </a:solidFill>
                  </a:tcPr>
                </a:tc>
                <a:tc>
                  <a:txBody>
                    <a:bodyPr wrap="square"/>
                    <a:lstStyle/>
                    <a:p>
                      <a:pPr>
                        <a:spcAft>
                          <a:spcPts val="0"/>
                        </a:spcAft>
                      </a:pPr>
                      <a:r>
                        <a:rPr sz="950" b="0">
                          <a:solidFill>
                            <a:srgbClr val="222B38"/>
                          </a:solidFill>
                          <a:latin typeface="Calibri"/>
                        </a:rPr>
                        <a:t>human: refund_above_auto_cap</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full, then human</a:t>
                      </a:r>
                    </a:p>
                  </a:txBody>
                  <a:tcPr marT="36576" marB="36576">
                    <a:solidFill>
                      <a:srgbClr val="EEF3F8"/>
                    </a:solidFill>
                  </a:tcPr>
                </a:tc>
              </a:tr>
              <a:tr h="237744">
                <a:tc>
                  <a:txBody>
                    <a:bodyPr wrap="square"/>
                    <a:lstStyle/>
                    <a:p>
                      <a:pPr>
                        <a:spcAft>
                          <a:spcPts val="0"/>
                        </a:spcAft>
                      </a:pPr>
                      <a:r>
                        <a:rPr sz="950" b="0">
                          <a:solidFill>
                            <a:srgbClr val="222B38"/>
                          </a:solidFill>
                          <a:latin typeface="Calibri"/>
                        </a:rPr>
                        <a:t>B  Plain tracking</a:t>
                      </a:r>
                    </a:p>
                  </a:txBody>
                  <a:tcPr marT="36576" marB="36576">
                    <a:solidFill>
                      <a:srgbClr val="FFFFFF"/>
                    </a:solidFill>
                  </a:tcPr>
                </a:tc>
                <a:tc>
                  <a:txBody>
                    <a:bodyPr wrap="square"/>
                    <a:lstStyle/>
                    <a:p>
                      <a:pPr>
                        <a:spcAft>
                          <a:spcPts val="0"/>
                        </a:spcAft>
                      </a:pPr>
                      <a:r>
                        <a:rPr sz="950" b="0">
                          <a:solidFill>
                            <a:srgbClr val="222B38"/>
                          </a:solidFill>
                          <a:latin typeface="Calibri"/>
                        </a:rPr>
                        <a:t>calm, track_order, no signals</a:t>
                      </a:r>
                    </a:p>
                  </a:txBody>
                  <a:tcPr marT="36576" marB="36576">
                    <a:solidFill>
                      <a:srgbClr val="FFFFFF"/>
                    </a:solidFill>
                  </a:tcPr>
                </a:tc>
                <a:tc>
                  <a:txBody>
                    <a:bodyPr wrap="square"/>
                    <a:lstStyle/>
                    <a:p>
                      <a:pPr>
                        <a:spcAft>
                          <a:spcPts val="0"/>
                        </a:spcAft>
                      </a:pPr>
                      <a:r>
                        <a:rPr sz="950" b="0">
                          <a:solidFill>
                            <a:srgbClr val="222B38"/>
                          </a:solidFill>
                          <a:latin typeface="Calibri"/>
                        </a:rPr>
                        <a:t>track_shipment, no human</a:t>
                      </a:r>
                    </a:p>
                  </a:txBody>
                  <a:tcPr marT="36576" marB="36576">
                    <a:solidFill>
                      <a:srgbClr val="FFFFFF"/>
                    </a:solidFill>
                  </a:tcPr>
                </a:tc>
                <a:tc>
                  <a:txBody>
                    <a:bodyPr wrap="square"/>
                    <a:lstStyle/>
                    <a:p>
                      <a:pPr>
                        <a:spcAft>
                          <a:spcPts val="0"/>
                        </a:spcAft>
                      </a:pPr>
                      <a:r>
                        <a:rPr sz="950" b="0">
                          <a:solidFill>
                            <a:srgbClr val="222B38"/>
                          </a:solidFill>
                          <a:latin typeface="Calibri"/>
                        </a:rPr>
                        <a:t>auto-resolves</a:t>
                      </a:r>
                    </a:p>
                  </a:txBody>
                  <a:tcPr marT="36576" marB="36576">
                    <a:solidFill>
                      <a:srgbClr val="FFFFFF"/>
                    </a:solidFill>
                  </a:tcPr>
                </a:tc>
                <a:tc>
                  <a:txBody>
                    <a:bodyPr wrap="square"/>
                    <a:lstStyle/>
                    <a:p>
                      <a:pPr>
                        <a:spcAft>
                          <a:spcPts val="0"/>
                        </a:spcAft>
                      </a:pPr>
                      <a:r>
                        <a:rPr sz="950" b="0">
                          <a:solidFill>
                            <a:srgbClr val="222B38"/>
                          </a:solidFill>
                          <a:latin typeface="Calibri"/>
                        </a:rPr>
                        <a:t>fast_track, no policy</a:t>
                      </a:r>
                    </a:p>
                  </a:txBody>
                  <a:tcPr marT="36576" marB="36576">
                    <a:solidFill>
                      <a:srgbClr val="FFFFFF"/>
                    </a:solidFill>
                  </a:tcPr>
                </a:tc>
              </a:tr>
              <a:tr h="237744">
                <a:tc>
                  <a:txBody>
                    <a:bodyPr wrap="square"/>
                    <a:lstStyle/>
                    <a:p>
                      <a:pPr>
                        <a:spcAft>
                          <a:spcPts val="0"/>
                        </a:spcAft>
                      </a:pPr>
                      <a:r>
                        <a:rPr sz="950" b="0">
                          <a:solidFill>
                            <a:srgbClr val="222B38"/>
                          </a:solidFill>
                          <a:latin typeface="Calibri"/>
                        </a:rPr>
                        <a:t>C  Court threat</a:t>
                      </a:r>
                    </a:p>
                  </a:txBody>
                  <a:tcPr marT="36576" marB="36576">
                    <a:solidFill>
                      <a:srgbClr val="EEF3F8"/>
                    </a:solidFill>
                  </a:tcPr>
                </a:tc>
                <a:tc>
                  <a:txBody>
                    <a:bodyPr wrap="square"/>
                    <a:lstStyle/>
                    <a:p>
                      <a:pPr>
                        <a:spcAft>
                          <a:spcPts val="0"/>
                        </a:spcAft>
                      </a:pPr>
                      <a:r>
                        <a:rPr sz="950" b="0">
                          <a:solidFill>
                            <a:srgbClr val="222B38"/>
                          </a:solidFill>
                          <a:latin typeface="Calibri"/>
                        </a:rPr>
                        <a:t>angry,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human: legal_or_regulatory</a:t>
                      </a:r>
                    </a:p>
                  </a:txBody>
                  <a:tcPr marT="36576" marB="36576">
                    <a:solidFill>
                      <a:srgbClr val="EEF3F8"/>
                    </a:solidFill>
                  </a:tcPr>
                </a:tc>
                <a:tc>
                  <a:txBody>
                    <a:bodyPr wrap="square"/>
                    <a:lstStyle/>
                    <a:p>
                      <a:pPr>
                        <a:spcAft>
                          <a:spcPts val="0"/>
                        </a:spcAft>
                      </a:pPr>
                      <a:r>
                        <a:rPr sz="950" b="0">
                          <a:solidFill>
                            <a:srgbClr val="222B38"/>
                          </a:solidFill>
                          <a:latin typeface="Calibri"/>
                        </a:rPr>
                        <a:t>pauses for approval</a:t>
                      </a:r>
                    </a:p>
                  </a:txBody>
                  <a:tcPr marT="36576" marB="36576">
                    <a:solidFill>
                      <a:srgbClr val="EEF3F8"/>
                    </a:solidFill>
                  </a:tcPr>
                </a:tc>
                <a:tc>
                  <a:txBody>
                    <a:bodyPr wrap="square"/>
                    <a:lstStyle/>
                    <a:p>
                      <a:pPr>
                        <a:spcAft>
                          <a:spcPts val="0"/>
                        </a:spcAft>
                      </a:pPr>
                      <a:r>
                        <a:rPr sz="950" b="0">
                          <a:solidFill>
                            <a:srgbClr val="222B38"/>
                          </a:solidFill>
                          <a:latin typeface="Calibri"/>
                        </a:rPr>
                        <a:t>escalate_now, human</a:t>
                      </a:r>
                    </a:p>
                  </a:txBody>
                  <a:tcPr marT="36576" marB="36576">
                    <a:solidFill>
                      <a:srgbClr val="EEF3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36118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39572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39696"/>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Raw text</a:t>
            </a:r>
          </a:p>
        </p:txBody>
      </p:sp>
      <p:cxnSp>
        <p:nvCxnSpPr>
          <p:cNvPr id="17" name="Connector 16"/>
          <p:cNvCxnSpPr/>
          <p:nvPr/>
        </p:nvCxnSpPr>
        <p:spPr>
          <a:xfrm>
            <a:off x="2697480" y="290779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651760"/>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2 Wrapped</a:t>
            </a:r>
          </a:p>
        </p:txBody>
      </p:sp>
      <p:cxnSp>
        <p:nvCxnSpPr>
          <p:cNvPr id="19" name="Connector 18"/>
          <p:cNvCxnSpPr/>
          <p:nvPr/>
        </p:nvCxnSpPr>
        <p:spPr>
          <a:xfrm>
            <a:off x="4114800" y="34198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163824"/>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3 Request</a:t>
            </a:r>
          </a:p>
        </p:txBody>
      </p:sp>
      <p:cxnSp>
        <p:nvCxnSpPr>
          <p:cNvPr id="21" name="Connector 20"/>
          <p:cNvCxnSpPr/>
          <p:nvPr/>
        </p:nvCxnSpPr>
        <p:spPr>
          <a:xfrm flipH="1">
            <a:off x="4114800" y="393192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675888"/>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Draft JSON</a:t>
            </a:r>
          </a:p>
        </p:txBody>
      </p:sp>
      <p:cxnSp>
        <p:nvCxnSpPr>
          <p:cNvPr id="23" name="Connector 22"/>
          <p:cNvCxnSpPr/>
          <p:nvPr/>
        </p:nvCxnSpPr>
        <p:spPr>
          <a:xfrm flipH="1">
            <a:off x="2697480" y="444398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187952"/>
            <a:ext cx="1362455"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Valid ticket</a:t>
            </a:r>
          </a:p>
        </p:txBody>
      </p:sp>
      <p:sp>
        <p:nvSpPr>
          <p:cNvPr id="25" name="Rounded Rectangle 24"/>
          <p:cNvSpPr/>
          <p:nvPr/>
        </p:nvSpPr>
        <p:spPr>
          <a:xfrm>
            <a:off x="1783080" y="4626864"/>
            <a:ext cx="2743200" cy="40233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4663440"/>
            <a:ext cx="2651760" cy="329184"/>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546811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212080"/>
            <a:ext cx="1362456"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48256"/>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07568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4825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56032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58775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56032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072384"/>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09981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072384"/>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messages + schema SupportTicket   temperature 0   timeout 60 s   2 network retries</a:t>
            </a:r>
          </a:p>
        </p:txBody>
      </p:sp>
      <p:sp>
        <p:nvSpPr>
          <p:cNvPr id="39" name="Rectangle 38"/>
          <p:cNvSpPr/>
          <p:nvPr/>
        </p:nvSpPr>
        <p:spPr>
          <a:xfrm>
            <a:off x="6400800" y="3584448"/>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61188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584448"/>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096512"/>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1239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096512"/>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4608576"/>
            <a:ext cx="5257800" cy="45720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4636008"/>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4608576"/>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120640"/>
            <a:ext cx="5257800" cy="45720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14807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120640"/>
            <a:ext cx="4846320" cy="457200"/>
          </a:xfrm>
          <a:prstGeom prst="rect">
            <a:avLst/>
          </a:prstGeom>
          <a:noFill/>
        </p:spPr>
        <p:txBody>
          <a:bodyPr wrap="square" lIns="45720" rIns="45720">
            <a:spAutoFit/>
          </a:bodyPr>
          <a:lstStyle/>
          <a:p>
            <a:pPr>
              <a:spcAft>
                <a:spcPts val="0"/>
              </a:spcAft>
            </a:pPr>
            <a:r>
              <a:rPr sz="1000" b="0">
                <a:solidFill>
                  <a:srgbClr val="222B38"/>
                </a:solidFill>
                <a:latin typeface="Calibri"/>
              </a:rPr>
              <a:t>signals = [angry_or_abusive, refund_above_auto_cap]   injection = true   missing_fields = []   order_ref = KW-O-000000</a:t>
            </a:r>
          </a:p>
        </p:txBody>
      </p:sp>
      <p:sp>
        <p:nvSpPr>
          <p:cNvPr id="51" name="TextBox 50"/>
          <p:cNvSpPr txBox="1"/>
          <p:nvPr/>
        </p:nvSpPr>
        <p:spPr>
          <a:xfrm>
            <a:off x="548640" y="5632704"/>
            <a:ext cx="11064240" cy="237744"/>
          </a:xfrm>
          <a:prstGeom prst="rect">
            <a:avLst/>
          </a:prstGeom>
          <a:noFill/>
        </p:spPr>
        <p:txBody>
          <a:bodyPr wrap="square" lIns="45720" rIns="45720">
            <a:spAutoFit/>
          </a:bodyPr>
          <a:lstStyle/>
          <a:p>
            <a:pPr>
              <a:spcAft>
                <a:spcPts val="0"/>
              </a:spcAft>
            </a:pPr>
            <a:r>
              <a:rPr sz="1050" b="1">
                <a:solidFill>
                  <a:srgbClr val="0F8B8D"/>
                </a:solidFill>
                <a:latin typeface="Calibri"/>
              </a:rPr>
              <a:t>THE SAME PARSER ON THE OTHER TWO TICKETS</a:t>
            </a:r>
          </a:p>
        </p:txBody>
      </p:sp>
      <p:sp>
        <p:nvSpPr>
          <p:cNvPr id="52" name="Rounded Rectangle 51"/>
          <p:cNvSpPr/>
          <p:nvPr/>
        </p:nvSpPr>
        <p:spPr>
          <a:xfrm>
            <a:off x="54864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48640" y="5888736"/>
            <a:ext cx="73152" cy="4572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7665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 KW-O-000010</a:t>
            </a:r>
          </a:p>
          <a:p>
            <a:pPr>
              <a:spcAft>
                <a:spcPts val="0"/>
              </a:spcAft>
            </a:pPr>
            <a:r>
              <a:rPr sz="950" b="0">
                <a:solidFill>
                  <a:srgbClr val="222B38"/>
                </a:solidFill>
                <a:latin typeface="Calibri"/>
              </a:rPr>
              <a:t>"Hi, where is my order KW-O-000010?"  -&gt;  track_order, calm, no signals, no amount, injection false</a:t>
            </a:r>
          </a:p>
        </p:txBody>
      </p:sp>
      <p:sp>
        <p:nvSpPr>
          <p:cNvPr id="55" name="Rounded Rectangle 54"/>
          <p:cNvSpPr/>
          <p:nvPr/>
        </p:nvSpPr>
        <p:spPr>
          <a:xfrm>
            <a:off x="6172200" y="5888736"/>
            <a:ext cx="5486400" cy="4572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72200" y="5888736"/>
            <a:ext cx="73152" cy="4572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00216" y="5897880"/>
            <a:ext cx="5303520" cy="45720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 KW-O-000950</a:t>
            </a:r>
          </a:p>
          <a:p>
            <a:pPr>
              <a:spcAft>
                <a:spcPts val="0"/>
              </a:spcAft>
            </a:pPr>
            <a:r>
              <a:rPr sz="950" b="0">
                <a:solidFill>
                  <a:srgbClr val="222B38"/>
                </a:solidFill>
                <a:latin typeface="Calibri"/>
              </a:rPr>
              <a:t>Consumer-court threat  -&gt;  angry, urgency high, legal_or_regulatory, no amount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288036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14015"/>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478024"/>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2889503"/>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2953512"/>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666744"/>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410711"/>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14223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3886200"/>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61772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36168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Ticket (KW-O-000000, claim 12999, signals [angry_or_abusive, refund_above_auto_cap], injection = true); KW-C-00317; execute = False</a:t>
            </a:r>
          </a:p>
        </p:txBody>
      </p:sp>
      <p:sp>
        <p:nvSpPr>
          <p:cNvPr id="31" name="Rectangle 30"/>
          <p:cNvSpPr/>
          <p:nvPr/>
        </p:nvSpPr>
        <p:spPr>
          <a:xfrm>
            <a:off x="6263640" y="2359151"/>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377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368296"/>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834639"/>
            <a:ext cx="5394960" cy="429768"/>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852927"/>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843784"/>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310127"/>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328415"/>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319272"/>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3785615"/>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3803904"/>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3794759"/>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261104"/>
            <a:ext cx="5394960" cy="429768"/>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27939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270248"/>
            <a:ext cx="5074920" cy="420624"/>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CASES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1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Case 2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Case 3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
        <p:nvSpPr>
          <p:cNvPr id="59" name="Rounded Rectangle 58"/>
          <p:cNvSpPr/>
          <p:nvPr/>
        </p:nvSpPr>
        <p:spPr>
          <a:xfrm>
            <a:off x="54864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8640" y="4754880"/>
            <a:ext cx="73152" cy="38404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7665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B, plain tracking</a:t>
            </a:r>
          </a:p>
          <a:p>
            <a:pPr>
              <a:spcAft>
                <a:spcPts val="0"/>
              </a:spcAft>
            </a:pPr>
            <a:r>
              <a:rPr sz="950" b="0">
                <a:solidFill>
                  <a:srgbClr val="222B38"/>
                </a:solidFill>
                <a:latin typeface="Calibri"/>
              </a:rPr>
              <a:t>No red flag, nothing to refund. Tool: track_shipment (read-only). Outcome: no human needed.</a:t>
            </a:r>
          </a:p>
        </p:txBody>
      </p:sp>
      <p:sp>
        <p:nvSpPr>
          <p:cNvPr id="62" name="Rounded Rectangle 61"/>
          <p:cNvSpPr/>
          <p:nvPr/>
        </p:nvSpPr>
        <p:spPr>
          <a:xfrm>
            <a:off x="6172200" y="4754880"/>
            <a:ext cx="5486400" cy="384048"/>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172200" y="4754880"/>
            <a:ext cx="73152" cy="384048"/>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300216" y="4754880"/>
            <a:ext cx="5303520" cy="384048"/>
          </a:xfrm>
          <a:prstGeom prst="rect">
            <a:avLst/>
          </a:prstGeom>
          <a:noFill/>
        </p:spPr>
        <p:txBody>
          <a:bodyPr wrap="square" lIns="45720" rIns="45720">
            <a:spAutoFit/>
          </a:bodyPr>
          <a:lstStyle/>
          <a:p>
            <a:pPr>
              <a:spcAft>
                <a:spcPts val="0"/>
              </a:spcAft>
            </a:pPr>
            <a:r>
              <a:rPr sz="950" b="1">
                <a:solidFill>
                  <a:srgbClr val="222B38"/>
                </a:solidFill>
                <a:latin typeface="Calibri"/>
              </a:rPr>
              <a:t>Ticket C, court threat</a:t>
            </a:r>
          </a:p>
          <a:p>
            <a:pPr>
              <a:spcAft>
                <a:spcPts val="0"/>
              </a:spcAft>
            </a:pPr>
            <a:r>
              <a:rPr sz="950" b="0">
                <a:solidFill>
                  <a:srgbClr val="222B38"/>
                </a:solidFill>
                <a:latin typeface="Calibri"/>
              </a:rPr>
              <a:t>Red flag legal_or_regulatory is first on the list. Tool: flag_for_human. Outcome: human_review.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01168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02336">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02336">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02336">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02336">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63640" y="3950208"/>
            <a:ext cx="73152"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91655"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B, KW-C-00194</a:t>
            </a:r>
          </a:p>
          <a:p>
            <a:pPr>
              <a:spcAft>
                <a:spcPts val="0"/>
              </a:spcAft>
            </a:pPr>
            <a:r>
              <a:rPr sz="950" b="0">
                <a:solidFill>
                  <a:srgbClr val="222B38"/>
                </a:solidFill>
                <a:latin typeface="Calibri"/>
              </a:rPr>
              <a:t>First contact: earlier 0, contact 1, no flag.</a:t>
            </a:r>
          </a:p>
        </p:txBody>
      </p:sp>
      <p:sp>
        <p:nvSpPr>
          <p:cNvPr id="55" name="Rounded Rectangle 54"/>
          <p:cNvSpPr/>
          <p:nvPr/>
        </p:nvSpPr>
        <p:spPr>
          <a:xfrm>
            <a:off x="9006840" y="3950208"/>
            <a:ext cx="2651760" cy="5029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840" y="3950208"/>
            <a:ext cx="73152" cy="5029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856" y="3959352"/>
            <a:ext cx="2487168" cy="502920"/>
          </a:xfrm>
          <a:prstGeom prst="rect">
            <a:avLst/>
          </a:prstGeom>
          <a:noFill/>
        </p:spPr>
        <p:txBody>
          <a:bodyPr wrap="square" lIns="45720" rIns="45720">
            <a:spAutoFit/>
          </a:bodyPr>
          <a:lstStyle/>
          <a:p>
            <a:pPr>
              <a:spcAft>
                <a:spcPts val="0"/>
              </a:spcAft>
            </a:pPr>
            <a:r>
              <a:rPr sz="950" b="1">
                <a:solidFill>
                  <a:srgbClr val="222B38"/>
                </a:solidFill>
                <a:latin typeface="Calibri"/>
              </a:rPr>
              <a:t>Ticket C, KW-C-00285</a:t>
            </a:r>
          </a:p>
          <a:p>
            <a:pPr>
              <a:spcAft>
                <a:spcPts val="0"/>
              </a:spcAft>
            </a:pPr>
            <a:r>
              <a:rPr sz="950" b="0">
                <a:solidFill>
                  <a:srgbClr val="222B38"/>
                </a:solidFill>
                <a:latin typeface="Calibri"/>
              </a:rPr>
              <a:t>First contact: earlier 0, contact 1, no flag.</a:t>
            </a:r>
          </a:p>
        </p:txBody>
      </p:sp>
      <p:sp>
        <p:nvSpPr>
          <p:cNvPr id="58" name="Rounded Rectangle 57"/>
          <p:cNvSpPr/>
          <p:nvPr/>
        </p:nvSpPr>
        <p:spPr>
          <a:xfrm>
            <a:off x="6263640" y="4526280"/>
            <a:ext cx="5394960" cy="10058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55080" y="4544568"/>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60" name="TextBox 59"/>
          <p:cNvSpPr txBox="1"/>
          <p:nvPr/>
        </p:nvSpPr>
        <p:spPr>
          <a:xfrm>
            <a:off x="6355080" y="4773168"/>
            <a:ext cx="5212080" cy="73152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61" name="TextBox 60"/>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nothing can be invented. The order's category picks the rulebook. Ticket B (tracking) needs no policy, so M6 skips it; ticket C cites escalation-tone.</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6263640" y="5166360"/>
            <a:ext cx="5394960" cy="64008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55080" y="5193792"/>
            <a:ext cx="5212080" cy="594360"/>
          </a:xfrm>
          <a:prstGeom prst="rect">
            <a:avLst/>
          </a:prstGeom>
          <a:noFill/>
        </p:spPr>
        <p:txBody>
          <a:bodyPr wrap="square" lIns="45720" rIns="45720">
            <a:spAutoFit/>
          </a:bodyPr>
          <a:lstStyle/>
          <a:p>
            <a:pPr>
              <a:spcAft>
                <a:spcPts val="0"/>
              </a:spcAft>
            </a:pPr>
            <a:r>
              <a:rPr sz="1000" b="0">
                <a:solidFill>
                  <a:srgbClr val="222B38"/>
                </a:solidFill>
                <a:latin typeface="Calibri"/>
              </a:rPr>
              <a:t>Tickets B and C: B auto-resolves with no pause (5 checkpoints). C pauses at legal_or_regulatory; ops_manager approves, flag_for_human is filed (6 checkpoints).</a:t>
            </a:r>
          </a:p>
        </p:txBody>
      </p:sp>
      <p:sp>
        <p:nvSpPr>
          <p:cNvPr id="40" name="Rounded Rectangle 39"/>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Ticket A, hostile</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Tickets B and C</a:t>
            </a:r>
          </a:p>
          <a:p>
            <a:pPr>
              <a:spcAft>
                <a:spcPts val="200"/>
              </a:spcAft>
            </a:pPr>
            <a:r>
              <a:rPr sz="1000" b="0">
                <a:solidFill>
                  <a:srgbClr val="222B38"/>
                </a:solidFill>
                <a:latin typeface="Calibri"/>
              </a:rPr>
              <a:t>B, plain tracking: fast_track, policy skipped, track_shipment. C,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30368"/>
            <a:ext cx="4709160" cy="640080"/>
          </a:xfrm>
          <a:prstGeom prst="rect">
            <a:avLst/>
          </a:prstGeom>
          <a:noFill/>
        </p:spPr>
        <p:txBody>
          <a:bodyPr wrap="square" lIns="45720" rIns="45720">
            <a:spAutoFit/>
          </a:bodyPr>
          <a:lstStyle/>
          <a:p>
            <a:pPr>
              <a:spcAft>
                <a:spcPts val="0"/>
              </a:spcAft>
            </a:pPr>
            <a:r>
              <a:rPr sz="1000" b="1">
                <a:solidFill>
                  <a:srgbClr val="222B38"/>
                </a:solidFill>
                <a:latin typeface="Calibri"/>
              </a:rPr>
              <a:t>Revision loop, unit-tested with a forced failure (not seen live): </a:t>
            </a:r>
          </a:p>
          <a:p>
            <a:pPr>
              <a:spcAft>
                <a:spcPts val="0"/>
              </a:spcAft>
            </a:pPr>
            <a:r>
              <a:rPr sz="1000" b="0">
                <a:solidFill>
                  <a:srgbClr val="222B38"/>
                </a:solidFill>
                <a:latin typeface="Calibri"/>
              </a:rPr>
              <a:t>torn-shirt replacement on KW-O-000010 with no policy evidence is sent back for a wider search, then accepted or handed to a human. 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7  |  TRACING AND RELIABILITY, TICKETS A, B, C</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every step is traced, and failures end at a person</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Team</a:t>
            </a:r>
          </a:p>
          <a:p>
            <a:pPr algn="ctr">
              <a:spcAft>
                <a:spcPts val="100"/>
              </a:spcAft>
            </a:pPr>
            <a:r>
              <a:rPr sz="1100" b="0">
                <a:solidFill>
                  <a:srgbClr val="FFFFFF"/>
                </a:solidFill>
                <a:latin typeface="Calibri"/>
              </a:rPr>
              <a:t>LLM + trace</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Gateway</a:t>
            </a:r>
          </a:p>
          <a:p>
            <a:pPr algn="ctr">
              <a:spcAft>
                <a:spcPts val="100"/>
              </a:spcAft>
            </a:pPr>
            <a:r>
              <a:rPr sz="1100" b="0">
                <a:solidFill>
                  <a:srgbClr val="FFFFFF"/>
                </a:solidFill>
                <a:latin typeface="Calibri"/>
              </a:rPr>
              <a:t>retry, breaker</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Python</a:t>
            </a:r>
          </a:p>
          <a:p>
            <a:pPr algn="ctr">
              <a:spcAft>
                <a:spcPts val="100"/>
              </a:spcAft>
            </a:pPr>
            <a:r>
              <a:rPr sz="1100" b="0">
                <a:solidFill>
                  <a:srgbClr val="FFFFFF"/>
                </a:solidFill>
                <a:latin typeface="Calibri"/>
              </a:rPr>
              <a:t>tools</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Human</a:t>
            </a:r>
          </a:p>
          <a:p>
            <a:pPr algn="ctr">
              <a:spcAft>
                <a:spcPts val="100"/>
              </a:spcAft>
            </a:pPr>
            <a:r>
              <a:rPr sz="1100" b="0">
                <a:solidFill>
                  <a:srgbClr val="FFFFFF"/>
                </a:solidFill>
                <a:latin typeface="Calibri"/>
              </a:rPr>
              <a:t>queue</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Langfuse</a:t>
            </a:r>
          </a:p>
          <a:p>
            <a:pPr algn="ctr">
              <a:spcAft>
                <a:spcPts val="100"/>
              </a:spcAft>
            </a:pPr>
            <a:r>
              <a:rPr sz="1100" b="0">
                <a:solidFill>
                  <a:srgbClr val="FFFFFF"/>
                </a:solidFill>
                <a:latin typeface="Calibri"/>
              </a:rPr>
              <a:t>traces</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77240" y="2468879"/>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95528" y="2221991"/>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 track_shipment</a:t>
            </a:r>
          </a:p>
        </p:txBody>
      </p:sp>
      <p:cxnSp>
        <p:nvCxnSpPr>
          <p:cNvPr id="21" name="Connector 20"/>
          <p:cNvCxnSpPr/>
          <p:nvPr/>
        </p:nvCxnSpPr>
        <p:spPr>
          <a:xfrm>
            <a:off x="1874519" y="2926079"/>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892807" y="26791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MCP call</a:t>
            </a:r>
          </a:p>
        </p:txBody>
      </p:sp>
      <p:cxnSp>
        <p:nvCxnSpPr>
          <p:cNvPr id="23" name="Connector 22"/>
          <p:cNvCxnSpPr/>
          <p:nvPr/>
        </p:nvCxnSpPr>
        <p:spPr>
          <a:xfrm>
            <a:off x="1874519" y="3383279"/>
            <a:ext cx="2194561"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892807" y="3136391"/>
            <a:ext cx="215798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3 MCP down: run here</a:t>
            </a:r>
          </a:p>
        </p:txBody>
      </p:sp>
      <p:sp>
        <p:nvSpPr>
          <p:cNvPr id="25" name="Rounded Rectangle 24"/>
          <p:cNvSpPr/>
          <p:nvPr/>
        </p:nvSpPr>
        <p:spPr>
          <a:xfrm>
            <a:off x="1325880" y="3520439"/>
            <a:ext cx="3108960" cy="310896"/>
          </a:xfrm>
          <a:prstGeom prst="roundRect">
            <a:avLst>
              <a:gd name="adj" fmla="val 8000"/>
            </a:avLst>
          </a:prstGeom>
          <a:solidFill>
            <a:srgbClr val="FDF0D7"/>
          </a:solidFill>
          <a:ln w="15875">
            <a:solidFill>
              <a:srgbClr val="E09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547872"/>
            <a:ext cx="30540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Result says failover: python</a:t>
            </a:r>
          </a:p>
        </p:txBody>
      </p:sp>
      <p:cxnSp>
        <p:nvCxnSpPr>
          <p:cNvPr id="27" name="Connector 26"/>
          <p:cNvCxnSpPr/>
          <p:nvPr/>
        </p:nvCxnSpPr>
        <p:spPr>
          <a:xfrm>
            <a:off x="1874519" y="4297680"/>
            <a:ext cx="3291841"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892807" y="4050791"/>
            <a:ext cx="325526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Still failing or breaker open</a:t>
            </a:r>
          </a:p>
        </p:txBody>
      </p:sp>
      <p:cxnSp>
        <p:nvCxnSpPr>
          <p:cNvPr id="29" name="Connector 28"/>
          <p:cNvCxnSpPr/>
          <p:nvPr/>
        </p:nvCxnSpPr>
        <p:spPr>
          <a:xfrm>
            <a:off x="777240" y="4754880"/>
            <a:ext cx="5486400" cy="0"/>
          </a:xfrm>
          <a:prstGeom prst="line">
            <a:avLst/>
          </a:prstGeom>
          <a:ln w="25400">
            <a:solidFill>
              <a:srgbClr val="0F8B8D"/>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95528" y="4507992"/>
            <a:ext cx="544982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6 Spans, tokens, cost (batched)</a:t>
            </a:r>
          </a:p>
        </p:txBody>
      </p:sp>
      <p:sp>
        <p:nvSpPr>
          <p:cNvPr id="31" name="Rounded Rectangle 30"/>
          <p:cNvSpPr/>
          <p:nvPr/>
        </p:nvSpPr>
        <p:spPr>
          <a:xfrm>
            <a:off x="274320" y="4892040"/>
            <a:ext cx="3566160" cy="310896"/>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1751" y="4919472"/>
            <a:ext cx="351129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7 LLM down: /chat queues the case</a:t>
            </a:r>
          </a:p>
        </p:txBody>
      </p:sp>
      <p:sp>
        <p:nvSpPr>
          <p:cNvPr id="33" name="TextBox 32"/>
          <p:cNvSpPr txBox="1"/>
          <p:nvPr/>
        </p:nvSpPr>
        <p:spPr>
          <a:xfrm>
            <a:off x="6949440" y="1325880"/>
            <a:ext cx="4709160" cy="274320"/>
          </a:xfrm>
          <a:prstGeom prst="rect">
            <a:avLst/>
          </a:prstGeom>
          <a:noFill/>
        </p:spPr>
        <p:txBody>
          <a:bodyPr wrap="square" lIns="45720" rIns="45720">
            <a:spAutoFit/>
          </a:bodyPr>
          <a:lstStyle/>
          <a:p>
            <a:pPr>
              <a:spcAft>
                <a:spcPts val="600"/>
              </a:spcAft>
            </a:pPr>
            <a:r>
              <a:rPr sz="1050" b="1">
                <a:solidFill>
                  <a:srgbClr val="0F8B8D"/>
                </a:solidFill>
                <a:latin typeface="Calibri"/>
              </a:rPr>
              <a:t>TICKETS A, B, C IN LANGFUSE (LIVE, MCP; CLICK AN ID)</a:t>
            </a:r>
          </a:p>
        </p:txBody>
      </p:sp>
      <p:graphicFrame>
        <p:nvGraphicFramePr>
          <p:cNvPr id="34" name="Table 33"/>
          <p:cNvGraphicFramePr>
            <a:graphicFrameLocks noGrp="1"/>
          </p:cNvGraphicFramePr>
          <p:nvPr/>
        </p:nvGraphicFramePr>
        <p:xfrm>
          <a:off x="6949440" y="1581912"/>
          <a:ext cx="4709160" cy="987552"/>
        </p:xfrm>
        <a:graphic>
          <a:graphicData uri="http://schemas.openxmlformats.org/drawingml/2006/table">
            <a:tbl>
              <a:tblPr firstRow="1" bandRow="1">
                <a:tableStyleId>{5C22544A-7EE6-4342-B048-85BDC9FD1C3A}</a:tableStyleId>
              </a:tblPr>
              <a:tblGrid>
                <a:gridCol w="1051560"/>
                <a:gridCol w="960120"/>
                <a:gridCol w="457200"/>
                <a:gridCol w="914400"/>
                <a:gridCol w="685800"/>
                <a:gridCol w="640080"/>
              </a:tblGrid>
              <a:tr h="246888">
                <a:tc>
                  <a:txBody>
                    <a:bodyPr wrap="square"/>
                    <a:lstStyle/>
                    <a:p>
                      <a:pPr>
                        <a:spcAft>
                          <a:spcPts val="0"/>
                        </a:spcAft>
                      </a:pPr>
                      <a:r>
                        <a:rPr sz="900" b="1">
                          <a:solidFill>
                            <a:srgbClr val="FFFFFF"/>
                          </a:solidFill>
                          <a:latin typeface="Calibri"/>
                        </a:rPr>
                        <a:t>Ticket / trace</a:t>
                      </a:r>
                    </a:p>
                  </a:txBody>
                  <a:tcPr marT="36576" marB="36576">
                    <a:solidFill>
                      <a:srgbClr val="142B4D"/>
                    </a:solidFill>
                  </a:tcPr>
                </a:tc>
                <a:tc>
                  <a:txBody>
                    <a:bodyPr wrap="square"/>
                    <a:lstStyle/>
                    <a:p>
                      <a:pPr>
                        <a:spcAft>
                          <a:spcPts val="0"/>
                        </a:spcAft>
                      </a:pPr>
                      <a:r>
                        <a:rPr sz="900" b="1">
                          <a:solidFill>
                            <a:srgbClr val="FFFFFF"/>
                          </a:solidFill>
                          <a:latin typeface="Calibri"/>
                        </a:rPr>
                        <a:t>Route</a:t>
                      </a:r>
                    </a:p>
                  </a:txBody>
                  <a:tcPr marT="36576" marB="36576">
                    <a:solidFill>
                      <a:srgbClr val="142B4D"/>
                    </a:solidFill>
                  </a:tcPr>
                </a:tc>
                <a:tc>
                  <a:txBody>
                    <a:bodyPr wrap="square"/>
                    <a:lstStyle/>
                    <a:p>
                      <a:pPr>
                        <a:spcAft>
                          <a:spcPts val="0"/>
                        </a:spcAft>
                      </a:pPr>
                      <a:r>
                        <a:rPr sz="900" b="1">
                          <a:solidFill>
                            <a:srgbClr val="FFFFFF"/>
                          </a:solidFill>
                          <a:latin typeface="Calibri"/>
                        </a:rPr>
                        <a:t>Spans</a:t>
                      </a:r>
                    </a:p>
                  </a:txBody>
                  <a:tcPr marT="36576" marB="36576">
                    <a:solidFill>
                      <a:srgbClr val="142B4D"/>
                    </a:solidFill>
                  </a:tcPr>
                </a:tc>
                <a:tc>
                  <a:txBody>
                    <a:bodyPr wrap="square"/>
                    <a:lstStyle/>
                    <a:p>
                      <a:pPr>
                        <a:spcAft>
                          <a:spcPts val="0"/>
                        </a:spcAft>
                      </a:pPr>
                      <a:r>
                        <a:rPr sz="900" b="1">
                          <a:solidFill>
                            <a:srgbClr val="FFFFFF"/>
                          </a:solidFill>
                          <a:latin typeface="Calibri"/>
                        </a:rPr>
                        <a:t>Tokens in/out</a:t>
                      </a:r>
                    </a:p>
                  </a:txBody>
                  <a:tcPr marT="36576" marB="36576">
                    <a:solidFill>
                      <a:srgbClr val="142B4D"/>
                    </a:solidFill>
                  </a:tcPr>
                </a:tc>
                <a:tc>
                  <a:txBody>
                    <a:bodyPr wrap="square"/>
                    <a:lstStyle/>
                    <a:p>
                      <a:pPr>
                        <a:spcAft>
                          <a:spcPts val="0"/>
                        </a:spcAft>
                      </a:pPr>
                      <a:r>
                        <a:rPr sz="900" b="1">
                          <a:solidFill>
                            <a:srgbClr val="FFFFFF"/>
                          </a:solidFill>
                          <a:latin typeface="Calibri"/>
                        </a:rPr>
                        <a:t>Cost</a:t>
                      </a:r>
                    </a:p>
                  </a:txBody>
                  <a:tcPr marT="36576" marB="36576">
                    <a:solidFill>
                      <a:srgbClr val="142B4D"/>
                    </a:solidFill>
                  </a:tcPr>
                </a:tc>
                <a:tc>
                  <a:txBody>
                    <a:bodyPr wrap="square"/>
                    <a:lstStyle/>
                    <a:p>
                      <a:pPr>
                        <a:spcAft>
                          <a:spcPts val="0"/>
                        </a:spcAft>
                      </a:pPr>
                      <a:r>
                        <a:rPr sz="900" b="1">
                          <a:solidFill>
                            <a:srgbClr val="FFFFFF"/>
                          </a:solidFill>
                          <a:latin typeface="Calibri"/>
                        </a:rPr>
                        <a:t>Time</a:t>
                      </a:r>
                    </a:p>
                  </a:txBody>
                  <a:tcPr marT="36576" marB="36576">
                    <a:solidFill>
                      <a:srgbClr val="142B4D"/>
                    </a:solidFill>
                  </a:tcPr>
                </a:tc>
              </a:tr>
              <a:tr h="246888">
                <a:tc>
                  <a:txBody>
                    <a:bodyPr wrap="square"/>
                    <a:lstStyle/>
                    <a:p>
                      <a:pPr>
                        <a:spcAft>
                          <a:spcPts val="0"/>
                        </a:spcAft>
                      </a:pPr>
                      <a:r>
                        <a:rPr sz="900" b="0">
                          <a:solidFill>
                            <a:srgbClr val="222B38"/>
                          </a:solidFill>
                          <a:latin typeface="Calibri"/>
                          <a:hlinkClick r:id="rId3"/>
                        </a:rPr>
                        <a:t>A  62f3393f</a:t>
                      </a:r>
                    </a:p>
                  </a:txBody>
                  <a:tcPr marT="36576" marB="36576">
                    <a:solidFill>
                      <a:srgbClr val="EEF3F8"/>
                    </a:solidFill>
                  </a:tcPr>
                </a:tc>
                <a:tc>
                  <a:txBody>
                    <a:bodyPr wrap="square"/>
                    <a:lstStyle/>
                    <a:p>
                      <a:pPr>
                        <a:spcAft>
                          <a:spcPts val="0"/>
                        </a:spcAft>
                      </a:pPr>
                      <a:r>
                        <a:rPr sz="900" b="0">
                          <a:solidFill>
                            <a:srgbClr val="222B38"/>
                          </a:solidFill>
                          <a:latin typeface="Calibri"/>
                        </a:rPr>
                        <a:t>full, human</a:t>
                      </a:r>
                    </a:p>
                  </a:txBody>
                  <a:tcPr marT="36576" marB="36576">
                    <a:solidFill>
                      <a:srgbClr val="EEF3F8"/>
                    </a:solidFill>
                  </a:tcPr>
                </a:tc>
                <a:tc>
                  <a:txBody>
                    <a:bodyPr wrap="square"/>
                    <a:lstStyle/>
                    <a:p>
                      <a:pPr>
                        <a:spcAft>
                          <a:spcPts val="0"/>
                        </a:spcAft>
                      </a:pPr>
                      <a:r>
                        <a:rPr sz="900" b="0">
                          <a:solidFill>
                            <a:srgbClr val="222B38"/>
                          </a:solidFill>
                          <a:latin typeface="Calibri"/>
                        </a:rPr>
                        <a:t>9</a:t>
                      </a:r>
                    </a:p>
                  </a:txBody>
                  <a:tcPr marT="36576" marB="36576">
                    <a:solidFill>
                      <a:srgbClr val="EEF3F8"/>
                    </a:solidFill>
                  </a:tcPr>
                </a:tc>
                <a:tc>
                  <a:txBody>
                    <a:bodyPr wrap="square"/>
                    <a:lstStyle/>
                    <a:p>
                      <a:pPr>
                        <a:spcAft>
                          <a:spcPts val="0"/>
                        </a:spcAft>
                      </a:pPr>
                      <a:r>
                        <a:rPr sz="900" b="0">
                          <a:solidFill>
                            <a:srgbClr val="222B38"/>
                          </a:solidFill>
                          <a:latin typeface="Calibri"/>
                        </a:rPr>
                        <a:t>1079 / 193</a:t>
                      </a:r>
                    </a:p>
                  </a:txBody>
                  <a:tcPr marT="36576" marB="36576">
                    <a:solidFill>
                      <a:srgbClr val="EEF3F8"/>
                    </a:solidFill>
                  </a:tcPr>
                </a:tc>
                <a:tc>
                  <a:txBody>
                    <a:bodyPr wrap="square"/>
                    <a:lstStyle/>
                    <a:p>
                      <a:pPr>
                        <a:spcAft>
                          <a:spcPts val="0"/>
                        </a:spcAft>
                      </a:pPr>
                      <a:r>
                        <a:rPr sz="900" b="0">
                          <a:solidFill>
                            <a:srgbClr val="222B38"/>
                          </a:solidFill>
                          <a:latin typeface="Calibri"/>
                        </a:rPr>
                        <a:t>$0.00081</a:t>
                      </a:r>
                    </a:p>
                  </a:txBody>
                  <a:tcPr marT="36576" marB="36576">
                    <a:solidFill>
                      <a:srgbClr val="EEF3F8"/>
                    </a:solidFill>
                  </a:tcPr>
                </a:tc>
                <a:tc>
                  <a:txBody>
                    <a:bodyPr wrap="square"/>
                    <a:lstStyle/>
                    <a:p>
                      <a:pPr>
                        <a:spcAft>
                          <a:spcPts val="0"/>
                        </a:spcAft>
                      </a:pPr>
                      <a:r>
                        <a:rPr sz="900" b="0">
                          <a:solidFill>
                            <a:srgbClr val="222B38"/>
                          </a:solidFill>
                          <a:latin typeface="Calibri"/>
                        </a:rPr>
                        <a:t>7.6 s</a:t>
                      </a:r>
                    </a:p>
                  </a:txBody>
                  <a:tcPr marT="36576" marB="36576">
                    <a:solidFill>
                      <a:srgbClr val="EEF3F8"/>
                    </a:solidFill>
                  </a:tcPr>
                </a:tc>
              </a:tr>
              <a:tr h="246888">
                <a:tc>
                  <a:txBody>
                    <a:bodyPr wrap="square"/>
                    <a:lstStyle/>
                    <a:p>
                      <a:pPr>
                        <a:spcAft>
                          <a:spcPts val="0"/>
                        </a:spcAft>
                      </a:pPr>
                      <a:r>
                        <a:rPr sz="900" b="0">
                          <a:solidFill>
                            <a:srgbClr val="222B38"/>
                          </a:solidFill>
                          <a:latin typeface="Calibri"/>
                          <a:hlinkClick r:id="rId4"/>
                        </a:rPr>
                        <a:t>B  697de7ea</a:t>
                      </a:r>
                    </a:p>
                  </a:txBody>
                  <a:tcPr marT="36576" marB="36576">
                    <a:solidFill>
                      <a:srgbClr val="FFFFFF"/>
                    </a:solidFill>
                  </a:tcPr>
                </a:tc>
                <a:tc>
                  <a:txBody>
                    <a:bodyPr wrap="square"/>
                    <a:lstStyle/>
                    <a:p>
                      <a:pPr>
                        <a:spcAft>
                          <a:spcPts val="0"/>
                        </a:spcAft>
                      </a:pPr>
                      <a:r>
                        <a:rPr sz="900" b="0">
                          <a:solidFill>
                            <a:srgbClr val="222B38"/>
                          </a:solidFill>
                          <a:latin typeface="Calibri"/>
                        </a:rPr>
                        <a:t>fast_track</a:t>
                      </a:r>
                    </a:p>
                  </a:txBody>
                  <a:tcPr marT="36576" marB="36576">
                    <a:solidFill>
                      <a:srgbClr val="FFFFFF"/>
                    </a:solidFill>
                  </a:tcPr>
                </a:tc>
                <a:tc>
                  <a:txBody>
                    <a:bodyPr wrap="square"/>
                    <a:lstStyle/>
                    <a:p>
                      <a:pPr>
                        <a:spcAft>
                          <a:spcPts val="0"/>
                        </a:spcAft>
                      </a:pPr>
                      <a:r>
                        <a:rPr sz="900" b="0">
                          <a:solidFill>
                            <a:srgbClr val="222B38"/>
                          </a:solidFill>
                          <a:latin typeface="Calibri"/>
                        </a:rPr>
                        <a:t>7</a:t>
                      </a:r>
                    </a:p>
                  </a:txBody>
                  <a:tcPr marT="36576" marB="36576">
                    <a:solidFill>
                      <a:srgbClr val="FFFFFF"/>
                    </a:solidFill>
                  </a:tcPr>
                </a:tc>
                <a:tc>
                  <a:txBody>
                    <a:bodyPr wrap="square"/>
                    <a:lstStyle/>
                    <a:p>
                      <a:pPr>
                        <a:spcAft>
                          <a:spcPts val="0"/>
                        </a:spcAft>
                      </a:pPr>
                      <a:r>
                        <a:rPr sz="900" b="0">
                          <a:solidFill>
                            <a:srgbClr val="222B38"/>
                          </a:solidFill>
                          <a:latin typeface="Calibri"/>
                        </a:rPr>
                        <a:t>1029 / 177</a:t>
                      </a:r>
                    </a:p>
                  </a:txBody>
                  <a:tcPr marT="36576" marB="36576">
                    <a:solidFill>
                      <a:srgbClr val="FFFFFF"/>
                    </a:solidFill>
                  </a:tcPr>
                </a:tc>
                <a:tc>
                  <a:txBody>
                    <a:bodyPr wrap="square"/>
                    <a:lstStyle/>
                    <a:p>
                      <a:pPr>
                        <a:spcAft>
                          <a:spcPts val="0"/>
                        </a:spcAft>
                      </a:pPr>
                      <a:r>
                        <a:rPr sz="900" b="0">
                          <a:solidFill>
                            <a:srgbClr val="222B38"/>
                          </a:solidFill>
                          <a:latin typeface="Calibri"/>
                        </a:rPr>
                        <a:t>$0.00075</a:t>
                      </a:r>
                    </a:p>
                  </a:txBody>
                  <a:tcPr marT="36576" marB="36576">
                    <a:solidFill>
                      <a:srgbClr val="FFFFFF"/>
                    </a:solidFill>
                  </a:tcPr>
                </a:tc>
                <a:tc>
                  <a:txBody>
                    <a:bodyPr wrap="square"/>
                    <a:lstStyle/>
                    <a:p>
                      <a:pPr>
                        <a:spcAft>
                          <a:spcPts val="0"/>
                        </a:spcAft>
                      </a:pPr>
                      <a:r>
                        <a:rPr sz="900" b="0">
                          <a:solidFill>
                            <a:srgbClr val="222B38"/>
                          </a:solidFill>
                          <a:latin typeface="Calibri"/>
                        </a:rPr>
                        <a:t>4.1 s</a:t>
                      </a:r>
                    </a:p>
                  </a:txBody>
                  <a:tcPr marT="36576" marB="36576">
                    <a:solidFill>
                      <a:srgbClr val="FFFFFF"/>
                    </a:solidFill>
                  </a:tcPr>
                </a:tc>
              </a:tr>
              <a:tr h="246888">
                <a:tc>
                  <a:txBody>
                    <a:bodyPr wrap="square"/>
                    <a:lstStyle/>
                    <a:p>
                      <a:pPr>
                        <a:spcAft>
                          <a:spcPts val="0"/>
                        </a:spcAft>
                      </a:pPr>
                      <a:r>
                        <a:rPr sz="900" b="0">
                          <a:solidFill>
                            <a:srgbClr val="222B38"/>
                          </a:solidFill>
                          <a:latin typeface="Calibri"/>
                          <a:hlinkClick r:id="rId5"/>
                        </a:rPr>
                        <a:t>C  72b4b6c3</a:t>
                      </a:r>
                    </a:p>
                  </a:txBody>
                  <a:tcPr marT="36576" marB="36576">
                    <a:solidFill>
                      <a:srgbClr val="EEF3F8"/>
                    </a:solidFill>
                  </a:tcPr>
                </a:tc>
                <a:tc>
                  <a:txBody>
                    <a:bodyPr wrap="square"/>
                    <a:lstStyle/>
                    <a:p>
                      <a:pPr>
                        <a:spcAft>
                          <a:spcPts val="0"/>
                        </a:spcAft>
                      </a:pPr>
                      <a:r>
                        <a:rPr sz="900" b="0">
                          <a:solidFill>
                            <a:srgbClr val="222B38"/>
                          </a:solidFill>
                          <a:latin typeface="Calibri"/>
                        </a:rPr>
                        <a:t>escalate_now</a:t>
                      </a:r>
                    </a:p>
                  </a:txBody>
                  <a:tcPr marT="36576" marB="36576">
                    <a:solidFill>
                      <a:srgbClr val="EEF3F8"/>
                    </a:solidFill>
                  </a:tcPr>
                </a:tc>
                <a:tc>
                  <a:txBody>
                    <a:bodyPr wrap="square"/>
                    <a:lstStyle/>
                    <a:p>
                      <a:pPr>
                        <a:spcAft>
                          <a:spcPts val="0"/>
                        </a:spcAft>
                      </a:pPr>
                      <a:r>
                        <a:rPr sz="900" b="0">
                          <a:solidFill>
                            <a:srgbClr val="222B38"/>
                          </a:solidFill>
                          <a:latin typeface="Calibri"/>
                        </a:rPr>
                        <a:t>7</a:t>
                      </a:r>
                    </a:p>
                  </a:txBody>
                  <a:tcPr marT="36576" marB="36576">
                    <a:solidFill>
                      <a:srgbClr val="EEF3F8"/>
                    </a:solidFill>
                  </a:tcPr>
                </a:tc>
                <a:tc>
                  <a:txBody>
                    <a:bodyPr wrap="square"/>
                    <a:lstStyle/>
                    <a:p>
                      <a:pPr>
                        <a:spcAft>
                          <a:spcPts val="0"/>
                        </a:spcAft>
                      </a:pPr>
                      <a:r>
                        <a:rPr sz="900" b="0">
                          <a:solidFill>
                            <a:srgbClr val="222B38"/>
                          </a:solidFill>
                          <a:latin typeface="Calibri"/>
                        </a:rPr>
                        <a:t>1045 / 145</a:t>
                      </a:r>
                    </a:p>
                  </a:txBody>
                  <a:tcPr marT="36576" marB="36576">
                    <a:solidFill>
                      <a:srgbClr val="EEF3F8"/>
                    </a:solidFill>
                  </a:tcPr>
                </a:tc>
                <a:tc>
                  <a:txBody>
                    <a:bodyPr wrap="square"/>
                    <a:lstStyle/>
                    <a:p>
                      <a:pPr>
                        <a:spcAft>
                          <a:spcPts val="0"/>
                        </a:spcAft>
                      </a:pPr>
                      <a:r>
                        <a:rPr sz="900" b="0">
                          <a:solidFill>
                            <a:srgbClr val="222B38"/>
                          </a:solidFill>
                          <a:latin typeface="Calibri"/>
                        </a:rPr>
                        <a:t>$0.00068</a:t>
                      </a:r>
                    </a:p>
                  </a:txBody>
                  <a:tcPr marT="36576" marB="36576">
                    <a:solidFill>
                      <a:srgbClr val="EEF3F8"/>
                    </a:solidFill>
                  </a:tcPr>
                </a:tc>
                <a:tc>
                  <a:txBody>
                    <a:bodyPr wrap="square"/>
                    <a:lstStyle/>
                    <a:p>
                      <a:pPr>
                        <a:spcAft>
                          <a:spcPts val="0"/>
                        </a:spcAft>
                      </a:pPr>
                      <a:r>
                        <a:rPr sz="900" b="0">
                          <a:solidFill>
                            <a:srgbClr val="222B38"/>
                          </a:solidFill>
                          <a:latin typeface="Calibri"/>
                        </a:rPr>
                        <a:t>4.4 s</a:t>
                      </a:r>
                    </a:p>
                  </a:txBody>
                  <a:tcPr marT="36576" marB="36576">
                    <a:solidFill>
                      <a:srgbClr val="EEF3F8"/>
                    </a:solidFill>
                  </a:tcPr>
                </a:tc>
              </a:tr>
            </a:tbl>
          </a:graphicData>
        </a:graphic>
      </p:graphicFrame>
      <p:sp>
        <p:nvSpPr>
          <p:cNvPr id="35" name="Rounded Rectangle 34"/>
          <p:cNvSpPr/>
          <p:nvPr/>
        </p:nvSpPr>
        <p:spPr>
          <a:xfrm>
            <a:off x="6949440" y="2651760"/>
            <a:ext cx="4709160" cy="96012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40880" y="2670048"/>
            <a:ext cx="4526280" cy="914400"/>
          </a:xfrm>
          <a:prstGeom prst="rect">
            <a:avLst/>
          </a:prstGeom>
          <a:noFill/>
        </p:spPr>
        <p:txBody>
          <a:bodyPr wrap="square" lIns="45720" rIns="45720">
            <a:spAutoFit/>
          </a:bodyPr>
          <a:lstStyle/>
          <a:p>
            <a:pPr>
              <a:spcAft>
                <a:spcPts val="100"/>
              </a:spcAft>
            </a:pPr>
            <a:r>
              <a:rPr sz="950" b="1">
                <a:solidFill>
                  <a:srgbClr val="2E7D32"/>
                </a:solidFill>
                <a:latin typeface="Calibri"/>
              </a:rPr>
              <a:t>Failure checks</a:t>
            </a:r>
          </a:p>
          <a:p>
            <a:pPr>
              <a:spcAft>
                <a:spcPts val="100"/>
              </a:spcAft>
            </a:pPr>
            <a:r>
              <a:rPr sz="950" b="0">
                <a:solidFill>
                  <a:srgbClr val="222B38"/>
                </a:solidFill>
                <a:latin typeface="Calibri"/>
              </a:rPr>
              <a:t>MCP unreachable: ticket B still resolved, the result says failover. LLM unavailable: /chat answered 200 and queued the case (KW-HQ-00003).</a:t>
            </a:r>
          </a:p>
          <a:p>
            <a:pPr>
              <a:spcAft>
                <a:spcPts val="100"/>
              </a:spcAft>
            </a:pPr>
            <a:r>
              <a:rPr sz="950" b="0">
                <a:solidFill>
                  <a:srgbClr val="222B38"/>
                </a:solidFill>
                <a:latin typeface="Calibri"/>
              </a:rPr>
              <a:t>A and C already end at a person, so an outage changes nothing for them.</a:t>
            </a:r>
          </a:p>
        </p:txBody>
      </p:sp>
      <p:sp>
        <p:nvSpPr>
          <p:cNvPr id="37" name="TextBox 36"/>
          <p:cNvSpPr txBox="1"/>
          <p:nvPr/>
        </p:nvSpPr>
        <p:spPr>
          <a:xfrm>
            <a:off x="6949440" y="3675887"/>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M7 GUARANTEES</a:t>
            </a:r>
          </a:p>
        </p:txBody>
      </p:sp>
      <p:graphicFrame>
        <p:nvGraphicFramePr>
          <p:cNvPr id="38" name="Table 37"/>
          <p:cNvGraphicFramePr>
            <a:graphicFrameLocks noGrp="1"/>
          </p:cNvGraphicFramePr>
          <p:nvPr/>
        </p:nvGraphicFramePr>
        <p:xfrm>
          <a:off x="6949440" y="3913632"/>
          <a:ext cx="4709160" cy="1481328"/>
        </p:xfrm>
        <a:graphic>
          <a:graphicData uri="http://schemas.openxmlformats.org/drawingml/2006/table">
            <a:tbl>
              <a:tblPr firstRow="1" bandRow="1">
                <a:tableStyleId>{5C22544A-7EE6-4342-B048-85BDC9FD1C3A}</a:tableStyleId>
              </a:tblPr>
              <a:tblGrid>
                <a:gridCol w="2011680"/>
                <a:gridCol w="2697480"/>
              </a:tblGrid>
              <a:tr h="246888">
                <a:tc>
                  <a:txBody>
                    <a:bodyPr wrap="square"/>
                    <a:lstStyle/>
                    <a:p>
                      <a:pPr>
                        <a:spcAft>
                          <a:spcPts val="0"/>
                        </a:spcAft>
                      </a:pPr>
                      <a:r>
                        <a:rPr sz="950" b="1">
                          <a:solidFill>
                            <a:srgbClr val="FFFFFF"/>
                          </a:solidFill>
                          <a:latin typeface="Calibri"/>
                        </a:rPr>
                        <a:t>Guarantee</a:t>
                      </a:r>
                    </a:p>
                  </a:txBody>
                  <a:tcPr marT="36576" marB="36576">
                    <a:solidFill>
                      <a:srgbClr val="142B4D"/>
                    </a:solidFill>
                  </a:tcPr>
                </a:tc>
                <a:tc>
                  <a:txBody>
                    <a:bodyPr wrap="square"/>
                    <a:lstStyle/>
                    <a:p>
                      <a:pPr>
                        <a:spcAft>
                          <a:spcPts val="0"/>
                        </a:spcAft>
                      </a:pPr>
                      <a:r>
                        <a:rPr sz="950" b="1">
                          <a:solidFill>
                            <a:srgbClr val="FFFFFF"/>
                          </a:solidFill>
                          <a:latin typeface="Calibri"/>
                        </a:rPr>
                        <a:t>How</a:t>
                      </a:r>
                    </a:p>
                  </a:txBody>
                  <a:tcPr marT="36576" marB="36576">
                    <a:solidFill>
                      <a:srgbClr val="142B4D"/>
                    </a:solidFill>
                  </a:tcPr>
                </a:tc>
              </a:tr>
              <a:tr h="246888">
                <a:tc>
                  <a:txBody>
                    <a:bodyPr wrap="square"/>
                    <a:lstStyle/>
                    <a:p>
                      <a:pPr>
                        <a:spcAft>
                          <a:spcPts val="0"/>
                        </a:spcAft>
                      </a:pPr>
                      <a:r>
                        <a:rPr sz="950" b="0">
                          <a:solidFill>
                            <a:srgbClr val="222B38"/>
                          </a:solidFill>
                          <a:latin typeface="Calibri"/>
                        </a:rPr>
                        <a:t>Retries only for transient errors</a:t>
                      </a:r>
                    </a:p>
                  </a:txBody>
                  <a:tcPr marT="36576" marB="36576">
                    <a:solidFill>
                      <a:srgbClr val="EEF3F8"/>
                    </a:solidFill>
                  </a:tcPr>
                </a:tc>
                <a:tc>
                  <a:txBody>
                    <a:bodyPr wrap="square"/>
                    <a:lstStyle/>
                    <a:p>
                      <a:pPr>
                        <a:spcAft>
                          <a:spcPts val="0"/>
                        </a:spcAft>
                      </a:pPr>
                      <a:r>
                        <a:rPr sz="950" b="0">
                          <a:solidFill>
                            <a:srgbClr val="222B38"/>
                          </a:solidFill>
                          <a:latin typeface="Calibri"/>
                        </a:rPr>
                        <a:t>backoff; malformed goes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Breaker</a:t>
                      </a:r>
                    </a:p>
                  </a:txBody>
                  <a:tcPr marT="36576" marB="36576">
                    <a:solidFill>
                      <a:srgbClr val="FFFFFF"/>
                    </a:solidFill>
                  </a:tcPr>
                </a:tc>
                <a:tc>
                  <a:txBody>
                    <a:bodyPr wrap="square"/>
                    <a:lstStyle/>
                    <a:p>
                      <a:pPr>
                        <a:spcAft>
                          <a:spcPts val="0"/>
                        </a:spcAft>
                      </a:pPr>
                      <a:r>
                        <a:rPr sz="950" b="0">
                          <a:solidFill>
                            <a:srgbClr val="222B38"/>
                          </a:solidFill>
                          <a:latin typeface="Calibri"/>
                        </a:rPr>
                        <a:t>half-open: one trial call</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200 seeded calls</a:t>
                      </a:r>
                    </a:p>
                  </a:txBody>
                  <a:tcPr marT="36576" marB="36576">
                    <a:solidFill>
                      <a:srgbClr val="EEF3F8"/>
                    </a:solidFill>
                  </a:tcPr>
                </a:tc>
                <a:tc>
                  <a:txBody>
                    <a:bodyPr wrap="square"/>
                    <a:lstStyle/>
                    <a:p>
                      <a:pPr>
                        <a:spcAft>
                          <a:spcPts val="0"/>
                        </a:spcAft>
                      </a:pPr>
                      <a:r>
                        <a:rPr sz="950" b="0">
                          <a:solidFill>
                            <a:srgbClr val="222B38"/>
                          </a:solidFill>
                          <a:latin typeface="Calibri"/>
                        </a:rPr>
                        <a:t>57% clean, then 179 + 21 to a human</a:t>
                      </a:r>
                    </a:p>
                  </a:txBody>
                  <a:tcPr marT="36576" marB="36576">
                    <a:solidFill>
                      <a:srgbClr val="EEF3F8"/>
                    </a:solidFill>
                  </a:tcPr>
                </a:tc>
              </a:tr>
              <a:tr h="246888">
                <a:tc>
                  <a:txBody>
                    <a:bodyPr wrap="square"/>
                    <a:lstStyle/>
                    <a:p>
                      <a:pPr>
                        <a:spcAft>
                          <a:spcPts val="0"/>
                        </a:spcAft>
                      </a:pPr>
                      <a:r>
                        <a:rPr sz="950" b="0">
                          <a:solidFill>
                            <a:srgbClr val="222B38"/>
                          </a:solidFill>
                          <a:latin typeface="Calibri"/>
                        </a:rPr>
                        <a:t>Dead tool</a:t>
                      </a:r>
                    </a:p>
                  </a:txBody>
                  <a:tcPr marT="36576" marB="36576">
                    <a:solidFill>
                      <a:srgbClr val="FFFFFF"/>
                    </a:solidFill>
                  </a:tcPr>
                </a:tc>
                <a:tc>
                  <a:txBody>
                    <a:bodyPr wrap="square"/>
                    <a:lstStyle/>
                    <a:p>
                      <a:pPr>
                        <a:spcAft>
                          <a:spcPts val="0"/>
                        </a:spcAft>
                      </a:pPr>
                      <a:r>
                        <a:rPr sz="950" b="0">
                          <a:solidFill>
                            <a:srgbClr val="222B38"/>
                          </a:solidFill>
                          <a:latin typeface="Calibri"/>
                        </a:rPr>
                        <a:t>3 real calls, 7 short-circuited</a:t>
                      </a:r>
                    </a:p>
                  </a:txBody>
                  <a:tcPr marT="36576" marB="36576">
                    <a:solidFill>
                      <a:srgbClr val="FFFFFF"/>
                    </a:solidFill>
                  </a:tcPr>
                </a:tc>
              </a:tr>
              <a:tr h="246888">
                <a:tc>
                  <a:txBody>
                    <a:bodyPr wrap="square"/>
                    <a:lstStyle/>
                    <a:p>
                      <a:pPr>
                        <a:spcAft>
                          <a:spcPts val="0"/>
                        </a:spcAft>
                      </a:pPr>
                      <a:r>
                        <a:rPr sz="950" b="0">
                          <a:solidFill>
                            <a:srgbClr val="222B38"/>
                          </a:solidFill>
                          <a:latin typeface="Calibri"/>
                        </a:rPr>
                        <a:t>Tracing cost</a:t>
                      </a:r>
                    </a:p>
                  </a:txBody>
                  <a:tcPr marT="36576" marB="36576">
                    <a:solidFill>
                      <a:srgbClr val="EEF3F8"/>
                    </a:solidFill>
                  </a:tcPr>
                </a:tc>
                <a:tc>
                  <a:txBody>
                    <a:bodyPr wrap="square"/>
                    <a:lstStyle/>
                    <a:p>
                      <a:pPr>
                        <a:spcAft>
                          <a:spcPts val="0"/>
                        </a:spcAft>
                      </a:pPr>
                      <a:r>
                        <a:rPr sz="950" b="0">
                          <a:solidFill>
                            <a:srgbClr val="222B38"/>
                          </a:solidFill>
                          <a:latin typeface="Calibri"/>
                        </a:rPr>
                        <a:t>+1.3 ms per ticket (a flush per ticket cost 200 ms, now batched)</a:t>
                      </a:r>
                    </a:p>
                  </a:txBody>
                  <a:tcPr marT="36576" marB="36576">
                    <a:solidFill>
                      <a:srgbClr val="EEF3F8"/>
                    </a:solidFill>
                  </a:tcPr>
                </a:tc>
              </a:tr>
            </a:tbl>
          </a:graphicData>
        </a:graphic>
      </p:graphicFrame>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scripts/run_reliability_benchmark.py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8 AND 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M8 and 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93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sp>
        <p:nvSpPr>
          <p:cNvPr id="12" name="Rounded Rectangle 11"/>
          <p:cNvSpPr/>
          <p:nvPr/>
        </p:nvSpPr>
        <p:spPr>
          <a:xfrm>
            <a:off x="4983480" y="3063240"/>
            <a:ext cx="6675120" cy="77724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4920" y="3090672"/>
            <a:ext cx="6492240" cy="731520"/>
          </a:xfrm>
          <a:prstGeom prst="rect">
            <a:avLst/>
          </a:prstGeom>
          <a:noFill/>
        </p:spPr>
        <p:txBody>
          <a:bodyPr wrap="square" lIns="45720" rIns="45720">
            <a:spAutoFit/>
          </a:bodyPr>
          <a:lstStyle/>
          <a:p>
            <a:pPr>
              <a:spcAft>
                <a:spcPts val="100"/>
              </a:spcAft>
            </a:pPr>
            <a:r>
              <a:rPr sz="1000" b="1">
                <a:solidFill>
                  <a:srgbClr val="0F8B8D"/>
                </a:solidFill>
                <a:latin typeface="Calibri"/>
              </a:rPr>
              <a:t>M8 package (first version, still being checked against its lab)</a:t>
            </a:r>
          </a:p>
          <a:p>
            <a:pPr>
              <a:spcAft>
                <a:spcPts val="100"/>
              </a:spcAft>
            </a:pPr>
            <a:r>
              <a:rPr sz="1000" b="0">
                <a:solidFill>
                  <a:srgbClr val="222B38"/>
                </a:solidFill>
                <a:latin typeface="Calibri"/>
              </a:rPr>
              <a:t>FastAPI /chat and /health; 20-case golden set, 20 of 20 stored and live. Blocked tickets return 200 plus human review.</a:t>
            </a:r>
          </a:p>
        </p:txBody>
      </p:sp>
      <p:graphicFrame>
        <p:nvGraphicFramePr>
          <p:cNvPr id="14" name="Table 13"/>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93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5" name="Rounded Rectangle 14"/>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93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