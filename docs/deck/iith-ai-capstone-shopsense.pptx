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13,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through the team with MCP on and execute on, once as chat and once as email. Five stages: Triage (the only one that calls an LLM), Memory, Policy RAG, Order-Actions and the Escalation Reviewer. Each stage may write only its own keys on a shared board; a write outside the list raises PermissionError (tested). Order-Actions only plans first. The reviewer then re-checks the ticket, the plan and the policy answer itself, and can only send a case to a human, never waive one; it runs BEFORE any write tool, which fixes an earlier order where a refund could run first. Then the tool runs through one gateway, in-process or over the MCP server (CAPSTONE_TOOL_TRANSPORT=mcp). Real result on this ticket: guardrails prompt_injection_blocked and refund_above_auto_cap_blocked fired, the reviewer said human_review, flag_for_human ran over MCP and filed queue KW-HQ-00002; the email run returned the same id with duplicate true, so chat and email use the same tools with the same result. The Rs 12,999 refund was not issued. The MCP server has 10 tools and one resource (shopsense://policy/tool-rules); there is no delete or arbitrary-write tool, and a wrong customer is refused over the protocol (tested). Honest limits against the lab: we did not build its supervisor with LLM routing and revision loops; ours is a fixed five-stage line, so no loop-back or revision cap is needed. Only Triage uses an LLM. Checks: pytest tests/unit/test_multi_agent_team.py tests/unit/test_mcp_tools.py (13 tests). Full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M6 complete, M7 and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Python or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CHECKED AGAINST THE LAB'S MILESTONE LIST</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Lab item</a:t>
                      </a:r>
                    </a:p>
                  </a:txBody>
                  <a:tcPr marT="36576" marB="36576">
                    <a:solidFill>
                      <a:srgbClr val="142B4D"/>
                    </a:solidFill>
                  </a:tcPr>
                </a:tc>
                <a:tc>
                  <a:txBody>
                    <a:bodyPr wrap="square"/>
                    <a:lstStyle/>
                    <a:p>
                      <a:pPr>
                        <a:spcAft>
                          <a:spcPts val="0"/>
                        </a:spcAft>
                      </a:pPr>
                      <a:r>
                        <a:rPr sz="1050" b="1">
                          <a:solidFill>
                            <a:srgbClr val="FFFFFF"/>
                          </a:solidFill>
                          <a:latin typeface="Calibri"/>
                        </a:rPr>
                        <a:t>Here</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audit field with a reducer</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as pure functions</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Durable checkpointer,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after the pause</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five agents, each in its own lane, tools over MCP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74319" y="1371600"/>
            <a:ext cx="1188720" cy="73152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8686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600200" y="1371600"/>
            <a:ext cx="1188720"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Intake</a:t>
            </a:r>
          </a:p>
          <a:p>
            <a:pPr algn="ctr">
              <a:spcAft>
                <a:spcPts val="100"/>
              </a:spcAft>
            </a:pPr>
            <a:r>
              <a:rPr sz="1100" b="0">
                <a:solidFill>
                  <a:srgbClr val="FFFFFF"/>
                </a:solidFill>
                <a:latin typeface="Calibri"/>
              </a:rPr>
              <a:t>Triage, Memory, Policy</a:t>
            </a:r>
          </a:p>
        </p:txBody>
      </p:sp>
      <p:cxnSp>
        <p:nvCxnSpPr>
          <p:cNvPr id="10" name="Connector 9"/>
          <p:cNvCxnSpPr/>
          <p:nvPr/>
        </p:nvCxnSpPr>
        <p:spPr>
          <a:xfrm>
            <a:off x="21945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926080" y="1371600"/>
            <a:ext cx="1188720"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2" name="Connector 11"/>
          <p:cNvCxnSpPr/>
          <p:nvPr/>
        </p:nvCxnSpPr>
        <p:spPr>
          <a:xfrm>
            <a:off x="35204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251959" y="1371600"/>
            <a:ext cx="1188720"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4" name="Connector 13"/>
          <p:cNvCxnSpPr/>
          <p:nvPr/>
        </p:nvCxnSpPr>
        <p:spPr>
          <a:xfrm>
            <a:off x="484632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77840" y="1371600"/>
            <a:ext cx="1188720"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6" name="Connector 15"/>
          <p:cNvCxnSpPr/>
          <p:nvPr/>
        </p:nvCxnSpPr>
        <p:spPr>
          <a:xfrm>
            <a:off x="61722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 y="2468879"/>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86968" y="2221991"/>
            <a:ext cx="128930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Raw text</a:t>
            </a:r>
          </a:p>
        </p:txBody>
      </p:sp>
      <p:sp>
        <p:nvSpPr>
          <p:cNvPr id="19" name="Rounded Rectangle 18"/>
          <p:cNvSpPr/>
          <p:nvPr/>
        </p:nvSpPr>
        <p:spPr>
          <a:xfrm>
            <a:off x="868680" y="2532887"/>
            <a:ext cx="26517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569463"/>
            <a:ext cx="25968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Each writes only its own keys</a:t>
            </a:r>
          </a:p>
        </p:txBody>
      </p:sp>
      <p:cxnSp>
        <p:nvCxnSpPr>
          <p:cNvPr id="21" name="Connector 20"/>
          <p:cNvCxnSpPr/>
          <p:nvPr/>
        </p:nvCxnSpPr>
        <p:spPr>
          <a:xfrm>
            <a:off x="2194560" y="3236975"/>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212848" y="2990087"/>
            <a:ext cx="128930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Ticket, policy</a:t>
            </a:r>
          </a:p>
        </p:txBody>
      </p:sp>
      <p:sp>
        <p:nvSpPr>
          <p:cNvPr id="23" name="Rounded Rectangle 22"/>
          <p:cNvSpPr/>
          <p:nvPr/>
        </p:nvSpPr>
        <p:spPr>
          <a:xfrm>
            <a:off x="2286000" y="3300983"/>
            <a:ext cx="210312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13432" y="3337559"/>
            <a:ext cx="2048255"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Plan + guardrails, no write</a:t>
            </a:r>
          </a:p>
        </p:txBody>
      </p:sp>
      <p:cxnSp>
        <p:nvCxnSpPr>
          <p:cNvPr id="25" name="Connector 24"/>
          <p:cNvCxnSpPr/>
          <p:nvPr/>
        </p:nvCxnSpPr>
        <p:spPr>
          <a:xfrm>
            <a:off x="3520440" y="4005072"/>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538728" y="3758183"/>
            <a:ext cx="128930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Proposal</a:t>
            </a:r>
          </a:p>
        </p:txBody>
      </p:sp>
      <p:sp>
        <p:nvSpPr>
          <p:cNvPr id="27" name="Rounded Rectangle 26"/>
          <p:cNvSpPr/>
          <p:nvPr/>
        </p:nvSpPr>
        <p:spPr>
          <a:xfrm>
            <a:off x="3566160" y="4069080"/>
            <a:ext cx="219456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93591" y="4105656"/>
            <a:ext cx="21396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Re-check the risk itself</a:t>
            </a:r>
          </a:p>
        </p:txBody>
      </p:sp>
      <p:cxnSp>
        <p:nvCxnSpPr>
          <p:cNvPr id="29" name="Connector 28"/>
          <p:cNvCxnSpPr/>
          <p:nvPr/>
        </p:nvCxnSpPr>
        <p:spPr>
          <a:xfrm flipH="1">
            <a:off x="3520440" y="4773168"/>
            <a:ext cx="13258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538728" y="4526280"/>
            <a:ext cx="128930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Force human</a:t>
            </a:r>
          </a:p>
        </p:txBody>
      </p:sp>
      <p:cxnSp>
        <p:nvCxnSpPr>
          <p:cNvPr id="31" name="Connector 30"/>
          <p:cNvCxnSpPr/>
          <p:nvPr/>
        </p:nvCxnSpPr>
        <p:spPr>
          <a:xfrm>
            <a:off x="3520440" y="5157216"/>
            <a:ext cx="26517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538728" y="4910328"/>
            <a:ext cx="26151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flag_for_human over MCP</a:t>
            </a:r>
          </a:p>
        </p:txBody>
      </p:sp>
      <p:cxnSp>
        <p:nvCxnSpPr>
          <p:cNvPr id="33" name="Connector 32"/>
          <p:cNvCxnSpPr/>
          <p:nvPr/>
        </p:nvCxnSpPr>
        <p:spPr>
          <a:xfrm flipH="1">
            <a:off x="3520440" y="5541264"/>
            <a:ext cx="26517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538728" y="5294376"/>
            <a:ext cx="26151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9 Queue KW-HQ-00002</a:t>
            </a:r>
          </a:p>
        </p:txBody>
      </p:sp>
      <p:sp>
        <p:nvSpPr>
          <p:cNvPr id="35" name="TextBox 34"/>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RUN AS CHAT AND AS EMAIL</a:t>
            </a:r>
          </a:p>
        </p:txBody>
      </p:sp>
      <p:sp>
        <p:nvSpPr>
          <p:cNvPr id="36" name="Rounded Rectangle 35"/>
          <p:cNvSpPr/>
          <p:nvPr/>
        </p:nvSpPr>
        <p:spPr>
          <a:xfrm>
            <a:off x="6949440" y="1691640"/>
            <a:ext cx="4709160" cy="13258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0" y="1719072"/>
            <a:ext cx="4526280" cy="1280160"/>
          </a:xfrm>
          <a:prstGeom prst="rect">
            <a:avLst/>
          </a:prstGeom>
          <a:noFill/>
        </p:spPr>
        <p:txBody>
          <a:bodyPr wrap="square" lIns="45720" rIns="45720">
            <a:spAutoFit/>
          </a:bodyPr>
          <a:lstStyle/>
          <a:p>
            <a:pPr>
              <a:spcAft>
                <a:spcPts val="200"/>
              </a:spcAft>
            </a:pPr>
            <a:r>
              <a:rPr sz="1000" b="1">
                <a:solidFill>
                  <a:srgbClr val="2E7D32"/>
                </a:solidFill>
                <a:latin typeface="Calibri"/>
              </a:rPr>
              <a:t>Real run, MCP on</a:t>
            </a:r>
          </a:p>
          <a:p>
            <a:pPr>
              <a:spcAft>
                <a:spcPts val="200"/>
              </a:spcAft>
            </a:pPr>
            <a:r>
              <a:rPr sz="1000" b="0">
                <a:solidFill>
                  <a:srgbClr val="222B38"/>
                </a:solidFill>
                <a:latin typeface="Calibri"/>
              </a:rPr>
              <a:t>Guardrails fired: prompt_injection_blocked, refund_above_auto_cap_blocked. Reviewer: human_review. flag_for_human ran over MCP: queue KW-HQ-00002. The email run got the same id (duplicate = true). The Rs 12,999 refund was not issued.</a:t>
            </a:r>
          </a:p>
        </p:txBody>
      </p:sp>
      <p:sp>
        <p:nvSpPr>
          <p:cNvPr id="38" name="TextBox 37"/>
          <p:cNvSpPr txBox="1"/>
          <p:nvPr/>
        </p:nvSpPr>
        <p:spPr>
          <a:xfrm>
            <a:off x="6949440" y="310896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CHECKED AGAINST THE LAB</a:t>
            </a:r>
          </a:p>
        </p:txBody>
      </p:sp>
      <p:graphicFrame>
        <p:nvGraphicFramePr>
          <p:cNvPr id="39" name="Table 38"/>
          <p:cNvGraphicFramePr>
            <a:graphicFrameLocks noGrp="1"/>
          </p:cNvGraphicFramePr>
          <p:nvPr/>
        </p:nvGraphicFramePr>
        <p:xfrm>
          <a:off x="6949440" y="3383280"/>
          <a:ext cx="4709160" cy="1645919"/>
        </p:xfrm>
        <a:graphic>
          <a:graphicData uri="http://schemas.openxmlformats.org/drawingml/2006/table">
            <a:tbl>
              <a:tblPr firstRow="1" bandRow="1">
                <a:tableStyleId>{5C22544A-7EE6-4342-B048-85BDC9FD1C3A}</a:tableStyleId>
              </a:tblPr>
              <a:tblGrid>
                <a:gridCol w="2743200"/>
                <a:gridCol w="1965960"/>
              </a:tblGrid>
              <a:tr h="274319">
                <a:tc>
                  <a:txBody>
                    <a:bodyPr wrap="square"/>
                    <a:lstStyle/>
                    <a:p>
                      <a:pPr>
                        <a:spcAft>
                          <a:spcPts val="0"/>
                        </a:spcAft>
                      </a:pPr>
                      <a:r>
                        <a:rPr sz="1050" b="1">
                          <a:solidFill>
                            <a:srgbClr val="FFFFFF"/>
                          </a:solidFill>
                          <a:latin typeface="Calibri"/>
                        </a:rPr>
                        <a:t>Lab item</a:t>
                      </a:r>
                    </a:p>
                  </a:txBody>
                  <a:tcPr marT="36576" marB="36576">
                    <a:solidFill>
                      <a:srgbClr val="142B4D"/>
                    </a:solidFill>
                  </a:tcPr>
                </a:tc>
                <a:tc>
                  <a:txBody>
                    <a:bodyPr wrap="square"/>
                    <a:lstStyle/>
                    <a:p>
                      <a:pPr>
                        <a:spcAft>
                          <a:spcPts val="0"/>
                        </a:spcAft>
                      </a:pPr>
                      <a:r>
                        <a:rPr sz="1050" b="1">
                          <a:solidFill>
                            <a:srgbClr val="FFFFFF"/>
                          </a:solidFill>
                          <a:latin typeface="Calibri"/>
                        </a:rPr>
                        <a:t>Here</a:t>
                      </a:r>
                    </a:p>
                  </a:txBody>
                  <a:tcPr marT="36576" marB="36576">
                    <a:solidFill>
                      <a:srgbClr val="142B4D"/>
                    </a:solidFill>
                  </a:tcPr>
                </a:tc>
              </a:tr>
              <a:tr h="274319">
                <a:tc>
                  <a:txBody>
                    <a:bodyPr wrap="square"/>
                    <a:lstStyle/>
                    <a:p>
                      <a:pPr>
                        <a:spcAft>
                          <a:spcPts val="0"/>
                        </a:spcAft>
                      </a:pPr>
                      <a:r>
                        <a:rPr sz="1050" b="0">
                          <a:solidFill>
                            <a:srgbClr val="222B38"/>
                          </a:solidFill>
                          <a:latin typeface="Calibri"/>
                        </a:rPr>
                        <a:t>Write permission per agent, enforced</a:t>
                      </a:r>
                    </a:p>
                  </a:txBody>
                  <a:tcPr marT="36576" marB="36576">
                    <a:solidFill>
                      <a:srgbClr val="EEF3F8"/>
                    </a:solidFill>
                  </a:tcPr>
                </a:tc>
                <a:tc>
                  <a:txBody>
                    <a:bodyPr wrap="square"/>
                    <a:lstStyle/>
                    <a:p>
                      <a:pPr>
                        <a:spcAft>
                          <a:spcPts val="0"/>
                        </a:spcAft>
                      </a:pPr>
                      <a:r>
                        <a:rPr sz="1050" b="0">
                          <a:solidFill>
                            <a:srgbClr val="222B38"/>
                          </a:solidFill>
                          <a:latin typeface="Calibri"/>
                        </a:rPr>
                        <a:t>PermissionError, tested</a:t>
                      </a:r>
                    </a:p>
                  </a:txBody>
                  <a:tcPr marT="36576" marB="36576">
                    <a:solidFill>
                      <a:srgbClr val="EEF3F8"/>
                    </a:solidFill>
                  </a:tcPr>
                </a:tc>
              </a:tr>
              <a:tr h="274319">
                <a:tc>
                  <a:txBody>
                    <a:bodyPr wrap="square"/>
                    <a:lstStyle/>
                    <a:p>
                      <a:pPr>
                        <a:spcAft>
                          <a:spcPts val="0"/>
                        </a:spcAft>
                      </a:pPr>
                      <a:r>
                        <a:rPr sz="1050" b="0">
                          <a:solidFill>
                            <a:srgbClr val="222B38"/>
                          </a:solidFill>
                          <a:latin typeface="Calibri"/>
                        </a:rPr>
                        <a:t>Critic independent, before any write</a:t>
                      </a:r>
                    </a:p>
                  </a:txBody>
                  <a:tcPr marT="36576" marB="36576">
                    <a:solidFill>
                      <a:srgbClr val="FFFFFF"/>
                    </a:solidFill>
                  </a:tcPr>
                </a:tc>
                <a:tc>
                  <a:txBody>
                    <a:bodyPr wrap="square"/>
                    <a:lstStyle/>
                    <a:p>
                      <a:pPr>
                        <a:spcAft>
                          <a:spcPts val="0"/>
                        </a:spcAft>
                      </a:pPr>
                      <a:r>
                        <a:rPr sz="1050" b="0">
                          <a:solidFill>
                            <a:srgbClr val="222B38"/>
                          </a:solidFill>
                          <a:latin typeface="Calibri"/>
                        </a:rPr>
                        <a:t>yes, tested</a:t>
                      </a:r>
                    </a:p>
                  </a:txBody>
                  <a:tcPr marT="36576" marB="36576">
                    <a:solidFill>
                      <a:srgbClr val="FFFFFF"/>
                    </a:solidFill>
                  </a:tcPr>
                </a:tc>
              </a:tr>
              <a:tr h="274319">
                <a:tc>
                  <a:txBody>
                    <a:bodyPr wrap="square"/>
                    <a:lstStyle/>
                    <a:p>
                      <a:pPr>
                        <a:spcAft>
                          <a:spcPts val="0"/>
                        </a:spcAft>
                      </a:pPr>
                      <a:r>
                        <a:rPr sz="1050" b="0">
                          <a:solidFill>
                            <a:srgbClr val="222B38"/>
                          </a:solidFill>
                          <a:latin typeface="Calibri"/>
                        </a:rPr>
                        <a:t>MCP tools + resource, no delete tool</a:t>
                      </a:r>
                    </a:p>
                  </a:txBody>
                  <a:tcPr marT="36576" marB="36576">
                    <a:solidFill>
                      <a:srgbClr val="EEF3F8"/>
                    </a:solidFill>
                  </a:tcPr>
                </a:tc>
                <a:tc>
                  <a:txBody>
                    <a:bodyPr wrap="square"/>
                    <a:lstStyle/>
                    <a:p>
                      <a:pPr>
                        <a:spcAft>
                          <a:spcPts val="0"/>
                        </a:spcAft>
                      </a:pPr>
                      <a:r>
                        <a:rPr sz="1050" b="0">
                          <a:solidFill>
                            <a:srgbClr val="222B38"/>
                          </a:solidFill>
                          <a:latin typeface="Calibri"/>
                        </a:rPr>
                        <a:t>10 tools + 1 resource</a:t>
                      </a:r>
                    </a:p>
                  </a:txBody>
                  <a:tcPr marT="36576" marB="36576">
                    <a:solidFill>
                      <a:srgbClr val="EEF3F8"/>
                    </a:solidFill>
                  </a:tcPr>
                </a:tc>
              </a:tr>
              <a:tr h="274319">
                <a:tc>
                  <a:txBody>
                    <a:bodyPr wrap="square"/>
                    <a:lstStyle/>
                    <a:p>
                      <a:pPr>
                        <a:spcAft>
                          <a:spcPts val="0"/>
                        </a:spcAft>
                      </a:pPr>
                      <a:r>
                        <a:rPr sz="1050" b="0">
                          <a:solidFill>
                            <a:srgbClr val="222B38"/>
                          </a:solidFill>
                          <a:latin typeface="Calibri"/>
                        </a:rPr>
                        <a:t>Wrong customer refused over MCP</a:t>
                      </a:r>
                    </a:p>
                  </a:txBody>
                  <a:tcPr marT="36576" marB="36576">
                    <a:solidFill>
                      <a:srgbClr val="FFFFFF"/>
                    </a:solidFill>
                  </a:tcPr>
                </a:tc>
                <a:tc>
                  <a:txBody>
                    <a:bodyPr wrap="square"/>
                    <a:lstStyle/>
                    <a:p>
                      <a:pPr>
                        <a:spcAft>
                          <a:spcPts val="0"/>
                        </a:spcAft>
                      </a:pPr>
                      <a:r>
                        <a:rPr sz="1050" b="0">
                          <a:solidFill>
                            <a:srgbClr val="222B38"/>
                          </a:solidFill>
                          <a:latin typeface="Calibri"/>
                        </a:rPr>
                        <a:t>tested</a:t>
                      </a:r>
                    </a:p>
                  </a:txBody>
                  <a:tcPr marT="36576" marB="36576">
                    <a:solidFill>
                      <a:srgbClr val="FFFFFF"/>
                    </a:solidFill>
                  </a:tcPr>
                </a:tc>
              </a:tr>
              <a:tr h="274324">
                <a:tc>
                  <a:txBody>
                    <a:bodyPr wrap="square"/>
                    <a:lstStyle/>
                    <a:p>
                      <a:pPr>
                        <a:spcAft>
                          <a:spcPts val="0"/>
                        </a:spcAft>
                      </a:pPr>
                      <a:r>
                        <a:rPr sz="1050" b="0">
                          <a:solidFill>
                            <a:srgbClr val="222B38"/>
                          </a:solidFill>
                          <a:latin typeface="Calibri"/>
                        </a:rPr>
                        <a:t>Supervisor, LLM routing, revision loop</a:t>
                      </a:r>
                    </a:p>
                  </a:txBody>
                  <a:tcPr marT="36576" marB="36576">
                    <a:solidFill>
                      <a:srgbClr val="EEF3F8"/>
                    </a:solidFill>
                  </a:tcPr>
                </a:tc>
                <a:tc>
                  <a:txBody>
                    <a:bodyPr wrap="square"/>
                    <a:lstStyle/>
                    <a:p>
                      <a:pPr>
                        <a:spcAft>
                          <a:spcPts val="0"/>
                        </a:spcAft>
                      </a:pPr>
                      <a:r>
                        <a:rPr sz="1050" b="0">
                          <a:solidFill>
                            <a:srgbClr val="222B38"/>
                          </a:solidFill>
                          <a:latin typeface="Calibri"/>
                        </a:rPr>
                        <a:t>not built: fixed line</a:t>
                      </a:r>
                    </a:p>
                  </a:txBody>
                  <a:tcPr marT="36576" marB="36576">
                    <a:solidFill>
                      <a:srgbClr val="EEF3F8"/>
                    </a:solidFill>
                  </a:tcPr>
                </a:tc>
              </a:tr>
            </a:tbl>
          </a:graphicData>
        </a:graphic>
      </p:graphicFrame>
      <p:sp>
        <p:nvSpPr>
          <p:cNvPr id="40" name="TextBox 39"/>
          <p:cNvSpPr txBox="1"/>
          <p:nvPr/>
        </p:nvSpPr>
        <p:spPr>
          <a:xfrm>
            <a:off x="6949440" y="5120640"/>
            <a:ext cx="4709160" cy="548640"/>
          </a:xfrm>
          <a:prstGeom prst="rect">
            <a:avLst/>
          </a:prstGeom>
          <a:noFill/>
        </p:spPr>
        <p:txBody>
          <a:bodyPr wrap="square" lIns="45720" rIns="45720">
            <a:spAutoFit/>
          </a:bodyPr>
          <a:lstStyle/>
          <a:p>
            <a:pPr>
              <a:spcAft>
                <a:spcPts val="600"/>
              </a:spcAft>
            </a:pPr>
            <a:r>
              <a:rPr sz="1100" b="1">
                <a:solidFill>
                  <a:srgbClr val="142B4D"/>
                </a:solidFill>
                <a:latin typeface="Calibri"/>
              </a:rPr>
              <a:t>Only Triage calls an LLM; the other four are deterministic code.</a:t>
            </a:r>
          </a:p>
        </p:txBody>
      </p:sp>
      <p:sp>
        <p:nvSpPr>
          <p:cNvPr id="41" name="Rounded Rectangle 40"/>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IN PROGRESS, TO BE CHECKED AGAINST THE LABS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first version built, being finished next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80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Team is a fixed line, not a supervisor</a:t>
            </a:r>
          </a:p>
          <a:p>
            <a:pPr>
              <a:spcAft>
                <a:spcPts val="300"/>
              </a:spcAft>
            </a:pPr>
            <a:r>
              <a:rPr sz="1100" b="0">
                <a:solidFill>
                  <a:srgbClr val="222B38"/>
                </a:solidFill>
                <a:latin typeface="Calibri"/>
              </a:rPr>
              <a:t>•  Docker not exercised</a:t>
            </a:r>
          </a:p>
        </p:txBody>
      </p:sp>
      <p:graphicFrame>
        <p:nvGraphicFramePr>
          <p:cNvPr id="12" name="Table 11"/>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80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3" name="Rounded Rectangle 12"/>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80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