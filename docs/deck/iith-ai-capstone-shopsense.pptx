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6, M6 13, M7 3, M8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live (Gemini) with MCP on and execute on. Six stages: Triage and the Supervisor are the two that call an LLM; Memory, Policy RAG, Order-Actions and the Escalation Reviewer are deterministic code. Each stage may write only its own keys on a shared board; a write outside the list raises PermissionError (tested). The Supervisor sees only the structured ticket, never the raw customer text, and picks full, fast_track or escalate_now. Code computes which of those are allowed for this ticket: a risky ticket (injection, signals, an amount, an angry tone) can only get full, so a fooled model cannot choose a shortcut; an off-menu answer or an LLM failure falls back to full. Live results: the hostile ticket got full and ended at a human (flag_for_human over MCP, queue KW-HQ-00002, the Rs 12,999 refund not issued); a plain tracking question got fast_track, skipped the policy lookup and ran track_shipment; a consumer-court threat got escalate_now and went straight to a human. The Escalation Reviewer re-checks the ticket, the plan and the policy answer itself and can only send a case to a human. It runs before any write tool. If it finds the policy answer ungrounded for a refund or replacement, it sends the plan back for a wider policy lookup, at most 2 rounds, then a human decides. Then the tool runs through one gateway, in-process or over the MCP server (CAPSTONE_TOOL_TRANSPORT=mcp). The MCP server has 10 tools and one resource (shopsense://policy/tool-rules); no delete or arbitrary-write tool; a wrong customer is refused over the protocol. Honest limit: this is a supervisor with a menu, not the lab's full star where a manager can call any agent in any order; we kept the reviewer and the write step outside its control on purpose. Checks: pytest tests/unit/test_multi_agent_team.py tests/unit/test_mcp_tools.py (20 tests).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Traces are always written locally and forwarded to LangFuse when keys exist; we confirmed through the LangFuse API that spans from a real run arrive. The golden set is deliberately adversarial: five injection variants, cross-customer orders, safety, repeat contact. Both stored and live-LLM runs pass 20 of 20.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middle column is the continuous-improvement story: each row is something the first real run exposed. Demo order: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M6 complete, M7 and M8 in progress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one gateway, Python or MCP</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57200" y="1280160"/>
            <a:ext cx="11247120" cy="365760"/>
          </a:xfrm>
          <a:prstGeom prst="rect">
            <a:avLst/>
          </a:prstGeom>
          <a:noFill/>
        </p:spPr>
        <p:txBody>
          <a:bodyPr wrap="square" lIns="45720" rIns="45720">
            <a:spAutoFit/>
          </a:bodyPr>
          <a:lstStyle/>
          <a:p>
            <a:pPr>
              <a:spcAft>
                <a:spcPts val="600"/>
              </a:spcAft>
            </a:pPr>
            <a:r>
              <a:rPr sz="1200" b="1">
                <a:solidFill>
                  <a:srgbClr val="142B4D"/>
                </a:solidFill>
                <a:latin typeface="Calibri"/>
              </a:rPr>
              <a:t>Wrapped by:  M5 LangGraph (human interrupt)  |  M6 supervised agent team  |  M7 tracing + fallback  |  M8 /chat + golden eval</a:t>
            </a:r>
          </a:p>
        </p:txBody>
      </p:sp>
      <p:sp>
        <p:nvSpPr>
          <p:cNvPr id="27" name="TextBox 26"/>
          <p:cNvSpPr txBox="1"/>
          <p:nvPr/>
        </p:nvSpPr>
        <p:spPr>
          <a:xfrm>
            <a:off x="457200" y="5138928"/>
            <a:ext cx="11247120" cy="274320"/>
          </a:xfrm>
          <a:prstGeom prst="rect">
            <a:avLst/>
          </a:prstGeom>
          <a:noFill/>
        </p:spPr>
        <p:txBody>
          <a:bodyPr wrap="square" lIns="45720" rIns="45720">
            <a:spAutoFit/>
          </a:bodyPr>
          <a:lstStyle/>
          <a:p>
            <a:pPr>
              <a:spcAft>
                <a:spcPts val="600"/>
              </a:spcAft>
            </a:pPr>
            <a:r>
              <a:rPr sz="1000" b="1">
                <a:solidFill>
                  <a:srgbClr val="0F8B8D"/>
                </a:solidFill>
                <a:latin typeface="Calibri"/>
              </a:rPr>
              <a:t>THREE TICKETS WE FOLLOW (A: KW-O-000000, B: KW-O-000010, C: KW-O-000950), SAME CODE FOR ALL</a:t>
            </a:r>
          </a:p>
        </p:txBody>
      </p:sp>
      <p:graphicFrame>
        <p:nvGraphicFramePr>
          <p:cNvPr id="28" name="Table 27"/>
          <p:cNvGraphicFramePr>
            <a:graphicFrameLocks noGrp="1"/>
          </p:cNvGraphicFramePr>
          <p:nvPr/>
        </p:nvGraphicFramePr>
        <p:xfrm>
          <a:off x="457200" y="5394960"/>
          <a:ext cx="11247120" cy="950976"/>
        </p:xfrm>
        <a:graphic>
          <a:graphicData uri="http://schemas.openxmlformats.org/drawingml/2006/table">
            <a:tbl>
              <a:tblPr firstRow="1" bandRow="1">
                <a:tableStyleId>{5C22544A-7EE6-4342-B048-85BDC9FD1C3A}</a:tableStyleId>
              </a:tblPr>
              <a:tblGrid>
                <a:gridCol w="2194560"/>
                <a:gridCol w="2651760"/>
                <a:gridCol w="2743200"/>
                <a:gridCol w="1737360"/>
                <a:gridCol w="1920240"/>
              </a:tblGrid>
              <a:tr h="237744">
                <a:tc>
                  <a:txBody>
                    <a:bodyPr wrap="square"/>
                    <a:lstStyle/>
                    <a:p>
                      <a:pPr>
                        <a:spcAft>
                          <a:spcPts val="0"/>
                        </a:spcAft>
                      </a:pPr>
                      <a:r>
                        <a:rPr sz="950" b="1">
                          <a:solidFill>
                            <a:srgbClr val="FFFFFF"/>
                          </a:solidFill>
                          <a:latin typeface="Calibri"/>
                        </a:rPr>
                        <a:t>Ticket</a:t>
                      </a:r>
                    </a:p>
                  </a:txBody>
                  <a:tcPr marT="36576" marB="36576">
                    <a:solidFill>
                      <a:srgbClr val="142B4D"/>
                    </a:solidFill>
                  </a:tcPr>
                </a:tc>
                <a:tc>
                  <a:txBody>
                    <a:bodyPr wrap="square"/>
                    <a:lstStyle/>
                    <a:p>
                      <a:pPr>
                        <a:spcAft>
                          <a:spcPts val="0"/>
                        </a:spcAft>
                      </a:pPr>
                      <a:r>
                        <a:rPr sz="950" b="1">
                          <a:solidFill>
                            <a:srgbClr val="FFFFFF"/>
                          </a:solidFill>
                          <a:latin typeface="Calibri"/>
                        </a:rPr>
                        <a:t>M1 reads</a:t>
                      </a:r>
                    </a:p>
                  </a:txBody>
                  <a:tcPr marT="36576" marB="36576">
                    <a:solidFill>
                      <a:srgbClr val="142B4D"/>
                    </a:solidFill>
                  </a:tcPr>
                </a:tc>
                <a:tc>
                  <a:txBody>
                    <a:bodyPr wrap="square"/>
                    <a:lstStyle/>
                    <a:p>
                      <a:pPr>
                        <a:spcAft>
                          <a:spcPts val="0"/>
                        </a:spcAft>
                      </a:pPr>
                      <a:r>
                        <a:rPr sz="950" b="1">
                          <a:solidFill>
                            <a:srgbClr val="FFFFFF"/>
                          </a:solidFill>
                          <a:latin typeface="Calibri"/>
                        </a:rPr>
                        <a:t>M2 plans, M4 grounds</a:t>
                      </a:r>
                    </a:p>
                  </a:txBody>
                  <a:tcPr marT="36576" marB="36576">
                    <a:solidFill>
                      <a:srgbClr val="142B4D"/>
                    </a:solidFill>
                  </a:tcPr>
                </a:tc>
                <a:tc>
                  <a:txBody>
                    <a:bodyPr wrap="square"/>
                    <a:lstStyle/>
                    <a:p>
                      <a:pPr>
                        <a:spcAft>
                          <a:spcPts val="0"/>
                        </a:spcAft>
                      </a:pPr>
                      <a:r>
                        <a:rPr sz="950" b="1">
                          <a:solidFill>
                            <a:srgbClr val="FFFFFF"/>
                          </a:solidFill>
                          <a:latin typeface="Calibri"/>
                        </a:rPr>
                        <a:t>M5 workflow</a:t>
                      </a:r>
                    </a:p>
                  </a:txBody>
                  <a:tcPr marT="36576" marB="36576">
                    <a:solidFill>
                      <a:srgbClr val="142B4D"/>
                    </a:solidFill>
                  </a:tcPr>
                </a:tc>
                <a:tc>
                  <a:txBody>
                    <a:bodyPr wrap="square"/>
                    <a:lstStyle/>
                    <a:p>
                      <a:pPr>
                        <a:spcAft>
                          <a:spcPts val="0"/>
                        </a:spcAft>
                      </a:pPr>
                      <a:r>
                        <a:rPr sz="950" b="1">
                          <a:solidFill>
                            <a:srgbClr val="FFFFFF"/>
                          </a:solidFill>
                          <a:latin typeface="Calibri"/>
                        </a:rPr>
                        <a:t>M6 route</a:t>
                      </a:r>
                    </a:p>
                  </a:txBody>
                  <a:tcPr marT="36576" marB="36576">
                    <a:solidFill>
                      <a:srgbClr val="142B4D"/>
                    </a:solidFill>
                  </a:tcPr>
                </a:tc>
              </a:tr>
              <a:tr h="237744">
                <a:tc>
                  <a:txBody>
                    <a:bodyPr wrap="square"/>
                    <a:lstStyle/>
                    <a:p>
                      <a:pPr>
                        <a:spcAft>
                          <a:spcPts val="0"/>
                        </a:spcAft>
                      </a:pPr>
                      <a:r>
                        <a:rPr sz="950" b="0">
                          <a:solidFill>
                            <a:srgbClr val="222B38"/>
                          </a:solidFill>
                          <a:latin typeface="Calibri"/>
                        </a:rPr>
                        <a:t>A  Hostile, Rs 12,999</a:t>
                      </a:r>
                    </a:p>
                  </a:txBody>
                  <a:tcPr marT="36576" marB="36576">
                    <a:solidFill>
                      <a:srgbClr val="EEF3F8"/>
                    </a:solidFill>
                  </a:tcPr>
                </a:tc>
                <a:tc>
                  <a:txBody>
                    <a:bodyPr wrap="square"/>
                    <a:lstStyle/>
                    <a:p>
                      <a:pPr>
                        <a:spcAft>
                          <a:spcPts val="0"/>
                        </a:spcAft>
                      </a:pPr>
                      <a:r>
                        <a:rPr sz="950" b="0">
                          <a:solidFill>
                            <a:srgbClr val="222B38"/>
                          </a:solidFill>
                          <a:latin typeface="Calibri"/>
                        </a:rPr>
                        <a:t>angry, injection, above cap</a:t>
                      </a:r>
                    </a:p>
                  </a:txBody>
                  <a:tcPr marT="36576" marB="36576">
                    <a:solidFill>
                      <a:srgbClr val="EEF3F8"/>
                    </a:solidFill>
                  </a:tcPr>
                </a:tc>
                <a:tc>
                  <a:txBody>
                    <a:bodyPr wrap="square"/>
                    <a:lstStyle/>
                    <a:p>
                      <a:pPr>
                        <a:spcAft>
                          <a:spcPts val="0"/>
                        </a:spcAft>
                      </a:pPr>
                      <a:r>
                        <a:rPr sz="950" b="0">
                          <a:solidFill>
                            <a:srgbClr val="222B38"/>
                          </a:solidFill>
                          <a:latin typeface="Calibri"/>
                        </a:rPr>
                        <a:t>human: refund_above_auto_cap</a:t>
                      </a:r>
                    </a:p>
                  </a:txBody>
                  <a:tcPr marT="36576" marB="36576">
                    <a:solidFill>
                      <a:srgbClr val="EEF3F8"/>
                    </a:solidFill>
                  </a:tcPr>
                </a:tc>
                <a:tc>
                  <a:txBody>
                    <a:bodyPr wrap="square"/>
                    <a:lstStyle/>
                    <a:p>
                      <a:pPr>
                        <a:spcAft>
                          <a:spcPts val="0"/>
                        </a:spcAft>
                      </a:pPr>
                      <a:r>
                        <a:rPr sz="9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950" b="0">
                          <a:solidFill>
                            <a:srgbClr val="222B38"/>
                          </a:solidFill>
                          <a:latin typeface="Calibri"/>
                        </a:rPr>
                        <a:t>full, then human</a:t>
                      </a:r>
                    </a:p>
                  </a:txBody>
                  <a:tcPr marT="36576" marB="36576">
                    <a:solidFill>
                      <a:srgbClr val="EEF3F8"/>
                    </a:solidFill>
                  </a:tcPr>
                </a:tc>
              </a:tr>
              <a:tr h="237744">
                <a:tc>
                  <a:txBody>
                    <a:bodyPr wrap="square"/>
                    <a:lstStyle/>
                    <a:p>
                      <a:pPr>
                        <a:spcAft>
                          <a:spcPts val="0"/>
                        </a:spcAft>
                      </a:pPr>
                      <a:r>
                        <a:rPr sz="950" b="0">
                          <a:solidFill>
                            <a:srgbClr val="222B38"/>
                          </a:solidFill>
                          <a:latin typeface="Calibri"/>
                        </a:rPr>
                        <a:t>B  Plain tracking</a:t>
                      </a:r>
                    </a:p>
                  </a:txBody>
                  <a:tcPr marT="36576" marB="36576">
                    <a:solidFill>
                      <a:srgbClr val="FFFFFF"/>
                    </a:solidFill>
                  </a:tcPr>
                </a:tc>
                <a:tc>
                  <a:txBody>
                    <a:bodyPr wrap="square"/>
                    <a:lstStyle/>
                    <a:p>
                      <a:pPr>
                        <a:spcAft>
                          <a:spcPts val="0"/>
                        </a:spcAft>
                      </a:pPr>
                      <a:r>
                        <a:rPr sz="950" b="0">
                          <a:solidFill>
                            <a:srgbClr val="222B38"/>
                          </a:solidFill>
                          <a:latin typeface="Calibri"/>
                        </a:rPr>
                        <a:t>calm, track_order, no signals</a:t>
                      </a:r>
                    </a:p>
                  </a:txBody>
                  <a:tcPr marT="36576" marB="36576">
                    <a:solidFill>
                      <a:srgbClr val="FFFFFF"/>
                    </a:solidFill>
                  </a:tcPr>
                </a:tc>
                <a:tc>
                  <a:txBody>
                    <a:bodyPr wrap="square"/>
                    <a:lstStyle/>
                    <a:p>
                      <a:pPr>
                        <a:spcAft>
                          <a:spcPts val="0"/>
                        </a:spcAft>
                      </a:pPr>
                      <a:r>
                        <a:rPr sz="950" b="0">
                          <a:solidFill>
                            <a:srgbClr val="222B38"/>
                          </a:solidFill>
                          <a:latin typeface="Calibri"/>
                        </a:rPr>
                        <a:t>track_shipment, no human</a:t>
                      </a:r>
                    </a:p>
                  </a:txBody>
                  <a:tcPr marT="36576" marB="36576">
                    <a:solidFill>
                      <a:srgbClr val="FFFFFF"/>
                    </a:solidFill>
                  </a:tcPr>
                </a:tc>
                <a:tc>
                  <a:txBody>
                    <a:bodyPr wrap="square"/>
                    <a:lstStyle/>
                    <a:p>
                      <a:pPr>
                        <a:spcAft>
                          <a:spcPts val="0"/>
                        </a:spcAft>
                      </a:pPr>
                      <a:r>
                        <a:rPr sz="950" b="0">
                          <a:solidFill>
                            <a:srgbClr val="222B38"/>
                          </a:solidFill>
                          <a:latin typeface="Calibri"/>
                        </a:rPr>
                        <a:t>auto-resolves</a:t>
                      </a:r>
                    </a:p>
                  </a:txBody>
                  <a:tcPr marT="36576" marB="36576">
                    <a:solidFill>
                      <a:srgbClr val="FFFFFF"/>
                    </a:solidFill>
                  </a:tcPr>
                </a:tc>
                <a:tc>
                  <a:txBody>
                    <a:bodyPr wrap="square"/>
                    <a:lstStyle/>
                    <a:p>
                      <a:pPr>
                        <a:spcAft>
                          <a:spcPts val="0"/>
                        </a:spcAft>
                      </a:pPr>
                      <a:r>
                        <a:rPr sz="950" b="0">
                          <a:solidFill>
                            <a:srgbClr val="222B38"/>
                          </a:solidFill>
                          <a:latin typeface="Calibri"/>
                        </a:rPr>
                        <a:t>fast_track, no policy</a:t>
                      </a:r>
                    </a:p>
                  </a:txBody>
                  <a:tcPr marT="36576" marB="36576">
                    <a:solidFill>
                      <a:srgbClr val="FFFFFF"/>
                    </a:solidFill>
                  </a:tcPr>
                </a:tc>
              </a:tr>
              <a:tr h="237744">
                <a:tc>
                  <a:txBody>
                    <a:bodyPr wrap="square"/>
                    <a:lstStyle/>
                    <a:p>
                      <a:pPr>
                        <a:spcAft>
                          <a:spcPts val="0"/>
                        </a:spcAft>
                      </a:pPr>
                      <a:r>
                        <a:rPr sz="950" b="0">
                          <a:solidFill>
                            <a:srgbClr val="222B38"/>
                          </a:solidFill>
                          <a:latin typeface="Calibri"/>
                        </a:rPr>
                        <a:t>C  Court threat</a:t>
                      </a:r>
                    </a:p>
                  </a:txBody>
                  <a:tcPr marT="36576" marB="36576">
                    <a:solidFill>
                      <a:srgbClr val="EEF3F8"/>
                    </a:solidFill>
                  </a:tcPr>
                </a:tc>
                <a:tc>
                  <a:txBody>
                    <a:bodyPr wrap="square"/>
                    <a:lstStyle/>
                    <a:p>
                      <a:pPr>
                        <a:spcAft>
                          <a:spcPts val="0"/>
                        </a:spcAft>
                      </a:pPr>
                      <a:r>
                        <a:rPr sz="950" b="0">
                          <a:solidFill>
                            <a:srgbClr val="222B38"/>
                          </a:solidFill>
                          <a:latin typeface="Calibri"/>
                        </a:rPr>
                        <a:t>angry, legal_or_regulatory</a:t>
                      </a:r>
                    </a:p>
                  </a:txBody>
                  <a:tcPr marT="36576" marB="36576">
                    <a:solidFill>
                      <a:srgbClr val="EEF3F8"/>
                    </a:solidFill>
                  </a:tcPr>
                </a:tc>
                <a:tc>
                  <a:txBody>
                    <a:bodyPr wrap="square"/>
                    <a:lstStyle/>
                    <a:p>
                      <a:pPr>
                        <a:spcAft>
                          <a:spcPts val="0"/>
                        </a:spcAft>
                      </a:pPr>
                      <a:r>
                        <a:rPr sz="950" b="0">
                          <a:solidFill>
                            <a:srgbClr val="222B38"/>
                          </a:solidFill>
                          <a:latin typeface="Calibri"/>
                        </a:rPr>
                        <a:t>human: legal_or_regulatory</a:t>
                      </a:r>
                    </a:p>
                  </a:txBody>
                  <a:tcPr marT="36576" marB="36576">
                    <a:solidFill>
                      <a:srgbClr val="EEF3F8"/>
                    </a:solidFill>
                  </a:tcPr>
                </a:tc>
                <a:tc>
                  <a:txBody>
                    <a:bodyPr wrap="square"/>
                    <a:lstStyle/>
                    <a:p>
                      <a:pPr>
                        <a:spcAft>
                          <a:spcPts val="0"/>
                        </a:spcAft>
                      </a:pPr>
                      <a:r>
                        <a:rPr sz="9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950" b="0">
                          <a:solidFill>
                            <a:srgbClr val="222B38"/>
                          </a:solidFill>
                          <a:latin typeface="Calibri"/>
                        </a:rPr>
                        <a:t>escalate_now, human</a:t>
                      </a:r>
                    </a:p>
                  </a:txBody>
                  <a:tcPr marT="36576" marB="36576">
                    <a:solidFill>
                      <a:srgbClr val="EEF3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4144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67128"/>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Raw text</a:t>
            </a:r>
          </a:p>
        </p:txBody>
      </p:sp>
      <p:cxnSp>
        <p:nvCxnSpPr>
          <p:cNvPr id="17" name="Connector 16"/>
          <p:cNvCxnSpPr/>
          <p:nvPr/>
        </p:nvCxnSpPr>
        <p:spPr>
          <a:xfrm>
            <a:off x="2697480" y="304495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770632"/>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2 Wrapped</a:t>
            </a:r>
          </a:p>
        </p:txBody>
      </p:sp>
      <p:cxnSp>
        <p:nvCxnSpPr>
          <p:cNvPr id="19" name="Connector 18"/>
          <p:cNvCxnSpPr/>
          <p:nvPr/>
        </p:nvCxnSpPr>
        <p:spPr>
          <a:xfrm>
            <a:off x="4114800" y="36484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374136"/>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3 Request</a:t>
            </a:r>
          </a:p>
        </p:txBody>
      </p:sp>
      <p:cxnSp>
        <p:nvCxnSpPr>
          <p:cNvPr id="21" name="Connector 20"/>
          <p:cNvCxnSpPr/>
          <p:nvPr/>
        </p:nvCxnSpPr>
        <p:spPr>
          <a:xfrm flipH="1">
            <a:off x="4114800" y="425196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977640"/>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Draft JSON</a:t>
            </a:r>
          </a:p>
        </p:txBody>
      </p:sp>
      <p:cxnSp>
        <p:nvCxnSpPr>
          <p:cNvPr id="23" name="Connector 22"/>
          <p:cNvCxnSpPr/>
          <p:nvPr/>
        </p:nvCxnSpPr>
        <p:spPr>
          <a:xfrm flipH="1">
            <a:off x="2697480" y="485546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58114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Valid ticket</a:t>
            </a:r>
          </a:p>
        </p:txBody>
      </p:sp>
      <p:sp>
        <p:nvSpPr>
          <p:cNvPr id="25" name="Rounded Rectangle 24"/>
          <p:cNvSpPr/>
          <p:nvPr/>
        </p:nvSpPr>
        <p:spPr>
          <a:xfrm>
            <a:off x="1783080" y="5120640"/>
            <a:ext cx="2743200" cy="4572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5166360"/>
            <a:ext cx="2651760" cy="365760"/>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606247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788152"/>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75688"/>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84831"/>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67919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066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68833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282696"/>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31012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291840"/>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messages + schema SupportTicket   temperature 0   timeout 60 s   2 network retries</a:t>
            </a:r>
          </a:p>
        </p:txBody>
      </p:sp>
      <p:sp>
        <p:nvSpPr>
          <p:cNvPr id="39" name="Rectangle 38"/>
          <p:cNvSpPr/>
          <p:nvPr/>
        </p:nvSpPr>
        <p:spPr>
          <a:xfrm>
            <a:off x="6400800" y="3886200"/>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1363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895344"/>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489704"/>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51713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498848"/>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5093208"/>
            <a:ext cx="5257800" cy="54864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5120640"/>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5102352"/>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69671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7241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70585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signals = [angry_or_abusive, refund_above_auto_cap]   injection = true   missing_fields = []   order_ref = KW-O-000000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78023"/>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542032"/>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3017519"/>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3081527"/>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858768"/>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602735"/>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398264"/>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4142232"/>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93776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68172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SupportTicket (KW-O-000000, claim 12999, signals [angry_or_abusive, refund_above_auto_cap], injection = true); customer KW-C-00317; today 2026-07-16; execute = False</a:t>
            </a:r>
          </a:p>
        </p:txBody>
      </p:sp>
      <p:sp>
        <p:nvSpPr>
          <p:cNvPr id="31" name="Rectangle 30"/>
          <p:cNvSpPr/>
          <p:nvPr/>
        </p:nvSpPr>
        <p:spPr>
          <a:xfrm>
            <a:off x="6263640" y="2423159"/>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441447"/>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432303"/>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962655"/>
            <a:ext cx="5394960" cy="493775"/>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980943"/>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971799"/>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502151"/>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520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511296"/>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4041648"/>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4059936"/>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4050791"/>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581144"/>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59943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590288"/>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TICKETS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A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B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 + facts</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Rounded Rectangle 30"/>
          <p:cNvSpPr/>
          <p:nvPr/>
        </p:nvSpPr>
        <p:spPr>
          <a:xfrm>
            <a:off x="5294376" y="19933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3" name="Rounded Rectangle 32"/>
          <p:cNvSpPr/>
          <p:nvPr/>
        </p:nvSpPr>
        <p:spPr>
          <a:xfrm>
            <a:off x="5294376" y="24505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5" name="Rounded Rectangle 34"/>
          <p:cNvSpPr/>
          <p:nvPr/>
        </p:nvSpPr>
        <p:spPr>
          <a:xfrm>
            <a:off x="5294376" y="29077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7" name="Rounded Rectangle 36"/>
          <p:cNvSpPr/>
          <p:nvPr/>
        </p:nvSpPr>
        <p:spPr>
          <a:xfrm>
            <a:off x="5294376" y="33649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9" name="Rounded Rectangle 38"/>
          <p:cNvSpPr/>
          <p:nvPr/>
        </p:nvSpPr>
        <p:spPr>
          <a:xfrm>
            <a:off x="5294376" y="3822191"/>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1" name="Rounded Rectangle 40"/>
          <p:cNvSpPr/>
          <p:nvPr/>
        </p:nvSpPr>
        <p:spPr>
          <a:xfrm>
            <a:off x="5257800" y="4279392"/>
            <a:ext cx="475488"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3" name="Rounded Rectangle 42"/>
          <p:cNvSpPr/>
          <p:nvPr/>
        </p:nvSpPr>
        <p:spPr>
          <a:xfrm>
            <a:off x="5769864" y="4279392"/>
            <a:ext cx="475488"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5" name="Rounded Rectangle 44"/>
          <p:cNvSpPr/>
          <p:nvPr/>
        </p:nvSpPr>
        <p:spPr>
          <a:xfrm>
            <a:off x="5294376" y="47365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7" name="Rounded Rectangle 46"/>
          <p:cNvSpPr/>
          <p:nvPr/>
        </p:nvSpPr>
        <p:spPr>
          <a:xfrm>
            <a:off x="5294376" y="51937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9" name="TextBox 48"/>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F6B7A"/>
                </a:solidFill>
                <a:latin typeface="Calibri"/>
              </a:rPr>
              <a:t>Memory types:  WORKING = live ticket + newest 5   |   EPISODIC = what happened   |   SEMANTIC = known facts + summary   |   PROCEDURAL (policy index, M2 rules) lives outside this store</a:t>
            </a:r>
          </a:p>
        </p:txBody>
      </p:sp>
      <p:sp>
        <p:nvSpPr>
          <p:cNvPr id="50" name="TextBox 4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51" name="Table 50"/>
          <p:cNvGraphicFramePr>
            <a:graphicFrameLocks noGrp="1"/>
          </p:cNvGraphicFramePr>
          <p:nvPr/>
        </p:nvGraphicFramePr>
        <p:xfrm>
          <a:off x="6263640" y="1691640"/>
          <a:ext cx="5394960" cy="219456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38912">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38912">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38912">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52" name="Rounded Rectangle 51"/>
          <p:cNvSpPr/>
          <p:nvPr/>
        </p:nvSpPr>
        <p:spPr>
          <a:xfrm>
            <a:off x="6263640" y="4114800"/>
            <a:ext cx="5394960" cy="13716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55080" y="4151376"/>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54" name="TextBox 53"/>
          <p:cNvSpPr txBox="1"/>
          <p:nvPr/>
        </p:nvSpPr>
        <p:spPr>
          <a:xfrm>
            <a:off x="6355080" y="4407408"/>
            <a:ext cx="5212080" cy="105156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55" name="TextBox 54"/>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answers are quoted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8" name="Connector 7"/>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47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10" name="Connector 9"/>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649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2" name="Connector 11"/>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Guardrail</a:t>
            </a:r>
          </a:p>
        </p:txBody>
      </p:sp>
      <p:cxnSp>
        <p:nvCxnSpPr>
          <p:cNvPr id="14" name="Connector 13"/>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Query + category</a:t>
            </a:r>
          </a:p>
        </p:txBody>
      </p:sp>
      <p:sp>
        <p:nvSpPr>
          <p:cNvPr id="17" name="Rounded Rectangle 16"/>
          <p:cNvSpPr/>
          <p:nvPr/>
        </p:nvSpPr>
        <p:spPr>
          <a:xfrm>
            <a:off x="1737360" y="2368296"/>
            <a:ext cx="155448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2 Other categories out</a:t>
            </a:r>
          </a:p>
        </p:txBody>
      </p:sp>
      <p:sp>
        <p:nvSpPr>
          <p:cNvPr id="19" name="Rounded Rectangle 18"/>
          <p:cNvSpPr/>
          <p:nvPr/>
        </p:nvSpPr>
        <p:spPr>
          <a:xfrm>
            <a:off x="1737360" y="2788920"/>
            <a:ext cx="155448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3 Dense + BM25 search</a:t>
            </a:r>
          </a:p>
        </p:txBody>
      </p:sp>
      <p:cxnSp>
        <p:nvCxnSpPr>
          <p:cNvPr id="21" name="Connector 20"/>
          <p:cNvCxnSpPr/>
          <p:nvPr/>
        </p:nvCxnSpPr>
        <p:spPr>
          <a:xfrm>
            <a:off x="2514600" y="3529584"/>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4 Top 5 chunks</a:t>
            </a:r>
          </a:p>
        </p:txBody>
      </p:sp>
      <p:sp>
        <p:nvSpPr>
          <p:cNvPr id="23" name="Rounded Rectangle 22"/>
          <p:cNvSpPr/>
          <p:nvPr/>
        </p:nvSpPr>
        <p:spPr>
          <a:xfrm>
            <a:off x="3017520" y="3630168"/>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5 Quote, skip injected</a:t>
            </a:r>
          </a:p>
        </p:txBody>
      </p:sp>
      <p:sp>
        <p:nvSpPr>
          <p:cNvPr id="25" name="Rounded Rectangle 24"/>
          <p:cNvSpPr/>
          <p:nvPr/>
        </p:nvSpPr>
        <p:spPr>
          <a:xfrm>
            <a:off x="3017520" y="4050792"/>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6 Cite, check numbers</a:t>
            </a:r>
          </a:p>
        </p:txBody>
      </p:sp>
      <p:cxnSp>
        <p:nvCxnSpPr>
          <p:cNvPr id="27" name="Connector 26"/>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Answer</a:t>
            </a:r>
          </a:p>
        </p:txBody>
      </p:sp>
      <p:cxnSp>
        <p:nvCxnSpPr>
          <p:cNvPr id="29" name="Connector 28"/>
          <p:cNvCxnSpPr/>
          <p:nvPr/>
        </p:nvCxnSpPr>
        <p:spPr>
          <a:xfrm flipH="1">
            <a:off x="1097280" y="5212080"/>
            <a:ext cx="41148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Allowed or blocked</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M1-M3: ORDER KW-O-000000, HOME &amp; KITCHEN</a:t>
            </a:r>
          </a:p>
        </p:txBody>
      </p:sp>
      <p:sp>
        <p:nvSpPr>
          <p:cNvPr id="32" name="Rounded Rectangle 31"/>
          <p:cNvSpPr/>
          <p:nvPr/>
        </p:nvSpPr>
        <p:spPr>
          <a:xfrm>
            <a:off x="6263640" y="1691640"/>
            <a:ext cx="5394960" cy="100584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7D32"/>
                </a:solidFill>
                <a:latin typeface="Calibri"/>
              </a:rPr>
              <a:t>The real query in the workflow (hostile ticket)</a:t>
            </a:r>
          </a:p>
          <a:p>
            <a:pPr>
              <a:spcAft>
                <a:spcPts val="200"/>
              </a:spcAft>
            </a:pPr>
            <a:r>
              <a:rPr sz="1000" b="0">
                <a:solidFill>
                  <a:srgbClr val="222B38"/>
                </a:solidFill>
                <a:latin typeface="Calibri"/>
              </a:rPr>
              <a:t>Issue + M1 summary + signals angry_or_abusive, refund_above_auto_cap. Answer: a value of INR 2,000.01 or more triggers refund_above_auto_cap. Cited: escalation-tone 7 and 4. This is why it goes to a human.</a:t>
            </a:r>
          </a:p>
        </p:txBody>
      </p:sp>
      <p:sp>
        <p:nvSpPr>
          <p:cNvPr id="34" name="Rounded Rectangle 33"/>
          <p:cNvSpPr/>
          <p:nvPr/>
        </p:nvSpPr>
        <p:spPr>
          <a:xfrm>
            <a:off x="6263640" y="278892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Same order, plain question: how long to report damage?</a:t>
            </a:r>
          </a:p>
          <a:p>
            <a:pPr>
              <a:spcAft>
                <a:spcPts val="200"/>
              </a:spcAft>
            </a:pPr>
            <a:r>
              <a:rPr sz="1000" b="0">
                <a:solidFill>
                  <a:srgbClr val="222B38"/>
                </a:solidFill>
                <a:latin typeface="Calibri"/>
              </a:rPr>
              <a:t>With the category: 30 days (Home &amp; Kitchen). Without it: the Groceries rule, 2 days. Wrong for a Rs 12,999 item.</a:t>
            </a:r>
          </a:p>
        </p:txBody>
      </p:sp>
      <p:sp>
        <p:nvSpPr>
          <p:cNvPr id="36" name="TextBox 35"/>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WHY WE CAN TRUST IT: 24 TEST QUESTIONS</a:t>
            </a:r>
          </a:p>
        </p:txBody>
      </p:sp>
      <p:graphicFrame>
        <p:nvGraphicFramePr>
          <p:cNvPr id="37" name="Table 36"/>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142B4D"/>
                    </a:solidFill>
                  </a:tcPr>
                </a:tc>
                <a:tc>
                  <a:txBody>
                    <a:bodyPr wrap="square"/>
                    <a:lstStyle/>
                    <a:p>
                      <a:pPr>
                        <a:spcAft>
                          <a:spcPts val="0"/>
                        </a:spcAft>
                      </a:pPr>
                      <a:r>
                        <a:rPr sz="1050" b="1">
                          <a:solidFill>
                            <a:srgbClr val="FFFFFF"/>
                          </a:solidFill>
                          <a:latin typeface="Calibri"/>
                        </a:rPr>
                        <a:t>Result</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Right document in top 3 (hybrid)</a:t>
                      </a:r>
                    </a:p>
                  </a:txBody>
                  <a:tcPr marT="36576" marB="36576">
                    <a:solidFill>
                      <a:srgbClr val="EEF3F8"/>
                    </a:solidFill>
                  </a:tcPr>
                </a:tc>
                <a:tc>
                  <a:txBody>
                    <a:bodyPr wrap="square"/>
                    <a:lstStyle/>
                    <a:p>
                      <a:pPr>
                        <a:spcAft>
                          <a:spcPts val="0"/>
                        </a:spcAft>
                      </a:pPr>
                      <a:r>
                        <a:rPr sz="1050" b="0">
                          <a:solidFill>
                            <a:srgbClr val="222B38"/>
                          </a:solidFill>
                          <a:latin typeface="Calibri"/>
                        </a:rPr>
                        <a:t>24 / 24  (dense only 0.98)</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222B38"/>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Right answer, with order category</a:t>
                      </a:r>
                    </a:p>
                  </a:txBody>
                  <a:tcPr marT="36576" marB="36576">
                    <a:solidFill>
                      <a:srgbClr val="EEF3F8"/>
                    </a:solidFill>
                  </a:tcPr>
                </a:tc>
                <a:tc>
                  <a:txBody>
                    <a:bodyPr wrap="square"/>
                    <a:lstStyle/>
                    <a:p>
                      <a:pPr>
                        <a:spcAft>
                          <a:spcPts val="0"/>
                        </a:spcAft>
                      </a:pPr>
                      <a:r>
                        <a:rPr sz="1050" b="0">
                          <a:solidFill>
                            <a:srgbClr val="222B38"/>
                          </a:solidFill>
                          <a:latin typeface="Calibri"/>
                        </a:rPr>
                        <a:t>24 / 24</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222B38"/>
                          </a:solidFill>
                          <a:latin typeface="Calibri"/>
                        </a:rPr>
                        <a:t>24 / 24</a:t>
                      </a:r>
                    </a:p>
                  </a:txBody>
                  <a:tcPr marT="36576" marB="36576">
                    <a:solidFill>
                      <a:srgbClr val="FFFFFF"/>
                    </a:solidFill>
                  </a:tcPr>
                </a:tc>
              </a:tr>
            </a:tbl>
          </a:graphicData>
        </a:graphic>
      </p:graphicFrame>
      <p:sp>
        <p:nvSpPr>
          <p:cNvPr id="38" name="TextBox 37"/>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142B4D"/>
                </a:solidFill>
                <a:latin typeface="Calibri"/>
              </a:rPr>
              <a:t>No LLM writes the answer, so nothing can be invented. The order's category picks the rulebook. Ticket B (tracking) needs no policy, so M6 skips it; ticket C cites escalation-tone.</a:t>
            </a:r>
          </a:p>
        </p:txBody>
      </p:sp>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5  |  LANGGRAPH WORKFLOW,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the graph pauses for a human and survives a restart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933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10" name="Connector 9"/>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5643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2" name="Connector 11"/>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a:t>
            </a:r>
          </a:p>
        </p:txBody>
      </p:sp>
      <p:cxnSp>
        <p:nvCxnSpPr>
          <p:cNvPr id="14" name="Connector 13"/>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63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Start run</a:t>
            </a:r>
          </a:p>
        </p:txBody>
      </p:sp>
      <p:sp>
        <p:nvSpPr>
          <p:cNvPr id="17" name="Rounded Rectangle 16"/>
          <p:cNvSpPr/>
          <p:nvPr/>
        </p:nvSpPr>
        <p:spPr>
          <a:xfrm>
            <a:off x="1737360" y="2340864"/>
            <a:ext cx="219456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2 Triage, memory, policy, action</a:t>
            </a:r>
          </a:p>
        </p:txBody>
      </p:sp>
      <p:cxnSp>
        <p:nvCxnSpPr>
          <p:cNvPr id="19" name="Connector 18"/>
          <p:cNvCxnSpPr/>
          <p:nvPr/>
        </p:nvCxnSpPr>
        <p:spPr>
          <a:xfrm>
            <a:off x="2560320" y="3054096"/>
            <a:ext cx="146304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Save after each node</a:t>
            </a:r>
          </a:p>
        </p:txBody>
      </p:sp>
      <p:sp>
        <p:nvSpPr>
          <p:cNvPr id="21" name="Rounded Rectangle 20"/>
          <p:cNvSpPr/>
          <p:nvPr/>
        </p:nvSpPr>
        <p:spPr>
          <a:xfrm>
            <a:off x="1783080" y="3127248"/>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Route: over cap, so human</a:t>
            </a:r>
          </a:p>
        </p:txBody>
      </p:sp>
      <p:cxnSp>
        <p:nvCxnSpPr>
          <p:cNvPr id="23" name="Connector 22"/>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Interrupt: pause</a:t>
            </a:r>
          </a:p>
        </p:txBody>
      </p:sp>
      <p:sp>
        <p:nvSpPr>
          <p:cNvPr id="25" name="Rounded Rectangle 24"/>
          <p:cNvSpPr/>
          <p:nvPr/>
        </p:nvSpPr>
        <p:spPr>
          <a:xfrm>
            <a:off x="2194560" y="3913632"/>
            <a:ext cx="2743200" cy="32918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6 Process may stop here</a:t>
            </a:r>
          </a:p>
        </p:txBody>
      </p:sp>
      <p:cxnSp>
        <p:nvCxnSpPr>
          <p:cNvPr id="27" name="Connector 26"/>
          <p:cNvCxnSpPr/>
          <p:nvPr/>
        </p:nvCxnSpPr>
        <p:spPr>
          <a:xfrm flipH="1">
            <a:off x="2560320" y="4626864"/>
            <a:ext cx="27432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Approved by ops_manager</a:t>
            </a:r>
          </a:p>
        </p:txBody>
      </p:sp>
      <p:sp>
        <p:nvSpPr>
          <p:cNvPr id="29" name="Rounded Rectangle 28"/>
          <p:cNvSpPr/>
          <p:nvPr/>
        </p:nvSpPr>
        <p:spPr>
          <a:xfrm>
            <a:off x="1783080" y="4700016"/>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8 Execute once, audit it</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M1-M4: ORDER KW-O-000000, RS 12,999</a:t>
            </a:r>
          </a:p>
        </p:txBody>
      </p:sp>
      <p:sp>
        <p:nvSpPr>
          <p:cNvPr id="32" name="Rounded Rectangle 31"/>
          <p:cNvSpPr/>
          <p:nvPr/>
        </p:nvSpPr>
        <p:spPr>
          <a:xfrm>
            <a:off x="6263640" y="1691640"/>
            <a:ext cx="5394960" cy="86868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7D32"/>
                </a:solidFill>
                <a:latin typeface="Calibri"/>
              </a:rPr>
              <a:t>Real run, with a real process restart</a:t>
            </a:r>
          </a:p>
          <a:p>
            <a:pPr>
              <a:spcAft>
                <a:spcPts val="200"/>
              </a:spcAft>
            </a:pPr>
            <a:r>
              <a:rPr sz="1000" b="0">
                <a:solidFill>
                  <a:srgbClr val="222B38"/>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4" name="Rounded Rectangle 33"/>
          <p:cNvSpPr/>
          <p:nvPr/>
        </p:nvSpPr>
        <p:spPr>
          <a:xfrm>
            <a:off x="6263640" y="265176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What approval does here</a:t>
            </a:r>
          </a:p>
          <a:p>
            <a:pPr>
              <a:spcAft>
                <a:spcPts val="200"/>
              </a:spcAft>
            </a:pPr>
            <a:r>
              <a:rPr sz="1000" b="0">
                <a:solidFill>
                  <a:srgbClr val="222B38"/>
                </a:solidFill>
                <a:latin typeface="Calibri"/>
              </a:rPr>
              <a:t>The case is filed to the human desk (flag_for_human). It does not pay the Rs 12,999. The approver and time go into the audit log.</a:t>
            </a:r>
          </a:p>
        </p:txBody>
      </p:sp>
      <p:sp>
        <p:nvSpPr>
          <p:cNvPr id="36" name="TextBox 35"/>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WORKFLOW GUARANTEES</a:t>
            </a:r>
          </a:p>
        </p:txBody>
      </p:sp>
      <p:graphicFrame>
        <p:nvGraphicFramePr>
          <p:cNvPr id="37" name="Table 36"/>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Guarantee</a:t>
                      </a:r>
                    </a:p>
                  </a:txBody>
                  <a:tcPr marT="36576" marB="36576">
                    <a:solidFill>
                      <a:srgbClr val="142B4D"/>
                    </a:solidFill>
                  </a:tcPr>
                </a:tc>
                <a:tc>
                  <a:txBody>
                    <a:bodyPr wrap="square"/>
                    <a:lstStyle/>
                    <a:p>
                      <a:pPr>
                        <a:spcAft>
                          <a:spcPts val="0"/>
                        </a:spcAft>
                      </a:pPr>
                      <a:r>
                        <a:rPr sz="105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50" b="0">
                          <a:solidFill>
                            <a:srgbClr val="222B38"/>
                          </a:solidFill>
                          <a:latin typeface="Calibri"/>
                        </a:rPr>
                        <a:t>Typed state with an audit trail</a:t>
                      </a:r>
                    </a:p>
                  </a:txBody>
                  <a:tcPr marT="36576" marB="36576">
                    <a:solidFill>
                      <a:srgbClr val="EEF3F8"/>
                    </a:solidFill>
                  </a:tcPr>
                </a:tc>
                <a:tc>
                  <a:txBody>
                    <a:bodyPr wrap="square"/>
                    <a:lstStyle/>
                    <a:p>
                      <a:pPr>
                        <a:spcAft>
                          <a:spcPts val="0"/>
                        </a:spcAft>
                      </a:pPr>
                      <a:r>
                        <a:rPr sz="1050" b="0">
                          <a:solidFill>
                            <a:srgbClr val="222B38"/>
                          </a:solidFill>
                          <a:latin typeface="Calibri"/>
                        </a:rPr>
                        <a:t>audit_log (append)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Routing is plain, testable code</a:t>
                      </a:r>
                    </a:p>
                  </a:txBody>
                  <a:tcPr marT="36576" marB="36576">
                    <a:solidFill>
                      <a:srgbClr val="FFFFFF"/>
                    </a:solidFill>
                  </a:tcPr>
                </a:tc>
                <a:tc>
                  <a:txBody>
                    <a:bodyPr wrap="square"/>
                    <a:lstStyle/>
                    <a:p>
                      <a:pPr>
                        <a:spcAft>
                          <a:spcPts val="0"/>
                        </a:spcAft>
                      </a:pPr>
                      <a:r>
                        <a:rPr sz="1050" b="0">
                          <a:solidFill>
                            <a:srgbClr val="222B38"/>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222B38"/>
                          </a:solidFill>
                          <a:latin typeface="Calibri"/>
                        </a:rPr>
                        <a:t>State survives a restart</a:t>
                      </a:r>
                    </a:p>
                  </a:txBody>
                  <a:tcPr marT="36576" marB="36576">
                    <a:solidFill>
                      <a:srgbClr val="EEF3F8"/>
                    </a:solidFill>
                  </a:tcPr>
                </a:tc>
                <a:tc>
                  <a:txBody>
                    <a:bodyPr wrap="square"/>
                    <a:lstStyle/>
                    <a:p>
                      <a:pPr>
                        <a:spcAft>
                          <a:spcPts val="0"/>
                        </a:spcAft>
                      </a:pPr>
                      <a:r>
                        <a:rPr sz="1050" b="0">
                          <a:solidFill>
                            <a:srgbClr val="222B38"/>
                          </a:solidFill>
                          <a:latin typeface="Calibri"/>
                        </a:rPr>
                        <a:t>SqliteSaver, tested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Irreversible step runs once, after approval</a:t>
                      </a:r>
                    </a:p>
                  </a:txBody>
                  <a:tcPr marT="36576" marB="36576">
                    <a:solidFill>
                      <a:srgbClr val="FFFFFF"/>
                    </a:solidFill>
                  </a:tcPr>
                </a:tc>
                <a:tc>
                  <a:txBody>
                    <a:bodyPr wrap="square"/>
                    <a:lstStyle/>
                    <a:p>
                      <a:pPr>
                        <a:spcAft>
                          <a:spcPts val="0"/>
                        </a:spcAft>
                      </a:pPr>
                      <a:r>
                        <a:rPr sz="1050" b="0">
                          <a:solidFill>
                            <a:srgbClr val="222B38"/>
                          </a:solidFill>
                          <a:latin typeface="Calibri"/>
                        </a:rPr>
                        <a:t>own node, runs once</a:t>
                      </a:r>
                    </a:p>
                  </a:txBody>
                  <a:tcPr marT="36576" marB="36576">
                    <a:solidFill>
                      <a:srgbClr val="FFFFFF"/>
                    </a:solidFill>
                  </a:tcPr>
                </a:tc>
              </a:tr>
            </a:tbl>
          </a:graphicData>
        </a:graphic>
      </p:graphicFrame>
      <p:sp>
        <p:nvSpPr>
          <p:cNvPr id="38" name="Rounded Rectangle 37"/>
          <p:cNvSpPr/>
          <p:nvPr/>
        </p:nvSpPr>
        <p:spPr>
          <a:xfrm>
            <a:off x="6263640" y="5166360"/>
            <a:ext cx="5394960" cy="64008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55080" y="5193792"/>
            <a:ext cx="5212080" cy="594360"/>
          </a:xfrm>
          <a:prstGeom prst="rect">
            <a:avLst/>
          </a:prstGeom>
          <a:noFill/>
        </p:spPr>
        <p:txBody>
          <a:bodyPr wrap="square" lIns="45720" rIns="45720">
            <a:spAutoFit/>
          </a:bodyPr>
          <a:lstStyle/>
          <a:p>
            <a:pPr>
              <a:spcAft>
                <a:spcPts val="0"/>
              </a:spcAft>
            </a:pPr>
            <a:r>
              <a:rPr sz="1000" b="0">
                <a:solidFill>
                  <a:srgbClr val="222B38"/>
                </a:solidFill>
                <a:latin typeface="Calibri"/>
              </a:rPr>
              <a:t>Tickets B and C: B auto-resolves with no pause (5 checkpoints). C pauses at legal_or_regulatory; ops_manager approves, flag_for_human is filed (6 checkpoints).</a:t>
            </a:r>
          </a:p>
        </p:txBody>
      </p:sp>
      <p:sp>
        <p:nvSpPr>
          <p:cNvPr id="40" name="Rounded Rectangle 39"/>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6  |  SUPERVISED MULTI-AGENT TEAM,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M6: a supervisor routes, agents stay in their lanes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25603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Triage</a:t>
            </a:r>
          </a:p>
          <a:p>
            <a:pPr algn="ctr">
              <a:spcAft>
                <a:spcPts val="100"/>
              </a:spcAft>
            </a:pPr>
            <a:r>
              <a:rPr sz="1100" b="0">
                <a:solidFill>
                  <a:srgbClr val="FFFFFF"/>
                </a:solidFill>
                <a:latin typeface="Calibri"/>
              </a:rPr>
              <a:t>LLM</a:t>
            </a:r>
          </a:p>
        </p:txBody>
      </p:sp>
      <p:cxnSp>
        <p:nvCxnSpPr>
          <p:cNvPr id="8" name="Connector 7"/>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353312" y="1371600"/>
            <a:ext cx="1042415" cy="7315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Supervisor</a:t>
            </a:r>
          </a:p>
          <a:p>
            <a:pPr algn="ctr">
              <a:spcAft>
                <a:spcPts val="100"/>
              </a:spcAft>
            </a:pPr>
            <a:r>
              <a:rPr sz="1100" b="0">
                <a:solidFill>
                  <a:srgbClr val="FFFFFF"/>
                </a:solidFill>
                <a:latin typeface="Calibri"/>
              </a:rPr>
              <a:t>LLM</a:t>
            </a:r>
          </a:p>
        </p:txBody>
      </p:sp>
      <p:cxnSp>
        <p:nvCxnSpPr>
          <p:cNvPr id="10" name="Connector 9"/>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Lookups</a:t>
            </a:r>
          </a:p>
          <a:p>
            <a:pPr algn="ctr">
              <a:spcAft>
                <a:spcPts val="100"/>
              </a:spcAft>
            </a:pPr>
            <a:r>
              <a:rPr sz="1100" b="0">
                <a:solidFill>
                  <a:srgbClr val="FFFFFF"/>
                </a:solidFill>
                <a:latin typeface="Calibri"/>
              </a:rPr>
              <a:t>Memory, Policy</a:t>
            </a:r>
          </a:p>
        </p:txBody>
      </p:sp>
      <p:cxnSp>
        <p:nvCxnSpPr>
          <p:cNvPr id="12" name="Connector 11"/>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4787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4" name="Connector 13"/>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45152" y="1371600"/>
            <a:ext cx="1042415"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6" name="Connector 15"/>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742431"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8" name="Connector 17"/>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74320" y="2130551"/>
            <a:ext cx="173736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751" y="2157984"/>
            <a:ext cx="1682495"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1 Fills the ticket form</a:t>
            </a:r>
          </a:p>
        </p:txBody>
      </p:sp>
      <p:cxnSp>
        <p:nvCxnSpPr>
          <p:cNvPr id="21" name="Connector 20"/>
          <p:cNvCxnSpPr/>
          <p:nvPr/>
        </p:nvCxnSpPr>
        <p:spPr>
          <a:xfrm>
            <a:off x="777240" y="2779775"/>
            <a:ext cx="109727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95528" y="2551175"/>
            <a:ext cx="106070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2 Fields only</a:t>
            </a:r>
          </a:p>
        </p:txBody>
      </p:sp>
      <p:sp>
        <p:nvSpPr>
          <p:cNvPr id="23" name="Rounded Rectangle 22"/>
          <p:cNvSpPr/>
          <p:nvPr/>
        </p:nvSpPr>
        <p:spPr>
          <a:xfrm>
            <a:off x="1325880" y="2825495"/>
            <a:ext cx="2057400" cy="292608"/>
          </a:xfrm>
          <a:prstGeom prst="roundRect">
            <a:avLst>
              <a:gd name="adj" fmla="val 8000"/>
            </a:avLst>
          </a:prstGeom>
          <a:solidFill>
            <a:srgbClr val="EEF3F8"/>
          </a:solidFill>
          <a:ln w="15875">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53312" y="2852927"/>
            <a:ext cx="2002536" cy="237744"/>
          </a:xfrm>
          <a:prstGeom prst="rect">
            <a:avLst/>
          </a:prstGeom>
          <a:noFill/>
        </p:spPr>
        <p:txBody>
          <a:bodyPr wrap="square" lIns="45720" rIns="45720">
            <a:spAutoFit/>
          </a:bodyPr>
          <a:lstStyle/>
          <a:p>
            <a:pPr algn="ctr">
              <a:spcAft>
                <a:spcPts val="0"/>
              </a:spcAft>
            </a:pPr>
            <a:r>
              <a:rPr sz="1000" b="1">
                <a:solidFill>
                  <a:srgbClr val="0F8B8D"/>
                </a:solidFill>
                <a:latin typeface="Calibri"/>
              </a:rPr>
              <a:t>3 Route, clamped by code</a:t>
            </a:r>
          </a:p>
        </p:txBody>
      </p:sp>
      <p:cxnSp>
        <p:nvCxnSpPr>
          <p:cNvPr id="25" name="Connector 24"/>
          <p:cNvCxnSpPr/>
          <p:nvPr/>
        </p:nvCxnSpPr>
        <p:spPr>
          <a:xfrm>
            <a:off x="1874519" y="3474720"/>
            <a:ext cx="109728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892807" y="324612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4 Memory, policy</a:t>
            </a:r>
          </a:p>
        </p:txBody>
      </p:sp>
      <p:cxnSp>
        <p:nvCxnSpPr>
          <p:cNvPr id="27" name="Connector 26"/>
          <p:cNvCxnSpPr/>
          <p:nvPr/>
        </p:nvCxnSpPr>
        <p:spPr>
          <a:xfrm>
            <a:off x="2971800" y="3822191"/>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990088" y="3593591"/>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5 Answer</a:t>
            </a:r>
          </a:p>
        </p:txBody>
      </p:sp>
      <p:sp>
        <p:nvSpPr>
          <p:cNvPr id="29" name="Rounded Rectangle 28"/>
          <p:cNvSpPr/>
          <p:nvPr/>
        </p:nvSpPr>
        <p:spPr>
          <a:xfrm>
            <a:off x="3291840" y="3867911"/>
            <a:ext cx="155448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9272" y="3895343"/>
            <a:ext cx="1499616"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6 Plan, no write</a:t>
            </a:r>
          </a:p>
        </p:txBody>
      </p:sp>
      <p:cxnSp>
        <p:nvCxnSpPr>
          <p:cNvPr id="31" name="Connector 30"/>
          <p:cNvCxnSpPr/>
          <p:nvPr/>
        </p:nvCxnSpPr>
        <p:spPr>
          <a:xfrm>
            <a:off x="4069080" y="4517136"/>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4087368" y="4288536"/>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7 Proposal</a:t>
            </a:r>
          </a:p>
        </p:txBody>
      </p:sp>
      <p:sp>
        <p:nvSpPr>
          <p:cNvPr id="33" name="Rounded Rectangle 32"/>
          <p:cNvSpPr/>
          <p:nvPr/>
        </p:nvSpPr>
        <p:spPr>
          <a:xfrm>
            <a:off x="4114800" y="4562856"/>
            <a:ext cx="2286000" cy="292608"/>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42232" y="4590288"/>
            <a:ext cx="2231136" cy="237744"/>
          </a:xfrm>
          <a:prstGeom prst="rect">
            <a:avLst/>
          </a:prstGeom>
          <a:noFill/>
        </p:spPr>
        <p:txBody>
          <a:bodyPr wrap="square" lIns="45720" rIns="45720">
            <a:spAutoFit/>
          </a:bodyPr>
          <a:lstStyle/>
          <a:p>
            <a:pPr algn="ctr">
              <a:spcAft>
                <a:spcPts val="0"/>
              </a:spcAft>
            </a:pPr>
            <a:r>
              <a:rPr sz="1000" b="1">
                <a:solidFill>
                  <a:srgbClr val="C0392B"/>
                </a:solidFill>
                <a:latin typeface="Calibri"/>
              </a:rPr>
              <a:t>8 Re-check; revise max 2</a:t>
            </a:r>
          </a:p>
        </p:txBody>
      </p:sp>
      <p:cxnSp>
        <p:nvCxnSpPr>
          <p:cNvPr id="35" name="Connector 34"/>
          <p:cNvCxnSpPr/>
          <p:nvPr/>
        </p:nvCxnSpPr>
        <p:spPr>
          <a:xfrm flipH="1">
            <a:off x="4069080" y="5212080"/>
            <a:ext cx="1097280"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087368" y="498348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9 Force human</a:t>
            </a:r>
          </a:p>
        </p:txBody>
      </p:sp>
      <p:cxnSp>
        <p:nvCxnSpPr>
          <p:cNvPr id="37" name="Connector 36"/>
          <p:cNvCxnSpPr/>
          <p:nvPr/>
        </p:nvCxnSpPr>
        <p:spPr>
          <a:xfrm>
            <a:off x="4069080" y="5559552"/>
            <a:ext cx="21945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087368" y="5330952"/>
            <a:ext cx="215798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10 flag_for_human, KW-HQ-00002</a:t>
            </a:r>
          </a:p>
        </p:txBody>
      </p:sp>
      <p:sp>
        <p:nvSpPr>
          <p:cNvPr id="39" name="TextBox 38"/>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M1-M5, LIVE RUN OVER MCP</a:t>
            </a:r>
          </a:p>
        </p:txBody>
      </p:sp>
      <p:sp>
        <p:nvSpPr>
          <p:cNvPr id="40" name="Rounded Rectangle 39"/>
          <p:cNvSpPr/>
          <p:nvPr/>
        </p:nvSpPr>
        <p:spPr>
          <a:xfrm>
            <a:off x="6949440" y="1691640"/>
            <a:ext cx="4709160" cy="160020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7D32"/>
                </a:solidFill>
                <a:latin typeface="Calibri"/>
              </a:rPr>
              <a:t>Ticket A, hostile</a:t>
            </a:r>
          </a:p>
          <a:p>
            <a:pPr>
              <a:spcAft>
                <a:spcPts val="200"/>
              </a:spcAft>
            </a:pPr>
            <a:r>
              <a:rPr sz="1000" b="0">
                <a:solidFill>
                  <a:srgbClr val="222B38"/>
                </a:solidFill>
                <a:latin typeface="Calibri"/>
              </a:rPr>
              <a:t>Supervisor: full (the only route code allows for it). Guardrails: prompt_injection_blocked, refund_above_auto_cap_blocked. Reviewer: human_review. Queue KW-HQ-00002, same on email. The Rs 12,999 refund was not issued.</a:t>
            </a:r>
          </a:p>
          <a:p>
            <a:pPr>
              <a:spcAft>
                <a:spcPts val="200"/>
              </a:spcAft>
            </a:pPr>
            <a:r>
              <a:rPr sz="1000" b="1">
                <a:solidFill>
                  <a:srgbClr val="2E7D32"/>
                </a:solidFill>
                <a:latin typeface="Calibri"/>
              </a:rPr>
              <a:t>Tickets B and C</a:t>
            </a:r>
          </a:p>
          <a:p>
            <a:pPr>
              <a:spcAft>
                <a:spcPts val="200"/>
              </a:spcAft>
            </a:pPr>
            <a:r>
              <a:rPr sz="1000" b="0">
                <a:solidFill>
                  <a:srgbClr val="222B38"/>
                </a:solidFill>
                <a:latin typeface="Calibri"/>
              </a:rPr>
              <a:t>B, plain tracking: fast_track, policy skipped, track_shipment. C, court threat: escalate_now, straight to a human.</a:t>
            </a:r>
          </a:p>
        </p:txBody>
      </p:sp>
      <p:sp>
        <p:nvSpPr>
          <p:cNvPr id="42" name="TextBox 41"/>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TEAM GUARANTEES</a:t>
            </a:r>
          </a:p>
        </p:txBody>
      </p:sp>
      <p:graphicFrame>
        <p:nvGraphicFramePr>
          <p:cNvPr id="43" name="Table 42"/>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514600"/>
                <a:gridCol w="2194560"/>
              </a:tblGrid>
              <a:tr h="256032">
                <a:tc>
                  <a:txBody>
                    <a:bodyPr wrap="square"/>
                    <a:lstStyle/>
                    <a:p>
                      <a:pPr>
                        <a:spcAft>
                          <a:spcPts val="0"/>
                        </a:spcAft>
                      </a:pPr>
                      <a:r>
                        <a:rPr sz="1000" b="1">
                          <a:solidFill>
                            <a:srgbClr val="FFFFFF"/>
                          </a:solidFill>
                          <a:latin typeface="Calibri"/>
                        </a:rPr>
                        <a:t>Guarantee</a:t>
                      </a:r>
                    </a:p>
                  </a:txBody>
                  <a:tcPr marT="36576" marB="36576">
                    <a:solidFill>
                      <a:srgbClr val="142B4D"/>
                    </a:solidFill>
                  </a:tcPr>
                </a:tc>
                <a:tc>
                  <a:txBody>
                    <a:bodyPr wrap="square"/>
                    <a:lstStyle/>
                    <a:p>
                      <a:pPr>
                        <a:spcAft>
                          <a:spcPts val="0"/>
                        </a:spcAft>
                      </a:pPr>
                      <a:r>
                        <a:rPr sz="100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00" b="0">
                          <a:solidFill>
                            <a:srgbClr val="222B38"/>
                          </a:solidFill>
                          <a:latin typeface="Calibri"/>
                        </a:rPr>
                        <a:t>Each agent writes only its own keys</a:t>
                      </a:r>
                    </a:p>
                  </a:txBody>
                  <a:tcPr marT="36576" marB="36576">
                    <a:solidFill>
                      <a:srgbClr val="EEF3F8"/>
                    </a:solidFill>
                  </a:tcPr>
                </a:tc>
                <a:tc>
                  <a:txBody>
                    <a:bodyPr wrap="square"/>
                    <a:lstStyle/>
                    <a:p>
                      <a:pPr>
                        <a:spcAft>
                          <a:spcPts val="0"/>
                        </a:spcAft>
                      </a:pPr>
                      <a:r>
                        <a:rPr sz="1000" b="0">
                          <a:solidFill>
                            <a:srgbClr val="222B38"/>
                          </a:solidFill>
                          <a:latin typeface="Calibri"/>
                        </a:rPr>
                        <a:t>PermissionError,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Routing</a:t>
                      </a:r>
                    </a:p>
                  </a:txBody>
                  <a:tcPr marT="36576" marB="36576">
                    <a:solidFill>
                      <a:srgbClr val="FFFFFF"/>
                    </a:solidFill>
                  </a:tcPr>
                </a:tc>
                <a:tc>
                  <a:txBody>
                    <a:bodyPr wrap="square"/>
                    <a:lstStyle/>
                    <a:p>
                      <a:pPr>
                        <a:spcAft>
                          <a:spcPts val="0"/>
                        </a:spcAft>
                      </a:pPr>
                      <a:r>
                        <a:rPr sz="1000" b="0">
                          <a:solidFill>
                            <a:srgbClr val="222B38"/>
                          </a:solidFill>
                          <a:latin typeface="Calibri"/>
                        </a:rPr>
                        <a:t>LLM picks, code limits the menu</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Review before any write</a:t>
                      </a:r>
                    </a:p>
                  </a:txBody>
                  <a:tcPr marT="36576" marB="36576">
                    <a:solidFill>
                      <a:srgbClr val="EEF3F8"/>
                    </a:solidFill>
                  </a:tcPr>
                </a:tc>
                <a:tc>
                  <a:txBody>
                    <a:bodyPr wrap="square"/>
                    <a:lstStyle/>
                    <a:p>
                      <a:pPr>
                        <a:spcAft>
                          <a:spcPts val="0"/>
                        </a:spcAft>
                      </a:pPr>
                      <a:r>
                        <a:rPr sz="1000" b="0">
                          <a:solidFill>
                            <a:srgbClr val="222B38"/>
                          </a:solidFill>
                          <a:latin typeface="Calibri"/>
                        </a:rPr>
                        <a:t>reviewer only tightens,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Revision loop</a:t>
                      </a:r>
                    </a:p>
                  </a:txBody>
                  <a:tcPr marT="36576" marB="36576">
                    <a:solidFill>
                      <a:srgbClr val="FFFFFF"/>
                    </a:solidFill>
                  </a:tcPr>
                </a:tc>
                <a:tc>
                  <a:txBody>
                    <a:bodyPr wrap="square"/>
                    <a:lstStyle/>
                    <a:p>
                      <a:pPr>
                        <a:spcAft>
                          <a:spcPts val="0"/>
                        </a:spcAft>
                      </a:pPr>
                      <a:r>
                        <a:rPr sz="1000" b="0">
                          <a:solidFill>
                            <a:srgbClr val="222B38"/>
                          </a:solidFill>
                          <a:latin typeface="Calibri"/>
                        </a:rPr>
                        <a:t>max 2 rounds, then a human</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MCP: no delete or free-write tool</a:t>
                      </a:r>
                    </a:p>
                  </a:txBody>
                  <a:tcPr marT="36576" marB="36576">
                    <a:solidFill>
                      <a:srgbClr val="EEF3F8"/>
                    </a:solidFill>
                  </a:tcPr>
                </a:tc>
                <a:tc>
                  <a:txBody>
                    <a:bodyPr wrap="square"/>
                    <a:lstStyle/>
                    <a:p>
                      <a:pPr>
                        <a:spcAft>
                          <a:spcPts val="0"/>
                        </a:spcAft>
                      </a:pPr>
                      <a:r>
                        <a:rPr sz="1000" b="0">
                          <a:solidFill>
                            <a:srgbClr val="222B38"/>
                          </a:solidFill>
                          <a:latin typeface="Calibri"/>
                        </a:rPr>
                        <a:t>10 tools + 1 rules resource</a:t>
                      </a:r>
                    </a:p>
                  </a:txBody>
                  <a:tcPr marT="36576" marB="36576">
                    <a:solidFill>
                      <a:srgbClr val="EEF3F8"/>
                    </a:solidFill>
                  </a:tcPr>
                </a:tc>
              </a:tr>
            </a:tbl>
          </a:graphicData>
        </a:graphic>
      </p:graphicFrame>
      <p:sp>
        <p:nvSpPr>
          <p:cNvPr id="44" name="TextBox 43"/>
          <p:cNvSpPr txBox="1"/>
          <p:nvPr/>
        </p:nvSpPr>
        <p:spPr>
          <a:xfrm>
            <a:off x="6949440" y="5257800"/>
            <a:ext cx="4709160" cy="502920"/>
          </a:xfrm>
          <a:prstGeom prst="rect">
            <a:avLst/>
          </a:prstGeom>
          <a:noFill/>
        </p:spPr>
        <p:txBody>
          <a:bodyPr wrap="square" lIns="45720" rIns="45720">
            <a:spAutoFit/>
          </a:bodyPr>
          <a:lstStyle/>
          <a:p>
            <a:pPr>
              <a:spcAft>
                <a:spcPts val="600"/>
              </a:spcAft>
            </a:pPr>
            <a:r>
              <a:rPr sz="1100" b="1">
                <a:solidFill>
                  <a:srgbClr val="142B4D"/>
                </a:solidFill>
                <a:latin typeface="Calibri"/>
              </a:rPr>
              <a:t>Triage and the Supervisor call an LLM; the other four stages are code.</a:t>
            </a:r>
          </a:p>
        </p:txBody>
      </p:sp>
      <p:sp>
        <p:nvSpPr>
          <p:cNvPr id="45" name="Rounded Rectangle 44"/>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7 AND 8  |  IN PROGRESS, TO BE CHECKED AGAINST THE LABS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and M8: first version built, being finished next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M7  Tracing + reliability</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See every agent, tool and retrieval step; survive provider failures</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LangFuse spans plus local JSONL traces</a:t>
            </a:r>
          </a:p>
          <a:p>
            <a:pPr>
              <a:spcAft>
                <a:spcPts val="200"/>
              </a:spcAft>
            </a:pPr>
            <a:r>
              <a:rPr sz="1300" b="0">
                <a:solidFill>
                  <a:srgbClr val="222B38"/>
                </a:solidFill>
                <a:latin typeface="Calibri"/>
              </a:rPr>
              <a:t>•  LLM: schema re-ask, 429 backoff, 60s timeout. Tools: retry, circuit breaker, human-queue fallback</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Verified in LangFuse: Memory, Policy RAG, Order-Actions, Escalation spans</a:t>
            </a:r>
          </a:p>
          <a:p>
            <a:pPr>
              <a:spcAft>
                <a:spcPts val="200"/>
              </a:spcAft>
            </a:pPr>
            <a:r>
              <a:rPr sz="1300" b="0">
                <a:solidFill>
                  <a:srgbClr val="222B38"/>
                </a:solidFill>
                <a:latin typeface="Calibri"/>
              </a:rPr>
              <a:t>•  3 reliability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M8  Golden eval + FastAPI</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20-case golden set over 5 customers; /chat and /health API</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Each case states action, human-or-not, guardrail codes, forbidden actions</a:t>
            </a:r>
          </a:p>
          <a:p>
            <a:pPr>
              <a:spcAft>
                <a:spcPts val="200"/>
              </a:spcAft>
            </a:pPr>
            <a:r>
              <a:rPr sz="1300" b="0">
                <a:solidFill>
                  <a:srgbClr val="222B38"/>
                </a:solidFill>
                <a:latin typeface="Calibri"/>
              </a:rPr>
              <a:t>•  --live parses raw text with the real LLM</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20 of 20 stored, 20 of 20 live (Gemini)</a:t>
            </a:r>
          </a:p>
          <a:p>
            <a:pPr>
              <a:spcAft>
                <a:spcPts val="200"/>
              </a:spcAft>
            </a:pPr>
            <a:r>
              <a:rPr sz="1300" b="0">
                <a:solidFill>
                  <a:srgbClr val="222B38"/>
                </a:solidFill>
                <a:latin typeface="Calibri"/>
              </a:rPr>
              <a:t>•  Local uvicorn run verified; blocked tickets return 200 + human review</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scripts/run_m8_golden_eval.py --live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EVALUATION  |  RUN IT YOURSELF</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Results, honest limits, and the five-minute demo</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371600"/>
          <a:ext cx="4206240" cy="2487168"/>
        </p:xfrm>
        <a:graphic>
          <a:graphicData uri="http://schemas.openxmlformats.org/drawingml/2006/table">
            <a:tbl>
              <a:tblPr firstRow="1" bandRow="1">
                <a:tableStyleId>{5C22544A-7EE6-4342-B048-85BDC9FD1C3A}</a:tableStyleId>
              </a:tblPr>
              <a:tblGrid>
                <a:gridCol w="2743200"/>
                <a:gridCol w="1463040"/>
              </a:tblGrid>
              <a:tr h="310896">
                <a:tc>
                  <a:txBody>
                    <a:bodyPr wrap="square"/>
                    <a:lstStyle/>
                    <a:p>
                      <a:pPr>
                        <a:spcAft>
                          <a:spcPts val="0"/>
                        </a:spcAft>
                      </a:pPr>
                      <a:r>
                        <a:rPr sz="1100" b="1">
                          <a:solidFill>
                            <a:srgbClr val="FFFFFF"/>
                          </a:solidFill>
                          <a:latin typeface="Calibri"/>
                        </a:rPr>
                        <a:t>Check</a:t>
                      </a:r>
                    </a:p>
                  </a:txBody>
                  <a:tcPr marT="36576" marB="36576">
                    <a:solidFill>
                      <a:srgbClr val="142B4D"/>
                    </a:solidFill>
                  </a:tcPr>
                </a:tc>
                <a:tc>
                  <a:txBody>
                    <a:bodyPr wrap="square"/>
                    <a:lstStyle/>
                    <a:p>
                      <a:pPr>
                        <a:spcAft>
                          <a:spcPts val="0"/>
                        </a:spcAft>
                      </a:pPr>
                      <a:r>
                        <a:rPr sz="1100" b="1">
                          <a:solidFill>
                            <a:srgbClr val="FFFFFF"/>
                          </a:solidFill>
                          <a:latin typeface="Calibri"/>
                        </a:rPr>
                        <a:t>Result</a:t>
                      </a:r>
                    </a:p>
                  </a:txBody>
                  <a:tcPr marT="36576" marB="36576">
                    <a:solidFill>
                      <a:srgbClr val="142B4D"/>
                    </a:solidFill>
                  </a:tcPr>
                </a:tc>
              </a:tr>
              <a:tr h="310896">
                <a:tc>
                  <a:txBody>
                    <a:bodyPr wrap="square"/>
                    <a:lstStyle/>
                    <a:p>
                      <a:pPr>
                        <a:spcAft>
                          <a:spcPts val="0"/>
                        </a:spcAft>
                      </a:pPr>
                      <a:r>
                        <a:rPr sz="11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100" b="0">
                          <a:solidFill>
                            <a:srgbClr val="222B38"/>
                          </a:solidFill>
                          <a:latin typeface="Calibri"/>
                        </a:rPr>
                        <a:t>87 passed</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100" b="0">
                          <a:solidFill>
                            <a:srgbClr val="222B38"/>
                          </a:solidFill>
                          <a:latin typeface="Calibri"/>
                        </a:rPr>
                        <a:t>20 / 20</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100" b="0">
                          <a:solidFill>
                            <a:srgbClr val="222B38"/>
                          </a:solidFill>
                          <a:latin typeface="Calibri"/>
                        </a:rPr>
                        <a:t>20 / 20</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100" b="0">
                          <a:solidFill>
                            <a:srgbClr val="222B38"/>
                          </a:solidFill>
                          <a:latin typeface="Calibri"/>
                        </a:rPr>
                        <a:t>1.000</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100" b="0">
                          <a:solidFill>
                            <a:srgbClr val="222B38"/>
                          </a:solidFill>
                          <a:latin typeface="Calibri"/>
                        </a:rPr>
                        <a:t>24 / 24</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100" b="0">
                          <a:solidFill>
                            <a:srgbClr val="222B38"/>
                          </a:solidFill>
                          <a:latin typeface="Calibri"/>
                        </a:rPr>
                        <a:t>0.82</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1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4983480" y="1325880"/>
            <a:ext cx="3383280" cy="274320"/>
          </a:xfrm>
          <a:prstGeom prst="rect">
            <a:avLst/>
          </a:prstGeom>
          <a:noFill/>
        </p:spPr>
        <p:txBody>
          <a:bodyPr wrap="square" lIns="45720" rIns="45720">
            <a:spAutoFit/>
          </a:bodyPr>
          <a:lstStyle/>
          <a:p>
            <a:pPr>
              <a:spcAft>
                <a:spcPts val="600"/>
              </a:spcAft>
            </a:pPr>
            <a:r>
              <a:rPr sz="1000" b="1">
                <a:solidFill>
                  <a:srgbClr val="0F8B8D"/>
                </a:solidFill>
                <a:latin typeface="Calibri"/>
              </a:rPr>
              <a:t>FOUND BY RUNNING IT, THEN FIXED</a:t>
            </a:r>
          </a:p>
        </p:txBody>
      </p:sp>
      <p:sp>
        <p:nvSpPr>
          <p:cNvPr id="9" name="TextBox 8"/>
          <p:cNvSpPr txBox="1"/>
          <p:nvPr/>
        </p:nvSpPr>
        <p:spPr>
          <a:xfrm>
            <a:off x="4983480" y="1600200"/>
            <a:ext cx="3383280" cy="1828800"/>
          </a:xfrm>
          <a:prstGeom prst="rect">
            <a:avLst/>
          </a:prstGeom>
          <a:noFill/>
        </p:spPr>
        <p:txBody>
          <a:bodyPr wrap="square" lIns="45720" rIns="45720">
            <a:spAutoFit/>
          </a:bodyPr>
          <a:lstStyle/>
          <a:p>
            <a:pPr>
              <a:spcAft>
                <a:spcPts val="300"/>
              </a:spcAft>
            </a:pPr>
            <a:r>
              <a:rPr sz="1100" b="0">
                <a:solidFill>
                  <a:srgbClr val="222B38"/>
                </a:solidFill>
                <a:latin typeface="Calibri"/>
              </a:rPr>
              <a:t>•  Hash 'embeddings': Gemini + BM25 (recall@3 1.0)</a:t>
            </a:r>
          </a:p>
          <a:p>
            <a:pPr>
              <a:spcAft>
                <a:spcPts val="300"/>
              </a:spcAft>
            </a:pPr>
            <a:r>
              <a:rPr sz="1100" b="0">
                <a:solidFill>
                  <a:srgbClr val="222B38"/>
                </a:solidFill>
                <a:latin typeface="Calibri"/>
              </a:rPr>
              <a:t>•  Wrong category's window: category filter (22 to 24 of 24)</a:t>
            </a:r>
          </a:p>
          <a:p>
            <a:pPr>
              <a:spcAft>
                <a:spcPts val="300"/>
              </a:spcAft>
            </a:pPr>
            <a:r>
              <a:rPr sz="1100" b="0">
                <a:solidFill>
                  <a:srgbClr val="222B38"/>
                </a:solidFill>
                <a:latin typeface="Calibri"/>
              </a:rPr>
              <a:t>•  Hinglish injection missed: regex screen</a:t>
            </a:r>
          </a:p>
          <a:p>
            <a:pPr>
              <a:spcAft>
                <a:spcPts val="300"/>
              </a:spcAft>
            </a:pPr>
            <a:r>
              <a:rPr sz="1100" b="0">
                <a:solidFill>
                  <a:srgbClr val="222B38"/>
                </a:solidFill>
                <a:latin typeface="Calibri"/>
              </a:rPr>
              <a:t>•  Refund could run before the reviewer: reviewer now first</a:t>
            </a:r>
          </a:p>
        </p:txBody>
      </p:sp>
      <p:sp>
        <p:nvSpPr>
          <p:cNvPr id="10" name="TextBox 9"/>
          <p:cNvSpPr txBox="1"/>
          <p:nvPr/>
        </p:nvSpPr>
        <p:spPr>
          <a:xfrm>
            <a:off x="8549640" y="1325880"/>
            <a:ext cx="3108960" cy="274320"/>
          </a:xfrm>
          <a:prstGeom prst="rect">
            <a:avLst/>
          </a:prstGeom>
          <a:noFill/>
        </p:spPr>
        <p:txBody>
          <a:bodyPr wrap="square" lIns="45720" rIns="45720">
            <a:spAutoFit/>
          </a:bodyPr>
          <a:lstStyle/>
          <a:p>
            <a:pPr>
              <a:spcAft>
                <a:spcPts val="600"/>
              </a:spcAft>
            </a:pPr>
            <a:r>
              <a:rPr sz="1000" b="1">
                <a:solidFill>
                  <a:srgbClr val="C0392B"/>
                </a:solidFill>
                <a:latin typeface="Calibri"/>
              </a:rPr>
              <a:t>NOT COVERED</a:t>
            </a:r>
          </a:p>
        </p:txBody>
      </p:sp>
      <p:sp>
        <p:nvSpPr>
          <p:cNvPr id="11" name="TextBox 10"/>
          <p:cNvSpPr txBox="1"/>
          <p:nvPr/>
        </p:nvSpPr>
        <p:spPr>
          <a:xfrm>
            <a:off x="8549640" y="1600200"/>
            <a:ext cx="3108960" cy="2194560"/>
          </a:xfrm>
          <a:prstGeom prst="rect">
            <a:avLst/>
          </a:prstGeom>
          <a:noFill/>
        </p:spPr>
        <p:txBody>
          <a:bodyPr wrap="square" lIns="45720" rIns="45720">
            <a:spAutoFit/>
          </a:bodyPr>
          <a:lstStyle/>
          <a:p>
            <a:pPr>
              <a:spcAft>
                <a:spcPts val="300"/>
              </a:spcAft>
            </a:pPr>
            <a:r>
              <a:rPr sz="1100" b="0">
                <a:solidFill>
                  <a:srgbClr val="222B38"/>
                </a:solidFill>
                <a:latin typeface="Calibri"/>
              </a:rPr>
              <a:t>•  No PII redaction in traces; no auth on /chat</a:t>
            </a:r>
          </a:p>
          <a:p>
            <a:pPr>
              <a:spcAft>
                <a:spcPts val="300"/>
              </a:spcAft>
            </a:pPr>
            <a:r>
              <a:rPr sz="1100" b="0">
                <a:solidFill>
                  <a:srgbClr val="222B38"/>
                </a:solidFill>
                <a:latin typeface="Calibri"/>
              </a:rPr>
              <a:t>•  Injection regex can be evaded</a:t>
            </a:r>
          </a:p>
          <a:p>
            <a:pPr>
              <a:spcAft>
                <a:spcPts val="300"/>
              </a:spcAft>
            </a:pPr>
            <a:r>
              <a:rPr sz="1100" b="0">
                <a:solidFill>
                  <a:srgbClr val="222B38"/>
                </a:solidFill>
                <a:latin typeface="Calibri"/>
              </a:rPr>
              <a:t>•  Small corpus: retrieval numbers optimistic</a:t>
            </a:r>
          </a:p>
          <a:p>
            <a:pPr>
              <a:spcAft>
                <a:spcPts val="300"/>
              </a:spcAft>
            </a:pPr>
            <a:r>
              <a:rPr sz="1100" b="0">
                <a:solidFill>
                  <a:srgbClr val="222B38"/>
                </a:solidFill>
                <a:latin typeface="Calibri"/>
              </a:rPr>
              <a:t>•  Supervisor has a menu, not the lab's free star</a:t>
            </a:r>
          </a:p>
          <a:p>
            <a:pPr>
              <a:spcAft>
                <a:spcPts val="300"/>
              </a:spcAft>
            </a:pPr>
            <a:r>
              <a:rPr sz="1100" b="0">
                <a:solidFill>
                  <a:srgbClr val="222B38"/>
                </a:solidFill>
                <a:latin typeface="Calibri"/>
              </a:rPr>
              <a:t>•  Docker not exercised</a:t>
            </a:r>
          </a:p>
        </p:txBody>
      </p:sp>
      <p:graphicFrame>
        <p:nvGraphicFramePr>
          <p:cNvPr id="12" name="Table 11"/>
          <p:cNvGraphicFramePr>
            <a:graphicFrameLocks noGrp="1"/>
          </p:cNvGraphicFramePr>
          <p:nvPr/>
        </p:nvGraphicFramePr>
        <p:xfrm>
          <a:off x="548640" y="3977639"/>
          <a:ext cx="11109960" cy="1371600"/>
        </p:xfrm>
        <a:graphic>
          <a:graphicData uri="http://schemas.openxmlformats.org/drawingml/2006/table">
            <a:tbl>
              <a:tblPr firstRow="1" bandRow="1">
                <a:tableStyleId>{5C22544A-7EE6-4342-B048-85BDC9FD1C3A}</a:tableStyleId>
              </a:tblPr>
              <a:tblGrid>
                <a:gridCol w="1645920"/>
                <a:gridCol w="5120640"/>
                <a:gridCol w="4343400"/>
              </a:tblGrid>
              <a:tr h="274320">
                <a:tc>
                  <a:txBody>
                    <a:bodyPr wrap="square"/>
                    <a:lstStyle/>
                    <a:p>
                      <a:pPr>
                        <a:spcAft>
                          <a:spcPts val="0"/>
                        </a:spcAft>
                      </a:pPr>
                      <a:r>
                        <a:rPr sz="1050" b="1">
                          <a:solidFill>
                            <a:srgbClr val="FFFFFF"/>
                          </a:solidFill>
                          <a:latin typeface="Calibri"/>
                        </a:rPr>
                        <a:t>Demo step</a:t>
                      </a:r>
                    </a:p>
                  </a:txBody>
                  <a:tcPr marT="36576" marB="36576">
                    <a:solidFill>
                      <a:srgbClr val="142B4D"/>
                    </a:solidFill>
                  </a:tcPr>
                </a:tc>
                <a:tc>
                  <a:txBody>
                    <a:bodyPr wrap="square"/>
                    <a:lstStyle/>
                    <a:p>
                      <a:pPr>
                        <a:spcAft>
                          <a:spcPts val="0"/>
                        </a:spcAft>
                      </a:pPr>
                      <a:r>
                        <a:rPr sz="1050" b="1">
                          <a:solidFill>
                            <a:srgbClr val="FFFFFF"/>
                          </a:solidFill>
                          <a:latin typeface="Calibri"/>
                        </a:rPr>
                        <a:t>Command</a:t>
                      </a:r>
                    </a:p>
                  </a:txBody>
                  <a:tcPr marT="36576" marB="36576">
                    <a:solidFill>
                      <a:srgbClr val="142B4D"/>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1  Tests</a:t>
                      </a:r>
                    </a:p>
                  </a:txBody>
                  <a:tcPr marT="36576" marB="36576">
                    <a:solidFill>
                      <a:srgbClr val="EEF3F8"/>
                    </a:solidFill>
                  </a:tcPr>
                </a:tc>
                <a:tc>
                  <a:txBody>
                    <a:bodyPr wrap="square"/>
                    <a:lstStyle/>
                    <a:p>
                      <a:pPr>
                        <a:spcAft>
                          <a:spcPts val="0"/>
                        </a:spcAft>
                      </a:pPr>
                      <a:r>
                        <a:rPr sz="105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050" b="0">
                          <a:solidFill>
                            <a:srgbClr val="222B38"/>
                          </a:solidFill>
                          <a:latin typeface="Calibri"/>
                        </a:rPr>
                        <a:t>87 passed</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2  Milestones</a:t>
                      </a:r>
                    </a:p>
                  </a:txBody>
                  <a:tcPr marT="36576" marB="36576">
                    <a:solidFill>
                      <a:srgbClr val="FFFFFF"/>
                    </a:solidFill>
                  </a:tcPr>
                </a:tc>
                <a:tc>
                  <a:txBody>
                    <a:bodyPr wrap="square"/>
                    <a:lstStyle/>
                    <a:p>
                      <a:pPr>
                        <a:spcAft>
                          <a:spcPts val="0"/>
                        </a:spcAft>
                      </a:pPr>
                      <a:r>
                        <a:rPr sz="105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050" b="0">
                          <a:solidFill>
                            <a:srgbClr val="222B38"/>
                          </a:solidFill>
                          <a:latin typeface="Calibri"/>
                        </a:rPr>
                        <a:t>M1 to M8 on live LLM, Qdrant Cloud, LangFuse</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3  Golden eval</a:t>
                      </a:r>
                    </a:p>
                  </a:txBody>
                  <a:tcPr marT="36576" marB="36576">
                    <a:solidFill>
                      <a:srgbClr val="EEF3F8"/>
                    </a:solidFill>
                  </a:tcPr>
                </a:tc>
                <a:tc>
                  <a:txBody>
                    <a:bodyPr wrap="square"/>
                    <a:lstStyle/>
                    <a:p>
                      <a:pPr>
                        <a:spcAft>
                          <a:spcPts val="0"/>
                        </a:spcAft>
                      </a:pPr>
                      <a:r>
                        <a:rPr sz="105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050" b="0">
                          <a:solidFill>
                            <a:srgbClr val="222B38"/>
                          </a:solidFill>
                          <a:latin typeface="Calibri"/>
                        </a:rPr>
                        <a:t>20 of 20 with guardrail codes</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4  API</a:t>
                      </a:r>
                    </a:p>
                  </a:txBody>
                  <a:tcPr marT="36576" marB="36576">
                    <a:solidFill>
                      <a:srgbClr val="FFFFFF"/>
                    </a:solidFill>
                  </a:tcPr>
                </a:tc>
                <a:tc>
                  <a:txBody>
                    <a:bodyPr wrap="square"/>
                    <a:lstStyle/>
                    <a:p>
                      <a:pPr>
                        <a:spcAft>
                          <a:spcPts val="0"/>
                        </a:spcAft>
                      </a:pPr>
                      <a:r>
                        <a:rPr sz="105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050" b="0">
                          <a:solidFill>
                            <a:srgbClr val="222B38"/>
                          </a:solidFill>
                          <a:latin typeface="Calibri"/>
                        </a:rPr>
                        <a:t>/chat decisions for 7 cases</a:t>
                      </a:r>
                    </a:p>
                  </a:txBody>
                  <a:tcPr marT="36576" marB="36576">
                    <a:solidFill>
                      <a:srgbClr val="FFFFFF"/>
                    </a:solidFill>
                  </a:tcPr>
                </a:tc>
              </a:tr>
            </a:tbl>
          </a:graphicData>
        </a:graphic>
      </p:graphicFrame>
      <p:sp>
        <p:nvSpPr>
          <p:cNvPr id="13" name="Rounded Rectangle 12"/>
          <p:cNvSpPr/>
          <p:nvPr/>
        </p:nvSpPr>
        <p:spPr>
          <a:xfrm>
            <a:off x="548640" y="5486400"/>
            <a:ext cx="11109960" cy="8686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513832"/>
            <a:ext cx="10789920" cy="822960"/>
          </a:xfrm>
          <a:prstGeom prst="rect">
            <a:avLst/>
          </a:prstGeom>
          <a:noFill/>
        </p:spPr>
        <p:txBody>
          <a:bodyPr wrap="square" lIns="45720" rIns="45720">
            <a:spAutoFit/>
          </a:bodyPr>
          <a:lstStyle/>
          <a:p>
            <a:pPr>
              <a:spcAft>
                <a:spcPts val="300"/>
              </a:spcAft>
            </a:pPr>
            <a:r>
              <a:rPr sz="1400" b="1">
                <a:solidFill>
                  <a:srgbClr val="FFFFFF"/>
                </a:solidFill>
                <a:latin typeface="Calibri"/>
              </a:rPr>
              <a:t>Let the model read, let code decide. A fooled model still cannot move money.</a:t>
            </a:r>
          </a:p>
          <a:p>
            <a:pPr>
              <a:spcAft>
                <a:spcPts val="300"/>
              </a:spcAft>
            </a:pPr>
            <a:r>
              <a:rPr sz="1200" b="1">
                <a:solidFill>
                  <a:srgbClr val="FFFFFF"/>
                </a:solidFill>
                <a:latin typeface="Calibri"/>
              </a:rPr>
              <a:t>Measure, then fix. Every claim is runnable: 87 tests, 20 golden cases.   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