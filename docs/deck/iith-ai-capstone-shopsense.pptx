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6, M6 13,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In the workflow the query is the issue type, the M1 summary and the escalation signals, so for the hostile ticket the answer is the 2,000 cap rule that explains why it goes to a human; the category comes from the order, not from the LLM. Step 2 is the key one: the category addenda contradict each other (Groceries 2 days, Apparel 45, Home &amp; Kitchen 30), so other categories are excluded before searching. To show why the category matters, ask the plain question about the window: with the category the answer is 30 days, without it the Groceries rule says 2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Triage (M1), memory (M3), policy (M4) and action planning (M2) run as four graph nodes; after each one the state is written to a SQLite checkpoint. A plain function then routes: this ticket is above the 2,000 cap, so it goes to the human gate. The gate calls interrupt and the run stops. We tested a real restart: the first Python process ended, a second one opened the same SQLite file, found the run parked at the human gate and resumed it with an approval from ops_manager. The gate node only reads state before interrupt, because on resume that node re-runs from the top; the irreversible step is its own node after the pause and runs once (a test counts the calls). A rejection ends the run with status human_rejected and nothing executes. The audit log records who decided and when. Honest limits: approval here executes the escalation, meaning the case is filed to the human desk with flag_for_human; it does not issue the Rs 12,999 refund. The identity of the approver is recorded but not authenticated; that belongs to the API layer. The graph has no loops, so the lab's revision guard does not apply. Checks: pytest tests/unit/test_workflow.py. Full diagram: docs/diagrams/m5_workflow_sequence.md.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hostile sample, run live (Gemini) with MCP on and execute on. Six stages: Triage and the Supervisor are the two that call an LLM; Memory, Policy RAG, Order-Actions and the Escalation Reviewer are deterministic code. Each stage may write only its own keys on a shared board; a write outside the list raises PermissionError (tested). The Supervisor sees only the structured ticket, never the raw customer text, and picks full, fast_track or escalate_now. Code computes which of those are allowed for this ticket: a risky ticket (injection, signals, an amount, an angry tone) can only get full, so a fooled model cannot choose a shortcut; an off-menu answer or an LLM failure falls back to full. Live results: the hostile ticket got full and ended at a human (flag_for_human over MCP, queue KW-HQ-00002, the Rs 12,999 refund not issued); a plain tracking question got fast_track, skipped the policy lookup and ran track_shipment; a consumer-court threat got escalate_now and went straight to a human. The Escalation Reviewer re-checks the ticket, the plan and the policy answer itself and can only send a case to a human. It runs before any write tool. If it finds the policy answer ungrounded for a refund or replacement, it sends the plan back for a wider policy lookup, at most 2 rounds, then a human decides. Then the tool runs through one gateway, in-process or over the MCP server (CAPSTONE_TOOL_TRANSPORT=mcp). The MCP server has 10 tools and one resource (shopsense://policy/tool-rules); no delete or arbitrary-write tool; a wrong customer is refused over the protocol. Honest limit: this is a supervisor with a menu, not the lab's full star where a manager can call any agent in any order; we kept the reviewer and the write step outside its control on purpose. Checks: pytest tests/unit/test_multi_agent_team.py tests/unit/test_mcp_tools.py (20 tests). Diagram: docs/diagrams/m6_multi_agent_sequence.md.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middle column is the continuous-improvement story: each row is something the first real run exposed. Demo order: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M6 complete, M7 and M8 in progress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one gateway, Python or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(human interrupt)  |  M6 supervised agent team  |  M7 tracing + fallback  |  M8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M1-M3: ORDER KW-O-000000, HOME &amp; KITCHEN</a:t>
            </a:r>
          </a:p>
        </p:txBody>
      </p:sp>
      <p:sp>
        <p:nvSpPr>
          <p:cNvPr id="32" name="Rounded Rectangle 31"/>
          <p:cNvSpPr/>
          <p:nvPr/>
        </p:nvSpPr>
        <p:spPr>
          <a:xfrm>
            <a:off x="6263640" y="1691640"/>
            <a:ext cx="5394960" cy="100584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960120"/>
          </a:xfrm>
          <a:prstGeom prst="rect">
            <a:avLst/>
          </a:prstGeom>
          <a:noFill/>
        </p:spPr>
        <p:txBody>
          <a:bodyPr wrap="square" lIns="45720" rIns="45720">
            <a:spAutoFit/>
          </a:bodyPr>
          <a:lstStyle/>
          <a:p>
            <a:pPr>
              <a:spcAft>
                <a:spcPts val="200"/>
              </a:spcAft>
            </a:pPr>
            <a:r>
              <a:rPr sz="1000" b="1">
                <a:solidFill>
                  <a:srgbClr val="2E7D32"/>
                </a:solidFill>
                <a:latin typeface="Calibri"/>
              </a:rPr>
              <a:t>The real query in the workflow (hostile ticket)</a:t>
            </a:r>
          </a:p>
          <a:p>
            <a:pPr>
              <a:spcAft>
                <a:spcPts val="200"/>
              </a:spcAft>
            </a:pPr>
            <a:r>
              <a:rPr sz="1000" b="0">
                <a:solidFill>
                  <a:srgbClr val="222B38"/>
                </a:solidFill>
                <a:latin typeface="Calibri"/>
              </a:rPr>
              <a:t>Issue + M1 summary + signals angry_or_abusive, refund_above_auto_cap. Answer: a value of INR 2,000.01 or more triggers refund_above_auto_cap. Cited: escalation-tone 7 and 4. This is why it goes to a human.</a:t>
            </a:r>
          </a:p>
        </p:txBody>
      </p:sp>
      <p:sp>
        <p:nvSpPr>
          <p:cNvPr id="34" name="Rounded Rectangle 33"/>
          <p:cNvSpPr/>
          <p:nvPr/>
        </p:nvSpPr>
        <p:spPr>
          <a:xfrm>
            <a:off x="6263640" y="278892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81635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Same order, plain question: how long to report damage?</a:t>
            </a:r>
          </a:p>
          <a:p>
            <a:pPr>
              <a:spcAft>
                <a:spcPts val="200"/>
              </a:spcAft>
            </a:pPr>
            <a:r>
              <a:rPr sz="1000" b="0">
                <a:solidFill>
                  <a:srgbClr val="222B38"/>
                </a:solidFill>
                <a:latin typeface="Calibri"/>
              </a:rPr>
              <a:t>With the category: 30 days (Home &amp; Kitchen). Without it: the Groceries rule, 2 days. Wrong for a Rs 12,999 item.</a:t>
            </a:r>
          </a:p>
        </p:txBody>
      </p:sp>
      <p:sp>
        <p:nvSpPr>
          <p:cNvPr id="36" name="TextBox 35"/>
          <p:cNvSpPr txBox="1"/>
          <p:nvPr/>
        </p:nvSpPr>
        <p:spPr>
          <a:xfrm>
            <a:off x="6263640" y="3611880"/>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WHY WE CAN TRUST IT: 24 TEST QUESTIONS</a:t>
            </a:r>
          </a:p>
        </p:txBody>
      </p:sp>
      <p:graphicFrame>
        <p:nvGraphicFramePr>
          <p:cNvPr id="37" name="Table 36"/>
          <p:cNvGraphicFramePr>
            <a:graphicFrameLocks noGrp="1"/>
          </p:cNvGraphicFramePr>
          <p:nvPr/>
        </p:nvGraphicFramePr>
        <p:xfrm>
          <a:off x="6263640" y="3886200"/>
          <a:ext cx="5394960" cy="1371600"/>
        </p:xfrm>
        <a:graphic>
          <a:graphicData uri="http://schemas.openxmlformats.org/drawingml/2006/table">
            <a:tbl>
              <a:tblPr firstRow="1" bandRow="1">
                <a:tableStyleId>{5C22544A-7EE6-4342-B048-85BDC9FD1C3A}</a:tableStyleId>
              </a:tblPr>
              <a:tblGrid>
                <a:gridCol w="3200400"/>
                <a:gridCol w="2194560"/>
              </a:tblGrid>
              <a:tr h="274320">
                <a:tc>
                  <a:txBody>
                    <a:bodyPr wrap="square"/>
                    <a:lstStyle/>
                    <a:p>
                      <a:pPr>
                        <a:spcAft>
                          <a:spcPts val="0"/>
                        </a:spcAft>
                      </a:pPr>
                      <a:r>
                        <a:rPr sz="1050" b="1">
                          <a:solidFill>
                            <a:srgbClr val="FFFFFF"/>
                          </a:solidFill>
                          <a:latin typeface="Calibri"/>
                        </a:rPr>
                        <a:t>Test</a:t>
                      </a:r>
                    </a:p>
                  </a:txBody>
                  <a:tcPr marT="36576" marB="36576">
                    <a:solidFill>
                      <a:srgbClr val="142B4D"/>
                    </a:solidFill>
                  </a:tcPr>
                </a:tc>
                <a:tc>
                  <a:txBody>
                    <a:bodyPr wrap="square"/>
                    <a:lstStyle/>
                    <a:p>
                      <a:pPr>
                        <a:spcAft>
                          <a:spcPts val="0"/>
                        </a:spcAft>
                      </a:pPr>
                      <a:r>
                        <a:rPr sz="1050" b="1">
                          <a:solidFill>
                            <a:srgbClr val="FFFFFF"/>
                          </a:solidFill>
                          <a:latin typeface="Calibri"/>
                        </a:rPr>
                        <a:t>Result</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Right document in top 3 (hybrid)</a:t>
                      </a:r>
                    </a:p>
                  </a:txBody>
                  <a:tcPr marT="36576" marB="36576">
                    <a:solidFill>
                      <a:srgbClr val="EEF3F8"/>
                    </a:solidFill>
                  </a:tcPr>
                </a:tc>
                <a:tc>
                  <a:txBody>
                    <a:bodyPr wrap="square"/>
                    <a:lstStyle/>
                    <a:p>
                      <a:pPr>
                        <a:spcAft>
                          <a:spcPts val="0"/>
                        </a:spcAft>
                      </a:pPr>
                      <a:r>
                        <a:rPr sz="1050" b="0">
                          <a:solidFill>
                            <a:srgbClr val="222B38"/>
                          </a:solidFill>
                          <a:latin typeface="Calibri"/>
                        </a:rPr>
                        <a:t>24 / 24  (dense only 0.98)</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Right answer, no category</a:t>
                      </a:r>
                    </a:p>
                  </a:txBody>
                  <a:tcPr marT="36576" marB="36576">
                    <a:solidFill>
                      <a:srgbClr val="FFFFFF"/>
                    </a:solidFill>
                  </a:tcPr>
                </a:tc>
                <a:tc>
                  <a:txBody>
                    <a:bodyPr wrap="square"/>
                    <a:lstStyle/>
                    <a:p>
                      <a:pPr>
                        <a:spcAft>
                          <a:spcPts val="0"/>
                        </a:spcAft>
                      </a:pPr>
                      <a:r>
                        <a:rPr sz="1050" b="0">
                          <a:solidFill>
                            <a:srgbClr val="222B38"/>
                          </a:solidFill>
                          <a:latin typeface="Calibri"/>
                        </a:rPr>
                        <a:t>22 / 24</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Right answer, with order category</a:t>
                      </a:r>
                    </a:p>
                  </a:txBody>
                  <a:tcPr marT="36576" marB="36576">
                    <a:solidFill>
                      <a:srgbClr val="EEF3F8"/>
                    </a:solidFill>
                  </a:tcPr>
                </a:tc>
                <a:tc>
                  <a:txBody>
                    <a:bodyPr wrap="square"/>
                    <a:lstStyle/>
                    <a:p>
                      <a:pPr>
                        <a:spcAft>
                          <a:spcPts val="0"/>
                        </a:spcAft>
                      </a:pPr>
                      <a:r>
                        <a:rPr sz="1050" b="0">
                          <a:solidFill>
                            <a:srgbClr val="222B38"/>
                          </a:solidFill>
                          <a:latin typeface="Calibri"/>
                        </a:rPr>
                        <a:t>24 / 24</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Quoted sentences found in cited policy</a:t>
                      </a:r>
                    </a:p>
                  </a:txBody>
                  <a:tcPr marT="36576" marB="36576">
                    <a:solidFill>
                      <a:srgbClr val="FFFFFF"/>
                    </a:solidFill>
                  </a:tcPr>
                </a:tc>
                <a:tc>
                  <a:txBody>
                    <a:bodyPr wrap="square"/>
                    <a:lstStyle/>
                    <a:p>
                      <a:pPr>
                        <a:spcAft>
                          <a:spcPts val="0"/>
                        </a:spcAft>
                      </a:pPr>
                      <a:r>
                        <a:rPr sz="1050" b="0">
                          <a:solidFill>
                            <a:srgbClr val="222B38"/>
                          </a:solidFill>
                          <a:latin typeface="Calibri"/>
                        </a:rPr>
                        <a:t>24 / 24</a:t>
                      </a:r>
                    </a:p>
                  </a:txBody>
                  <a:tcPr marT="36576" marB="36576">
                    <a:solidFill>
                      <a:srgbClr val="FFFFFF"/>
                    </a:solidFill>
                  </a:tcPr>
                </a:tc>
              </a:tr>
            </a:tbl>
          </a:graphicData>
        </a:graphic>
      </p:graphicFrame>
      <p:sp>
        <p:nvSpPr>
          <p:cNvPr id="38" name="TextBox 37"/>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The order's category picks the right rulebook.</a:t>
            </a:r>
          </a:p>
        </p:txBody>
      </p:sp>
      <p:sp>
        <p:nvSpPr>
          <p:cNvPr id="39" name="Rounded Rectangle 38"/>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5  |  LANGGRAPH WORKFLOW,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the graph pauses for a human and survives a restart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933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Graph</a:t>
            </a:r>
          </a:p>
        </p:txBody>
      </p:sp>
      <p:cxnSp>
        <p:nvCxnSpPr>
          <p:cNvPr id="10" name="Connector 9"/>
          <p:cNvCxnSpPr/>
          <p:nvPr/>
        </p:nvCxnSpPr>
        <p:spPr>
          <a:xfrm>
            <a:off x="25603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5643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SQLite file</a:t>
            </a:r>
          </a:p>
        </p:txBody>
      </p:sp>
      <p:cxnSp>
        <p:nvCxnSpPr>
          <p:cNvPr id="12" name="Connector 11"/>
          <p:cNvCxnSpPr/>
          <p:nvPr/>
        </p:nvCxnSpPr>
        <p:spPr>
          <a:xfrm>
            <a:off x="402336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3659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a:t>
            </a:r>
          </a:p>
        </p:txBody>
      </p:sp>
      <p:cxnSp>
        <p:nvCxnSpPr>
          <p:cNvPr id="14" name="Connector 13"/>
          <p:cNvCxnSpPr/>
          <p:nvPr/>
        </p:nvCxnSpPr>
        <p:spPr>
          <a:xfrm>
            <a:off x="5303520" y="1828800"/>
            <a:ext cx="0" cy="324612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63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42646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Start run</a:t>
            </a:r>
          </a:p>
        </p:txBody>
      </p:sp>
      <p:sp>
        <p:nvSpPr>
          <p:cNvPr id="17" name="Rounded Rectangle 16"/>
          <p:cNvSpPr/>
          <p:nvPr/>
        </p:nvSpPr>
        <p:spPr>
          <a:xfrm>
            <a:off x="1737360" y="2340864"/>
            <a:ext cx="219456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377440"/>
            <a:ext cx="213969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2 Triage, memory, policy, action</a:t>
            </a:r>
          </a:p>
        </p:txBody>
      </p:sp>
      <p:cxnSp>
        <p:nvCxnSpPr>
          <p:cNvPr id="19" name="Connector 18"/>
          <p:cNvCxnSpPr/>
          <p:nvPr/>
        </p:nvCxnSpPr>
        <p:spPr>
          <a:xfrm>
            <a:off x="2560320" y="3054096"/>
            <a:ext cx="146304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578608" y="2807208"/>
            <a:ext cx="142646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Save after each node</a:t>
            </a:r>
          </a:p>
        </p:txBody>
      </p:sp>
      <p:sp>
        <p:nvSpPr>
          <p:cNvPr id="21" name="Rounded Rectangle 20"/>
          <p:cNvSpPr/>
          <p:nvPr/>
        </p:nvSpPr>
        <p:spPr>
          <a:xfrm>
            <a:off x="1783080" y="3127248"/>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163824"/>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4 Route: over cap, so human</a:t>
            </a:r>
          </a:p>
        </p:txBody>
      </p:sp>
      <p:cxnSp>
        <p:nvCxnSpPr>
          <p:cNvPr id="23" name="Connector 22"/>
          <p:cNvCxnSpPr/>
          <p:nvPr/>
        </p:nvCxnSpPr>
        <p:spPr>
          <a:xfrm>
            <a:off x="2560320" y="3840480"/>
            <a:ext cx="274320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578608" y="3593592"/>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Interrupt: pause</a:t>
            </a:r>
          </a:p>
        </p:txBody>
      </p:sp>
      <p:sp>
        <p:nvSpPr>
          <p:cNvPr id="25" name="Rounded Rectangle 24"/>
          <p:cNvSpPr/>
          <p:nvPr/>
        </p:nvSpPr>
        <p:spPr>
          <a:xfrm>
            <a:off x="2194560" y="3913632"/>
            <a:ext cx="2743200" cy="32918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21991" y="3950208"/>
            <a:ext cx="2688336" cy="256032"/>
          </a:xfrm>
          <a:prstGeom prst="rect">
            <a:avLst/>
          </a:prstGeom>
          <a:noFill/>
        </p:spPr>
        <p:txBody>
          <a:bodyPr wrap="square" lIns="45720" rIns="45720">
            <a:spAutoFit/>
          </a:bodyPr>
          <a:lstStyle/>
          <a:p>
            <a:pPr algn="ctr">
              <a:spcAft>
                <a:spcPts val="0"/>
              </a:spcAft>
            </a:pPr>
            <a:r>
              <a:rPr sz="1000" b="1">
                <a:solidFill>
                  <a:srgbClr val="C0392B"/>
                </a:solidFill>
                <a:latin typeface="Calibri"/>
              </a:rPr>
              <a:t>6 Process may stop here</a:t>
            </a:r>
          </a:p>
        </p:txBody>
      </p:sp>
      <p:cxnSp>
        <p:nvCxnSpPr>
          <p:cNvPr id="27" name="Connector 26"/>
          <p:cNvCxnSpPr/>
          <p:nvPr/>
        </p:nvCxnSpPr>
        <p:spPr>
          <a:xfrm flipH="1">
            <a:off x="2560320" y="4626864"/>
            <a:ext cx="27432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578608" y="4379976"/>
            <a:ext cx="27066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Approved by ops_manager</a:t>
            </a:r>
          </a:p>
        </p:txBody>
      </p:sp>
      <p:sp>
        <p:nvSpPr>
          <p:cNvPr id="29" name="Rounded Rectangle 28"/>
          <p:cNvSpPr/>
          <p:nvPr/>
        </p:nvSpPr>
        <p:spPr>
          <a:xfrm>
            <a:off x="1783080" y="4700016"/>
            <a:ext cx="1828800" cy="32918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736592"/>
            <a:ext cx="1773936" cy="256032"/>
          </a:xfrm>
          <a:prstGeom prst="rect">
            <a:avLst/>
          </a:prstGeom>
          <a:noFill/>
        </p:spPr>
        <p:txBody>
          <a:bodyPr wrap="square" lIns="45720" rIns="45720">
            <a:spAutoFit/>
          </a:bodyPr>
          <a:lstStyle/>
          <a:p>
            <a:pPr algn="ctr">
              <a:spcAft>
                <a:spcPts val="0"/>
              </a:spcAft>
            </a:pPr>
            <a:r>
              <a:rPr sz="1000" b="1">
                <a:solidFill>
                  <a:srgbClr val="222B38"/>
                </a:solidFill>
                <a:latin typeface="Calibri"/>
              </a:rPr>
              <a:t>8 Execute once, audit it</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M1-M4: ORDER KW-O-000000, RS 12,999</a:t>
            </a:r>
          </a:p>
        </p:txBody>
      </p:sp>
      <p:sp>
        <p:nvSpPr>
          <p:cNvPr id="32" name="Rounded Rectangle 31"/>
          <p:cNvSpPr/>
          <p:nvPr/>
        </p:nvSpPr>
        <p:spPr>
          <a:xfrm>
            <a:off x="6263640" y="1691640"/>
            <a:ext cx="5394960" cy="86868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19072"/>
            <a:ext cx="5212080" cy="822960"/>
          </a:xfrm>
          <a:prstGeom prst="rect">
            <a:avLst/>
          </a:prstGeom>
          <a:noFill/>
        </p:spPr>
        <p:txBody>
          <a:bodyPr wrap="square" lIns="45720" rIns="45720">
            <a:spAutoFit/>
          </a:bodyPr>
          <a:lstStyle/>
          <a:p>
            <a:pPr>
              <a:spcAft>
                <a:spcPts val="200"/>
              </a:spcAft>
            </a:pPr>
            <a:r>
              <a:rPr sz="1000" b="1">
                <a:solidFill>
                  <a:srgbClr val="2E7D32"/>
                </a:solidFill>
                <a:latin typeface="Calibri"/>
              </a:rPr>
              <a:t>Real run, with a real process restart</a:t>
            </a:r>
          </a:p>
          <a:p>
            <a:pPr>
              <a:spcAft>
                <a:spcPts val="200"/>
              </a:spcAft>
            </a:pPr>
            <a:r>
              <a:rPr sz="1000" b="0">
                <a:solidFill>
                  <a:srgbClr val="222B38"/>
                </a:solidFill>
                <a:latin typeface="Calibri"/>
              </a:rPr>
              <a:t>Paused at the human gate, trigger refund_above_auto_cap, 4 checkpoint files. A second Python process opened the same file: run recovered, parked at the gate. Resumed with approval: status human_approved_executed.</a:t>
            </a:r>
          </a:p>
        </p:txBody>
      </p:sp>
      <p:sp>
        <p:nvSpPr>
          <p:cNvPr id="34" name="Rounded Rectangle 33"/>
          <p:cNvSpPr/>
          <p:nvPr/>
        </p:nvSpPr>
        <p:spPr>
          <a:xfrm>
            <a:off x="6263640" y="2651760"/>
            <a:ext cx="5394960" cy="73152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5080" y="2679192"/>
            <a:ext cx="5212080" cy="685800"/>
          </a:xfrm>
          <a:prstGeom prst="rect">
            <a:avLst/>
          </a:prstGeom>
          <a:noFill/>
        </p:spPr>
        <p:txBody>
          <a:bodyPr wrap="square" lIns="45720" rIns="45720">
            <a:spAutoFit/>
          </a:bodyPr>
          <a:lstStyle/>
          <a:p>
            <a:pPr>
              <a:spcAft>
                <a:spcPts val="200"/>
              </a:spcAft>
            </a:pPr>
            <a:r>
              <a:rPr sz="1000" b="1">
                <a:solidFill>
                  <a:srgbClr val="142B4D"/>
                </a:solidFill>
                <a:latin typeface="Calibri"/>
              </a:rPr>
              <a:t>What approval does here</a:t>
            </a:r>
          </a:p>
          <a:p>
            <a:pPr>
              <a:spcAft>
                <a:spcPts val="200"/>
              </a:spcAft>
            </a:pPr>
            <a:r>
              <a:rPr sz="1000" b="0">
                <a:solidFill>
                  <a:srgbClr val="222B38"/>
                </a:solidFill>
                <a:latin typeface="Calibri"/>
              </a:rPr>
              <a:t>The case is filed to the human desk (flag_for_human). It does not pay the Rs 12,999. The approver and time go into the audit log.</a:t>
            </a:r>
          </a:p>
        </p:txBody>
      </p:sp>
      <p:sp>
        <p:nvSpPr>
          <p:cNvPr id="36" name="TextBox 35"/>
          <p:cNvSpPr txBox="1"/>
          <p:nvPr/>
        </p:nvSpPr>
        <p:spPr>
          <a:xfrm>
            <a:off x="6263640" y="3456432"/>
            <a:ext cx="53949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WORKFLOW GUARANTEES</a:t>
            </a:r>
          </a:p>
        </p:txBody>
      </p:sp>
      <p:graphicFrame>
        <p:nvGraphicFramePr>
          <p:cNvPr id="37" name="Table 36"/>
          <p:cNvGraphicFramePr>
            <a:graphicFrameLocks noGrp="1"/>
          </p:cNvGraphicFramePr>
          <p:nvPr/>
        </p:nvGraphicFramePr>
        <p:xfrm>
          <a:off x="6263640" y="3730752"/>
          <a:ext cx="5394960" cy="1280160"/>
        </p:xfrm>
        <a:graphic>
          <a:graphicData uri="http://schemas.openxmlformats.org/drawingml/2006/table">
            <a:tbl>
              <a:tblPr firstRow="1" bandRow="1">
                <a:tableStyleId>{5C22544A-7EE6-4342-B048-85BDC9FD1C3A}</a:tableStyleId>
              </a:tblPr>
              <a:tblGrid>
                <a:gridCol w="3200400"/>
                <a:gridCol w="2194560"/>
              </a:tblGrid>
              <a:tr h="256032">
                <a:tc>
                  <a:txBody>
                    <a:bodyPr wrap="square"/>
                    <a:lstStyle/>
                    <a:p>
                      <a:pPr>
                        <a:spcAft>
                          <a:spcPts val="0"/>
                        </a:spcAft>
                      </a:pPr>
                      <a:r>
                        <a:rPr sz="1050" b="1">
                          <a:solidFill>
                            <a:srgbClr val="FFFFFF"/>
                          </a:solidFill>
                          <a:latin typeface="Calibri"/>
                        </a:rPr>
                        <a:t>Guarantee</a:t>
                      </a:r>
                    </a:p>
                  </a:txBody>
                  <a:tcPr marT="36576" marB="36576">
                    <a:solidFill>
                      <a:srgbClr val="142B4D"/>
                    </a:solidFill>
                  </a:tcPr>
                </a:tc>
                <a:tc>
                  <a:txBody>
                    <a:bodyPr wrap="square"/>
                    <a:lstStyle/>
                    <a:p>
                      <a:pPr>
                        <a:spcAft>
                          <a:spcPts val="0"/>
                        </a:spcAft>
                      </a:pPr>
                      <a:r>
                        <a:rPr sz="105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50" b="0">
                          <a:solidFill>
                            <a:srgbClr val="222B38"/>
                          </a:solidFill>
                          <a:latin typeface="Calibri"/>
                        </a:rPr>
                        <a:t>Typed state with an audit trail</a:t>
                      </a:r>
                    </a:p>
                  </a:txBody>
                  <a:tcPr marT="36576" marB="36576">
                    <a:solidFill>
                      <a:srgbClr val="EEF3F8"/>
                    </a:solidFill>
                  </a:tcPr>
                </a:tc>
                <a:tc>
                  <a:txBody>
                    <a:bodyPr wrap="square"/>
                    <a:lstStyle/>
                    <a:p>
                      <a:pPr>
                        <a:spcAft>
                          <a:spcPts val="0"/>
                        </a:spcAft>
                      </a:pPr>
                      <a:r>
                        <a:rPr sz="1050" b="0">
                          <a:solidFill>
                            <a:srgbClr val="222B38"/>
                          </a:solidFill>
                          <a:latin typeface="Calibri"/>
                        </a:rPr>
                        <a:t>audit_log (append)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Routing is plain, testable code</a:t>
                      </a:r>
                    </a:p>
                  </a:txBody>
                  <a:tcPr marT="36576" marB="36576">
                    <a:solidFill>
                      <a:srgbClr val="FFFFFF"/>
                    </a:solidFill>
                  </a:tcPr>
                </a:tc>
                <a:tc>
                  <a:txBody>
                    <a:bodyPr wrap="square"/>
                    <a:lstStyle/>
                    <a:p>
                      <a:pPr>
                        <a:spcAft>
                          <a:spcPts val="0"/>
                        </a:spcAft>
                      </a:pPr>
                      <a:r>
                        <a:rPr sz="1050" b="0">
                          <a:solidFill>
                            <a:srgbClr val="222B38"/>
                          </a:solidFill>
                          <a:latin typeface="Calibri"/>
                        </a:rPr>
                        <a:t>tested without a graph</a:t>
                      </a:r>
                    </a:p>
                  </a:txBody>
                  <a:tcPr marT="36576" marB="36576">
                    <a:solidFill>
                      <a:srgbClr val="FFFFFF"/>
                    </a:solidFill>
                  </a:tcPr>
                </a:tc>
              </a:tr>
              <a:tr h="256032">
                <a:tc>
                  <a:txBody>
                    <a:bodyPr wrap="square"/>
                    <a:lstStyle/>
                    <a:p>
                      <a:pPr>
                        <a:spcAft>
                          <a:spcPts val="0"/>
                        </a:spcAft>
                      </a:pPr>
                      <a:r>
                        <a:rPr sz="1050" b="0">
                          <a:solidFill>
                            <a:srgbClr val="222B38"/>
                          </a:solidFill>
                          <a:latin typeface="Calibri"/>
                        </a:rPr>
                        <a:t>State survives a restart</a:t>
                      </a:r>
                    </a:p>
                  </a:txBody>
                  <a:tcPr marT="36576" marB="36576">
                    <a:solidFill>
                      <a:srgbClr val="EEF3F8"/>
                    </a:solidFill>
                  </a:tcPr>
                </a:tc>
                <a:tc>
                  <a:txBody>
                    <a:bodyPr wrap="square"/>
                    <a:lstStyle/>
                    <a:p>
                      <a:pPr>
                        <a:spcAft>
                          <a:spcPts val="0"/>
                        </a:spcAft>
                      </a:pPr>
                      <a:r>
                        <a:rPr sz="1050" b="0">
                          <a:solidFill>
                            <a:srgbClr val="222B38"/>
                          </a:solidFill>
                          <a:latin typeface="Calibri"/>
                        </a:rPr>
                        <a:t>SqliteSaver, tested</a:t>
                      </a:r>
                    </a:p>
                  </a:txBody>
                  <a:tcPr marT="36576" marB="36576">
                    <a:solidFill>
                      <a:srgbClr val="EEF3F8"/>
                    </a:solidFill>
                  </a:tcPr>
                </a:tc>
              </a:tr>
              <a:tr h="256032">
                <a:tc>
                  <a:txBody>
                    <a:bodyPr wrap="square"/>
                    <a:lstStyle/>
                    <a:p>
                      <a:pPr>
                        <a:spcAft>
                          <a:spcPts val="0"/>
                        </a:spcAft>
                      </a:pPr>
                      <a:r>
                        <a:rPr sz="1050" b="0">
                          <a:solidFill>
                            <a:srgbClr val="222B38"/>
                          </a:solidFill>
                          <a:latin typeface="Calibri"/>
                        </a:rPr>
                        <a:t>Irreversible step runs once, after approval</a:t>
                      </a:r>
                    </a:p>
                  </a:txBody>
                  <a:tcPr marT="36576" marB="36576">
                    <a:solidFill>
                      <a:srgbClr val="FFFFFF"/>
                    </a:solidFill>
                  </a:tcPr>
                </a:tc>
                <a:tc>
                  <a:txBody>
                    <a:bodyPr wrap="square"/>
                    <a:lstStyle/>
                    <a:p>
                      <a:pPr>
                        <a:spcAft>
                          <a:spcPts val="0"/>
                        </a:spcAft>
                      </a:pPr>
                      <a:r>
                        <a:rPr sz="1050" b="0">
                          <a:solidFill>
                            <a:srgbClr val="222B38"/>
                          </a:solidFill>
                          <a:latin typeface="Calibri"/>
                        </a:rPr>
                        <a:t>own node, runs once</a:t>
                      </a:r>
                    </a:p>
                  </a:txBody>
                  <a:tcPr marT="36576" marB="36576">
                    <a:solidFill>
                      <a:srgbClr val="FFFFFF"/>
                    </a:solidFill>
                  </a:tcPr>
                </a:tc>
              </a:tr>
            </a:tbl>
          </a:graphicData>
        </a:graphic>
      </p:graphicFrame>
      <p:sp>
        <p:nvSpPr>
          <p:cNvPr id="38" name="Rounded Rectangle 37"/>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6  |  SUPERVISED MULTI-AGENT TEAM,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M6: a supervisor routes, agents stay in their lanes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25603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Triage</a:t>
            </a:r>
          </a:p>
          <a:p>
            <a:pPr algn="ctr">
              <a:spcAft>
                <a:spcPts val="100"/>
              </a:spcAft>
            </a:pPr>
            <a:r>
              <a:rPr sz="1100" b="0">
                <a:solidFill>
                  <a:srgbClr val="FFFFFF"/>
                </a:solidFill>
                <a:latin typeface="Calibri"/>
              </a:rPr>
              <a:t>LLM</a:t>
            </a:r>
          </a:p>
        </p:txBody>
      </p:sp>
      <p:cxnSp>
        <p:nvCxnSpPr>
          <p:cNvPr id="8" name="Connector 7"/>
          <p:cNvCxnSpPr/>
          <p:nvPr/>
        </p:nvCxnSpPr>
        <p:spPr>
          <a:xfrm>
            <a:off x="7772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353312" y="1371600"/>
            <a:ext cx="1042415" cy="73152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Supervisor</a:t>
            </a:r>
          </a:p>
          <a:p>
            <a:pPr algn="ctr">
              <a:spcAft>
                <a:spcPts val="100"/>
              </a:spcAft>
            </a:pPr>
            <a:r>
              <a:rPr sz="1100" b="0">
                <a:solidFill>
                  <a:srgbClr val="FFFFFF"/>
                </a:solidFill>
                <a:latin typeface="Calibri"/>
              </a:rPr>
              <a:t>LLM</a:t>
            </a:r>
          </a:p>
        </p:txBody>
      </p:sp>
      <p:cxnSp>
        <p:nvCxnSpPr>
          <p:cNvPr id="10" name="Connector 9"/>
          <p:cNvCxnSpPr/>
          <p:nvPr/>
        </p:nvCxnSpPr>
        <p:spPr>
          <a:xfrm>
            <a:off x="1874519"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5059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Lookups</a:t>
            </a:r>
          </a:p>
          <a:p>
            <a:pPr algn="ctr">
              <a:spcAft>
                <a:spcPts val="100"/>
              </a:spcAft>
            </a:pPr>
            <a:r>
              <a:rPr sz="1100" b="0">
                <a:solidFill>
                  <a:srgbClr val="FFFFFF"/>
                </a:solidFill>
                <a:latin typeface="Calibri"/>
              </a:rPr>
              <a:t>Memory, Policy</a:t>
            </a:r>
          </a:p>
        </p:txBody>
      </p:sp>
      <p:cxnSp>
        <p:nvCxnSpPr>
          <p:cNvPr id="12" name="Connector 11"/>
          <p:cNvCxnSpPr/>
          <p:nvPr/>
        </p:nvCxnSpPr>
        <p:spPr>
          <a:xfrm>
            <a:off x="297180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547872" y="1371600"/>
            <a:ext cx="1042415" cy="7315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Actions</a:t>
            </a:r>
          </a:p>
          <a:p>
            <a:pPr algn="ctr">
              <a:spcAft>
                <a:spcPts val="100"/>
              </a:spcAft>
            </a:pPr>
            <a:r>
              <a:rPr sz="1100" b="0">
                <a:solidFill>
                  <a:srgbClr val="FFFFFF"/>
                </a:solidFill>
                <a:latin typeface="Calibri"/>
              </a:rPr>
              <a:t>plan, then run</a:t>
            </a:r>
          </a:p>
        </p:txBody>
      </p:sp>
      <p:cxnSp>
        <p:nvCxnSpPr>
          <p:cNvPr id="14" name="Connector 13"/>
          <p:cNvCxnSpPr/>
          <p:nvPr/>
        </p:nvCxnSpPr>
        <p:spPr>
          <a:xfrm>
            <a:off x="406908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45152" y="1371600"/>
            <a:ext cx="1042415" cy="7315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Reviewer</a:t>
            </a:r>
          </a:p>
          <a:p>
            <a:pPr algn="ctr">
              <a:spcAft>
                <a:spcPts val="100"/>
              </a:spcAft>
            </a:pPr>
            <a:r>
              <a:rPr sz="1100" b="0">
                <a:solidFill>
                  <a:srgbClr val="FFFFFF"/>
                </a:solidFill>
                <a:latin typeface="Calibri"/>
              </a:rPr>
              <a:t>re-checks</a:t>
            </a:r>
          </a:p>
        </p:txBody>
      </p:sp>
      <p:cxnSp>
        <p:nvCxnSpPr>
          <p:cNvPr id="16" name="Connector 15"/>
          <p:cNvCxnSpPr/>
          <p:nvPr/>
        </p:nvCxnSpPr>
        <p:spPr>
          <a:xfrm>
            <a:off x="516636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742431" y="1371600"/>
            <a:ext cx="1042415" cy="7315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MCP</a:t>
            </a:r>
          </a:p>
          <a:p>
            <a:pPr algn="ctr">
              <a:spcAft>
                <a:spcPts val="100"/>
              </a:spcAft>
            </a:pPr>
            <a:r>
              <a:rPr sz="1100" b="0">
                <a:solidFill>
                  <a:srgbClr val="222B38"/>
                </a:solidFill>
                <a:latin typeface="Calibri"/>
              </a:rPr>
              <a:t>server</a:t>
            </a:r>
          </a:p>
        </p:txBody>
      </p:sp>
      <p:cxnSp>
        <p:nvCxnSpPr>
          <p:cNvPr id="18" name="Connector 17"/>
          <p:cNvCxnSpPr/>
          <p:nvPr/>
        </p:nvCxnSpPr>
        <p:spPr>
          <a:xfrm>
            <a:off x="6263640" y="2103120"/>
            <a:ext cx="0" cy="365760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74320" y="2130551"/>
            <a:ext cx="173736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1751" y="2157984"/>
            <a:ext cx="1682495"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1 Fills the ticket form</a:t>
            </a:r>
          </a:p>
        </p:txBody>
      </p:sp>
      <p:cxnSp>
        <p:nvCxnSpPr>
          <p:cNvPr id="21" name="Connector 20"/>
          <p:cNvCxnSpPr/>
          <p:nvPr/>
        </p:nvCxnSpPr>
        <p:spPr>
          <a:xfrm>
            <a:off x="777240" y="2779775"/>
            <a:ext cx="1097279"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95528" y="2551175"/>
            <a:ext cx="106070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2 Fields only</a:t>
            </a:r>
          </a:p>
        </p:txBody>
      </p:sp>
      <p:sp>
        <p:nvSpPr>
          <p:cNvPr id="23" name="Rounded Rectangle 22"/>
          <p:cNvSpPr/>
          <p:nvPr/>
        </p:nvSpPr>
        <p:spPr>
          <a:xfrm>
            <a:off x="1325880" y="2825495"/>
            <a:ext cx="2057400" cy="292608"/>
          </a:xfrm>
          <a:prstGeom prst="roundRect">
            <a:avLst>
              <a:gd name="adj" fmla="val 8000"/>
            </a:avLst>
          </a:prstGeom>
          <a:solidFill>
            <a:srgbClr val="EEF3F8"/>
          </a:solidFill>
          <a:ln w="15875">
            <a:solidFill>
              <a:srgbClr val="0F8B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53312" y="2852927"/>
            <a:ext cx="2002536" cy="237744"/>
          </a:xfrm>
          <a:prstGeom prst="rect">
            <a:avLst/>
          </a:prstGeom>
          <a:noFill/>
        </p:spPr>
        <p:txBody>
          <a:bodyPr wrap="square" lIns="45720" rIns="45720">
            <a:spAutoFit/>
          </a:bodyPr>
          <a:lstStyle/>
          <a:p>
            <a:pPr algn="ctr">
              <a:spcAft>
                <a:spcPts val="0"/>
              </a:spcAft>
            </a:pPr>
            <a:r>
              <a:rPr sz="1000" b="1">
                <a:solidFill>
                  <a:srgbClr val="0F8B8D"/>
                </a:solidFill>
                <a:latin typeface="Calibri"/>
              </a:rPr>
              <a:t>3 Route, clamped by code</a:t>
            </a:r>
          </a:p>
        </p:txBody>
      </p:sp>
      <p:cxnSp>
        <p:nvCxnSpPr>
          <p:cNvPr id="25" name="Connector 24"/>
          <p:cNvCxnSpPr/>
          <p:nvPr/>
        </p:nvCxnSpPr>
        <p:spPr>
          <a:xfrm>
            <a:off x="1874519" y="3474720"/>
            <a:ext cx="1097281"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892807" y="324612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4 Memory, policy</a:t>
            </a:r>
          </a:p>
        </p:txBody>
      </p:sp>
      <p:cxnSp>
        <p:nvCxnSpPr>
          <p:cNvPr id="27" name="Connector 26"/>
          <p:cNvCxnSpPr/>
          <p:nvPr/>
        </p:nvCxnSpPr>
        <p:spPr>
          <a:xfrm>
            <a:off x="2971800" y="3822191"/>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990088" y="3593591"/>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5 Answer</a:t>
            </a:r>
          </a:p>
        </p:txBody>
      </p:sp>
      <p:sp>
        <p:nvSpPr>
          <p:cNvPr id="29" name="Rounded Rectangle 28"/>
          <p:cNvSpPr/>
          <p:nvPr/>
        </p:nvSpPr>
        <p:spPr>
          <a:xfrm>
            <a:off x="3291840" y="3867911"/>
            <a:ext cx="1554480" cy="292608"/>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19272" y="3895343"/>
            <a:ext cx="1499616" cy="237744"/>
          </a:xfrm>
          <a:prstGeom prst="rect">
            <a:avLst/>
          </a:prstGeom>
          <a:noFill/>
        </p:spPr>
        <p:txBody>
          <a:bodyPr wrap="square" lIns="45720" rIns="45720">
            <a:spAutoFit/>
          </a:bodyPr>
          <a:lstStyle/>
          <a:p>
            <a:pPr algn="ctr">
              <a:spcAft>
                <a:spcPts val="0"/>
              </a:spcAft>
            </a:pPr>
            <a:r>
              <a:rPr sz="1000" b="1">
                <a:solidFill>
                  <a:srgbClr val="222B38"/>
                </a:solidFill>
                <a:latin typeface="Calibri"/>
              </a:rPr>
              <a:t>6 Plan, no write</a:t>
            </a:r>
          </a:p>
        </p:txBody>
      </p:sp>
      <p:cxnSp>
        <p:nvCxnSpPr>
          <p:cNvPr id="31" name="Connector 30"/>
          <p:cNvCxnSpPr/>
          <p:nvPr/>
        </p:nvCxnSpPr>
        <p:spPr>
          <a:xfrm>
            <a:off x="4069080" y="4517136"/>
            <a:ext cx="10972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87368" y="4288536"/>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7 Proposal</a:t>
            </a:r>
          </a:p>
        </p:txBody>
      </p:sp>
      <p:sp>
        <p:nvSpPr>
          <p:cNvPr id="33" name="Rounded Rectangle 32"/>
          <p:cNvSpPr/>
          <p:nvPr/>
        </p:nvSpPr>
        <p:spPr>
          <a:xfrm>
            <a:off x="4114800" y="4562856"/>
            <a:ext cx="2286000" cy="292608"/>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42232" y="4590288"/>
            <a:ext cx="2231136" cy="237744"/>
          </a:xfrm>
          <a:prstGeom prst="rect">
            <a:avLst/>
          </a:prstGeom>
          <a:noFill/>
        </p:spPr>
        <p:txBody>
          <a:bodyPr wrap="square" lIns="45720" rIns="45720">
            <a:spAutoFit/>
          </a:bodyPr>
          <a:lstStyle/>
          <a:p>
            <a:pPr algn="ctr">
              <a:spcAft>
                <a:spcPts val="0"/>
              </a:spcAft>
            </a:pPr>
            <a:r>
              <a:rPr sz="1000" b="1">
                <a:solidFill>
                  <a:srgbClr val="C0392B"/>
                </a:solidFill>
                <a:latin typeface="Calibri"/>
              </a:rPr>
              <a:t>8 Re-check; revise max 2</a:t>
            </a:r>
          </a:p>
        </p:txBody>
      </p:sp>
      <p:cxnSp>
        <p:nvCxnSpPr>
          <p:cNvPr id="35" name="Connector 34"/>
          <p:cNvCxnSpPr/>
          <p:nvPr/>
        </p:nvCxnSpPr>
        <p:spPr>
          <a:xfrm flipH="1">
            <a:off x="4069080" y="5212080"/>
            <a:ext cx="1097280" cy="0"/>
          </a:xfrm>
          <a:prstGeom prst="line">
            <a:avLst/>
          </a:prstGeom>
          <a:ln w="25400">
            <a:solidFill>
              <a:srgbClr val="C0392B"/>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4087368" y="4983480"/>
            <a:ext cx="1060704"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9 Force human</a:t>
            </a:r>
          </a:p>
        </p:txBody>
      </p:sp>
      <p:cxnSp>
        <p:nvCxnSpPr>
          <p:cNvPr id="37" name="Connector 36"/>
          <p:cNvCxnSpPr/>
          <p:nvPr/>
        </p:nvCxnSpPr>
        <p:spPr>
          <a:xfrm>
            <a:off x="4069080" y="5559552"/>
            <a:ext cx="21945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087368" y="5330952"/>
            <a:ext cx="2157983" cy="219456"/>
          </a:xfrm>
          <a:prstGeom prst="rect">
            <a:avLst/>
          </a:prstGeom>
          <a:noFill/>
        </p:spPr>
        <p:txBody>
          <a:bodyPr wrap="square" lIns="45720" rIns="45720">
            <a:spAutoFit/>
          </a:bodyPr>
          <a:lstStyle/>
          <a:p>
            <a:pPr algn="ctr">
              <a:spcAft>
                <a:spcPts val="0"/>
              </a:spcAft>
            </a:pPr>
            <a:r>
              <a:rPr sz="1000" b="0">
                <a:solidFill>
                  <a:srgbClr val="222B38"/>
                </a:solidFill>
                <a:latin typeface="Calibri"/>
              </a:rPr>
              <a:t>10 flag_for_human, KW-HQ-00002</a:t>
            </a:r>
          </a:p>
        </p:txBody>
      </p:sp>
      <p:sp>
        <p:nvSpPr>
          <p:cNvPr id="39" name="TextBox 38"/>
          <p:cNvSpPr txBox="1"/>
          <p:nvPr/>
        </p:nvSpPr>
        <p:spPr>
          <a:xfrm>
            <a:off x="6949440" y="1371600"/>
            <a:ext cx="47091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TICKET AS M1-M5, LIVE RUN OVER MCP</a:t>
            </a:r>
          </a:p>
        </p:txBody>
      </p:sp>
      <p:sp>
        <p:nvSpPr>
          <p:cNvPr id="40" name="Rounded Rectangle 39"/>
          <p:cNvSpPr/>
          <p:nvPr/>
        </p:nvSpPr>
        <p:spPr>
          <a:xfrm>
            <a:off x="6949440" y="1691640"/>
            <a:ext cx="4709160" cy="1600200"/>
          </a:xfrm>
          <a:prstGeom prst="roundRect">
            <a:avLst>
              <a:gd name="adj" fmla="val 8000"/>
            </a:avLst>
          </a:prstGeom>
          <a:solidFill>
            <a:srgbClr val="E6F4EA"/>
          </a:solidFill>
          <a:ln w="1587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0" y="1719072"/>
            <a:ext cx="4526280" cy="1554480"/>
          </a:xfrm>
          <a:prstGeom prst="rect">
            <a:avLst/>
          </a:prstGeom>
          <a:noFill/>
        </p:spPr>
        <p:txBody>
          <a:bodyPr wrap="square" lIns="45720" rIns="45720">
            <a:spAutoFit/>
          </a:bodyPr>
          <a:lstStyle/>
          <a:p>
            <a:pPr>
              <a:spcAft>
                <a:spcPts val="200"/>
              </a:spcAft>
            </a:pPr>
            <a:r>
              <a:rPr sz="1000" b="1">
                <a:solidFill>
                  <a:srgbClr val="2E7D32"/>
                </a:solidFill>
                <a:latin typeface="Calibri"/>
              </a:rPr>
              <a:t>Hostile ticket</a:t>
            </a:r>
          </a:p>
          <a:p>
            <a:pPr>
              <a:spcAft>
                <a:spcPts val="200"/>
              </a:spcAft>
            </a:pPr>
            <a:r>
              <a:rPr sz="1000" b="0">
                <a:solidFill>
                  <a:srgbClr val="222B38"/>
                </a:solidFill>
                <a:latin typeface="Calibri"/>
              </a:rPr>
              <a:t>Supervisor: full (the only route code allows for it). Guardrails: prompt_injection_blocked, refund_above_auto_cap_blocked. Reviewer: human_review. Queue KW-HQ-00002, same on email. The Rs 12,999 refund was not issued.</a:t>
            </a:r>
          </a:p>
          <a:p>
            <a:pPr>
              <a:spcAft>
                <a:spcPts val="200"/>
              </a:spcAft>
            </a:pPr>
            <a:r>
              <a:rPr sz="1000" b="1">
                <a:solidFill>
                  <a:srgbClr val="2E7D32"/>
                </a:solidFill>
                <a:latin typeface="Calibri"/>
              </a:rPr>
              <a:t>Two other live tickets</a:t>
            </a:r>
          </a:p>
          <a:p>
            <a:pPr>
              <a:spcAft>
                <a:spcPts val="200"/>
              </a:spcAft>
            </a:pPr>
            <a:r>
              <a:rPr sz="1000" b="0">
                <a:solidFill>
                  <a:srgbClr val="222B38"/>
                </a:solidFill>
                <a:latin typeface="Calibri"/>
              </a:rPr>
              <a:t>Plain tracking: fast_track, policy skipped. Court threat: escalate_now, straight to a human.</a:t>
            </a:r>
          </a:p>
        </p:txBody>
      </p:sp>
      <p:sp>
        <p:nvSpPr>
          <p:cNvPr id="42" name="TextBox 41"/>
          <p:cNvSpPr txBox="1"/>
          <p:nvPr/>
        </p:nvSpPr>
        <p:spPr>
          <a:xfrm>
            <a:off x="6949440" y="3383280"/>
            <a:ext cx="4709160" cy="274320"/>
          </a:xfrm>
          <a:prstGeom prst="rect">
            <a:avLst/>
          </a:prstGeom>
          <a:noFill/>
        </p:spPr>
        <p:txBody>
          <a:bodyPr wrap="square" lIns="45720" rIns="45720">
            <a:spAutoFit/>
          </a:bodyPr>
          <a:lstStyle/>
          <a:p>
            <a:pPr>
              <a:spcAft>
                <a:spcPts val="600"/>
              </a:spcAft>
            </a:pPr>
            <a:r>
              <a:rPr sz="1000" b="1">
                <a:solidFill>
                  <a:srgbClr val="0F8B8D"/>
                </a:solidFill>
                <a:latin typeface="Calibri"/>
              </a:rPr>
              <a:t>WHAT THE TEAM GUARANTEES</a:t>
            </a:r>
          </a:p>
        </p:txBody>
      </p:sp>
      <p:graphicFrame>
        <p:nvGraphicFramePr>
          <p:cNvPr id="43" name="Table 42"/>
          <p:cNvGraphicFramePr>
            <a:graphicFrameLocks noGrp="1"/>
          </p:cNvGraphicFramePr>
          <p:nvPr/>
        </p:nvGraphicFramePr>
        <p:xfrm>
          <a:off x="6949440" y="3639312"/>
          <a:ext cx="4709160" cy="1536192"/>
        </p:xfrm>
        <a:graphic>
          <a:graphicData uri="http://schemas.openxmlformats.org/drawingml/2006/table">
            <a:tbl>
              <a:tblPr firstRow="1" bandRow="1">
                <a:tableStyleId>{5C22544A-7EE6-4342-B048-85BDC9FD1C3A}</a:tableStyleId>
              </a:tblPr>
              <a:tblGrid>
                <a:gridCol w="2514600"/>
                <a:gridCol w="2194560"/>
              </a:tblGrid>
              <a:tr h="256032">
                <a:tc>
                  <a:txBody>
                    <a:bodyPr wrap="square"/>
                    <a:lstStyle/>
                    <a:p>
                      <a:pPr>
                        <a:spcAft>
                          <a:spcPts val="0"/>
                        </a:spcAft>
                      </a:pPr>
                      <a:r>
                        <a:rPr sz="1000" b="1">
                          <a:solidFill>
                            <a:srgbClr val="FFFFFF"/>
                          </a:solidFill>
                          <a:latin typeface="Calibri"/>
                        </a:rPr>
                        <a:t>Guarantee</a:t>
                      </a:r>
                    </a:p>
                  </a:txBody>
                  <a:tcPr marT="36576" marB="36576">
                    <a:solidFill>
                      <a:srgbClr val="142B4D"/>
                    </a:solidFill>
                  </a:tcPr>
                </a:tc>
                <a:tc>
                  <a:txBody>
                    <a:bodyPr wrap="square"/>
                    <a:lstStyle/>
                    <a:p>
                      <a:pPr>
                        <a:spcAft>
                          <a:spcPts val="0"/>
                        </a:spcAft>
                      </a:pPr>
                      <a:r>
                        <a:rPr sz="1000" b="1">
                          <a:solidFill>
                            <a:srgbClr val="FFFFFF"/>
                          </a:solidFill>
                          <a:latin typeface="Calibri"/>
                        </a:rPr>
                        <a:t>How</a:t>
                      </a:r>
                    </a:p>
                  </a:txBody>
                  <a:tcPr marT="36576" marB="36576">
                    <a:solidFill>
                      <a:srgbClr val="142B4D"/>
                    </a:solidFill>
                  </a:tcPr>
                </a:tc>
              </a:tr>
              <a:tr h="256032">
                <a:tc>
                  <a:txBody>
                    <a:bodyPr wrap="square"/>
                    <a:lstStyle/>
                    <a:p>
                      <a:pPr>
                        <a:spcAft>
                          <a:spcPts val="0"/>
                        </a:spcAft>
                      </a:pPr>
                      <a:r>
                        <a:rPr sz="1000" b="0">
                          <a:solidFill>
                            <a:srgbClr val="222B38"/>
                          </a:solidFill>
                          <a:latin typeface="Calibri"/>
                        </a:rPr>
                        <a:t>Each agent writes only its own keys</a:t>
                      </a:r>
                    </a:p>
                  </a:txBody>
                  <a:tcPr marT="36576" marB="36576">
                    <a:solidFill>
                      <a:srgbClr val="EEF3F8"/>
                    </a:solidFill>
                  </a:tcPr>
                </a:tc>
                <a:tc>
                  <a:txBody>
                    <a:bodyPr wrap="square"/>
                    <a:lstStyle/>
                    <a:p>
                      <a:pPr>
                        <a:spcAft>
                          <a:spcPts val="0"/>
                        </a:spcAft>
                      </a:pPr>
                      <a:r>
                        <a:rPr sz="1000" b="0">
                          <a:solidFill>
                            <a:srgbClr val="222B38"/>
                          </a:solidFill>
                          <a:latin typeface="Calibri"/>
                        </a:rPr>
                        <a:t>PermissionError,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Routing</a:t>
                      </a:r>
                    </a:p>
                  </a:txBody>
                  <a:tcPr marT="36576" marB="36576">
                    <a:solidFill>
                      <a:srgbClr val="FFFFFF"/>
                    </a:solidFill>
                  </a:tcPr>
                </a:tc>
                <a:tc>
                  <a:txBody>
                    <a:bodyPr wrap="square"/>
                    <a:lstStyle/>
                    <a:p>
                      <a:pPr>
                        <a:spcAft>
                          <a:spcPts val="0"/>
                        </a:spcAft>
                      </a:pPr>
                      <a:r>
                        <a:rPr sz="1000" b="0">
                          <a:solidFill>
                            <a:srgbClr val="222B38"/>
                          </a:solidFill>
                          <a:latin typeface="Calibri"/>
                        </a:rPr>
                        <a:t>LLM picks, code limits the menu</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Review before any write</a:t>
                      </a:r>
                    </a:p>
                  </a:txBody>
                  <a:tcPr marT="36576" marB="36576">
                    <a:solidFill>
                      <a:srgbClr val="EEF3F8"/>
                    </a:solidFill>
                  </a:tcPr>
                </a:tc>
                <a:tc>
                  <a:txBody>
                    <a:bodyPr wrap="square"/>
                    <a:lstStyle/>
                    <a:p>
                      <a:pPr>
                        <a:spcAft>
                          <a:spcPts val="0"/>
                        </a:spcAft>
                      </a:pPr>
                      <a:r>
                        <a:rPr sz="1000" b="0">
                          <a:solidFill>
                            <a:srgbClr val="222B38"/>
                          </a:solidFill>
                          <a:latin typeface="Calibri"/>
                        </a:rPr>
                        <a:t>reviewer only tightens, tested</a:t>
                      </a:r>
                    </a:p>
                  </a:txBody>
                  <a:tcPr marT="36576" marB="36576">
                    <a:solidFill>
                      <a:srgbClr val="EEF3F8"/>
                    </a:solidFill>
                  </a:tcPr>
                </a:tc>
              </a:tr>
              <a:tr h="256032">
                <a:tc>
                  <a:txBody>
                    <a:bodyPr wrap="square"/>
                    <a:lstStyle/>
                    <a:p>
                      <a:pPr>
                        <a:spcAft>
                          <a:spcPts val="0"/>
                        </a:spcAft>
                      </a:pPr>
                      <a:r>
                        <a:rPr sz="1000" b="0">
                          <a:solidFill>
                            <a:srgbClr val="222B38"/>
                          </a:solidFill>
                          <a:latin typeface="Calibri"/>
                        </a:rPr>
                        <a:t>Revision loop</a:t>
                      </a:r>
                    </a:p>
                  </a:txBody>
                  <a:tcPr marT="36576" marB="36576">
                    <a:solidFill>
                      <a:srgbClr val="FFFFFF"/>
                    </a:solidFill>
                  </a:tcPr>
                </a:tc>
                <a:tc>
                  <a:txBody>
                    <a:bodyPr wrap="square"/>
                    <a:lstStyle/>
                    <a:p>
                      <a:pPr>
                        <a:spcAft>
                          <a:spcPts val="0"/>
                        </a:spcAft>
                      </a:pPr>
                      <a:r>
                        <a:rPr sz="1000" b="0">
                          <a:solidFill>
                            <a:srgbClr val="222B38"/>
                          </a:solidFill>
                          <a:latin typeface="Calibri"/>
                        </a:rPr>
                        <a:t>max 2 rounds, then a human</a:t>
                      </a:r>
                    </a:p>
                  </a:txBody>
                  <a:tcPr marT="36576" marB="36576">
                    <a:solidFill>
                      <a:srgbClr val="FFFFFF"/>
                    </a:solidFill>
                  </a:tcPr>
                </a:tc>
              </a:tr>
              <a:tr h="256032">
                <a:tc>
                  <a:txBody>
                    <a:bodyPr wrap="square"/>
                    <a:lstStyle/>
                    <a:p>
                      <a:pPr>
                        <a:spcAft>
                          <a:spcPts val="0"/>
                        </a:spcAft>
                      </a:pPr>
                      <a:r>
                        <a:rPr sz="1000" b="0">
                          <a:solidFill>
                            <a:srgbClr val="222B38"/>
                          </a:solidFill>
                          <a:latin typeface="Calibri"/>
                        </a:rPr>
                        <a:t>MCP: no delete or free-write tool</a:t>
                      </a:r>
                    </a:p>
                  </a:txBody>
                  <a:tcPr marT="36576" marB="36576">
                    <a:solidFill>
                      <a:srgbClr val="EEF3F8"/>
                    </a:solidFill>
                  </a:tcPr>
                </a:tc>
                <a:tc>
                  <a:txBody>
                    <a:bodyPr wrap="square"/>
                    <a:lstStyle/>
                    <a:p>
                      <a:pPr>
                        <a:spcAft>
                          <a:spcPts val="0"/>
                        </a:spcAft>
                      </a:pPr>
                      <a:r>
                        <a:rPr sz="1000" b="0">
                          <a:solidFill>
                            <a:srgbClr val="222B38"/>
                          </a:solidFill>
                          <a:latin typeface="Calibri"/>
                        </a:rPr>
                        <a:t>10 tools + 1 rules resource</a:t>
                      </a:r>
                    </a:p>
                  </a:txBody>
                  <a:tcPr marT="36576" marB="36576">
                    <a:solidFill>
                      <a:srgbClr val="EEF3F8"/>
                    </a:solidFill>
                  </a:tcPr>
                </a:tc>
              </a:tr>
            </a:tbl>
          </a:graphicData>
        </a:graphic>
      </p:graphicFrame>
      <p:sp>
        <p:nvSpPr>
          <p:cNvPr id="44" name="TextBox 43"/>
          <p:cNvSpPr txBox="1"/>
          <p:nvPr/>
        </p:nvSpPr>
        <p:spPr>
          <a:xfrm>
            <a:off x="6949440" y="5257800"/>
            <a:ext cx="4709160" cy="502920"/>
          </a:xfrm>
          <a:prstGeom prst="rect">
            <a:avLst/>
          </a:prstGeom>
          <a:noFill/>
        </p:spPr>
        <p:txBody>
          <a:bodyPr wrap="square" lIns="45720" rIns="45720">
            <a:spAutoFit/>
          </a:bodyPr>
          <a:lstStyle/>
          <a:p>
            <a:pPr>
              <a:spcAft>
                <a:spcPts val="600"/>
              </a:spcAft>
            </a:pPr>
            <a:r>
              <a:rPr sz="1100" b="1">
                <a:solidFill>
                  <a:srgbClr val="142B4D"/>
                </a:solidFill>
                <a:latin typeface="Calibri"/>
              </a:rPr>
              <a:t>Triage and the Supervisor call an LLM; the other four stages are code.</a:t>
            </a:r>
          </a:p>
        </p:txBody>
      </p:sp>
      <p:sp>
        <p:nvSpPr>
          <p:cNvPr id="45" name="Rounded Rectangle 44"/>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tests/unit/test_multi_agent_team.py tests/unit/test_mcp_tools.py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IN PROGRESS, TO BE CHECKED AGAINST THE LABS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first version built, being finished next</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  RUN IT YOURSELF</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honest limits, and the five-minute demo</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371600"/>
          <a:ext cx="4206240" cy="2487168"/>
        </p:xfrm>
        <a:graphic>
          <a:graphicData uri="http://schemas.openxmlformats.org/drawingml/2006/table">
            <a:tbl>
              <a:tblPr firstRow="1" bandRow="1">
                <a:tableStyleId>{5C22544A-7EE6-4342-B048-85BDC9FD1C3A}</a:tableStyleId>
              </a:tblPr>
              <a:tblGrid>
                <a:gridCol w="2743200"/>
                <a:gridCol w="1463040"/>
              </a:tblGrid>
              <a:tr h="310896">
                <a:tc>
                  <a:txBody>
                    <a:bodyPr wrap="square"/>
                    <a:lstStyle/>
                    <a:p>
                      <a:pPr>
                        <a:spcAft>
                          <a:spcPts val="0"/>
                        </a:spcAft>
                      </a:pPr>
                      <a:r>
                        <a:rPr sz="1100" b="1">
                          <a:solidFill>
                            <a:srgbClr val="FFFFFF"/>
                          </a:solidFill>
                          <a:latin typeface="Calibri"/>
                        </a:rPr>
                        <a:t>Check</a:t>
                      </a:r>
                    </a:p>
                  </a:txBody>
                  <a:tcPr marT="36576" marB="36576">
                    <a:solidFill>
                      <a:srgbClr val="142B4D"/>
                    </a:solidFill>
                  </a:tcPr>
                </a:tc>
                <a:tc>
                  <a:txBody>
                    <a:bodyPr wrap="square"/>
                    <a:lstStyle/>
                    <a:p>
                      <a:pPr>
                        <a:spcAft>
                          <a:spcPts val="0"/>
                        </a:spcAft>
                      </a:pPr>
                      <a:r>
                        <a:rPr sz="1100" b="1">
                          <a:solidFill>
                            <a:srgbClr val="FFFFFF"/>
                          </a:solidFill>
                          <a:latin typeface="Calibri"/>
                        </a:rPr>
                        <a:t>Result</a:t>
                      </a:r>
                    </a:p>
                  </a:txBody>
                  <a:tcPr marT="36576" marB="36576">
                    <a:solidFill>
                      <a:srgbClr val="142B4D"/>
                    </a:solidFill>
                  </a:tcPr>
                </a:tc>
              </a:tr>
              <a:tr h="310896">
                <a:tc>
                  <a:txBody>
                    <a:bodyPr wrap="square"/>
                    <a:lstStyle/>
                    <a:p>
                      <a:pPr>
                        <a:spcAft>
                          <a:spcPts val="0"/>
                        </a:spcAft>
                      </a:pPr>
                      <a:r>
                        <a:rPr sz="11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100" b="0">
                          <a:solidFill>
                            <a:srgbClr val="222B38"/>
                          </a:solidFill>
                          <a:latin typeface="Calibri"/>
                        </a:rPr>
                        <a:t>87 passed</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100" b="0">
                          <a:solidFill>
                            <a:srgbClr val="222B38"/>
                          </a:solidFill>
                          <a:latin typeface="Calibri"/>
                        </a:rPr>
                        <a:t>20 / 20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100" b="0">
                          <a:solidFill>
                            <a:srgbClr val="222B38"/>
                          </a:solidFill>
                          <a:latin typeface="Calibri"/>
                        </a:rPr>
                        <a:t>20 / 20</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r h="310896">
                <a:tc>
                  <a:txBody>
                    <a:bodyPr wrap="square"/>
                    <a:lstStyle/>
                    <a:p>
                      <a:pPr>
                        <a:spcAft>
                          <a:spcPts val="0"/>
                        </a:spcAft>
                      </a:pPr>
                      <a:r>
                        <a:rPr sz="11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100" b="0">
                          <a:solidFill>
                            <a:srgbClr val="222B38"/>
                          </a:solidFill>
                          <a:latin typeface="Calibri"/>
                        </a:rPr>
                        <a:t>0.82</a:t>
                      </a:r>
                    </a:p>
                  </a:txBody>
                  <a:tcPr marT="36576" marB="36576">
                    <a:solidFill>
                      <a:srgbClr val="FFFFFF"/>
                    </a:solidFill>
                  </a:tcPr>
                </a:tc>
              </a:tr>
              <a:tr h="310896">
                <a:tc>
                  <a:txBody>
                    <a:bodyPr wrap="square"/>
                    <a:lstStyle/>
                    <a:p>
                      <a:pPr>
                        <a:spcAft>
                          <a:spcPts val="0"/>
                        </a:spcAft>
                      </a:pPr>
                      <a:r>
                        <a:rPr sz="11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1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4983480" y="1325880"/>
            <a:ext cx="3383280" cy="274320"/>
          </a:xfrm>
          <a:prstGeom prst="rect">
            <a:avLst/>
          </a:prstGeom>
          <a:noFill/>
        </p:spPr>
        <p:txBody>
          <a:bodyPr wrap="square" lIns="45720" rIns="45720">
            <a:spAutoFit/>
          </a:bodyPr>
          <a:lstStyle/>
          <a:p>
            <a:pPr>
              <a:spcAft>
                <a:spcPts val="600"/>
              </a:spcAft>
            </a:pPr>
            <a:r>
              <a:rPr sz="1000" b="1">
                <a:solidFill>
                  <a:srgbClr val="0F8B8D"/>
                </a:solidFill>
                <a:latin typeface="Calibri"/>
              </a:rPr>
              <a:t>FOUND BY RUNNING IT, THEN FIXED</a:t>
            </a:r>
          </a:p>
        </p:txBody>
      </p:sp>
      <p:sp>
        <p:nvSpPr>
          <p:cNvPr id="9" name="TextBox 8"/>
          <p:cNvSpPr txBox="1"/>
          <p:nvPr/>
        </p:nvSpPr>
        <p:spPr>
          <a:xfrm>
            <a:off x="4983480" y="1600200"/>
            <a:ext cx="3383280" cy="1828800"/>
          </a:xfrm>
          <a:prstGeom prst="rect">
            <a:avLst/>
          </a:prstGeom>
          <a:noFill/>
        </p:spPr>
        <p:txBody>
          <a:bodyPr wrap="square" lIns="45720" rIns="45720">
            <a:spAutoFit/>
          </a:bodyPr>
          <a:lstStyle/>
          <a:p>
            <a:pPr>
              <a:spcAft>
                <a:spcPts val="300"/>
              </a:spcAft>
            </a:pPr>
            <a:r>
              <a:rPr sz="1100" b="0">
                <a:solidFill>
                  <a:srgbClr val="222B38"/>
                </a:solidFill>
                <a:latin typeface="Calibri"/>
              </a:rPr>
              <a:t>•  Hash 'embeddings': Gemini + BM25 (recall@3 1.0)</a:t>
            </a:r>
          </a:p>
          <a:p>
            <a:pPr>
              <a:spcAft>
                <a:spcPts val="300"/>
              </a:spcAft>
            </a:pPr>
            <a:r>
              <a:rPr sz="1100" b="0">
                <a:solidFill>
                  <a:srgbClr val="222B38"/>
                </a:solidFill>
                <a:latin typeface="Calibri"/>
              </a:rPr>
              <a:t>•  Wrong category's window: category filter (22 to 24 of 24)</a:t>
            </a:r>
          </a:p>
          <a:p>
            <a:pPr>
              <a:spcAft>
                <a:spcPts val="300"/>
              </a:spcAft>
            </a:pPr>
            <a:r>
              <a:rPr sz="1100" b="0">
                <a:solidFill>
                  <a:srgbClr val="222B38"/>
                </a:solidFill>
                <a:latin typeface="Calibri"/>
              </a:rPr>
              <a:t>•  Hinglish injection missed: regex screen</a:t>
            </a:r>
          </a:p>
          <a:p>
            <a:pPr>
              <a:spcAft>
                <a:spcPts val="300"/>
              </a:spcAft>
            </a:pPr>
            <a:r>
              <a:rPr sz="1100" b="0">
                <a:solidFill>
                  <a:srgbClr val="222B38"/>
                </a:solidFill>
                <a:latin typeface="Calibri"/>
              </a:rPr>
              <a:t>•  Refund could run before the reviewer: reviewer now first</a:t>
            </a:r>
          </a:p>
        </p:txBody>
      </p:sp>
      <p:sp>
        <p:nvSpPr>
          <p:cNvPr id="10" name="TextBox 9"/>
          <p:cNvSpPr txBox="1"/>
          <p:nvPr/>
        </p:nvSpPr>
        <p:spPr>
          <a:xfrm>
            <a:off x="8549640" y="1325880"/>
            <a:ext cx="3108960" cy="274320"/>
          </a:xfrm>
          <a:prstGeom prst="rect">
            <a:avLst/>
          </a:prstGeom>
          <a:noFill/>
        </p:spPr>
        <p:txBody>
          <a:bodyPr wrap="square" lIns="45720" rIns="45720">
            <a:spAutoFit/>
          </a:bodyPr>
          <a:lstStyle/>
          <a:p>
            <a:pPr>
              <a:spcAft>
                <a:spcPts val="600"/>
              </a:spcAft>
            </a:pPr>
            <a:r>
              <a:rPr sz="1000" b="1">
                <a:solidFill>
                  <a:srgbClr val="C0392B"/>
                </a:solidFill>
                <a:latin typeface="Calibri"/>
              </a:rPr>
              <a:t>NOT COVERED</a:t>
            </a:r>
          </a:p>
        </p:txBody>
      </p:sp>
      <p:sp>
        <p:nvSpPr>
          <p:cNvPr id="11" name="TextBox 10"/>
          <p:cNvSpPr txBox="1"/>
          <p:nvPr/>
        </p:nvSpPr>
        <p:spPr>
          <a:xfrm>
            <a:off x="8549640" y="1600200"/>
            <a:ext cx="3108960" cy="2194560"/>
          </a:xfrm>
          <a:prstGeom prst="rect">
            <a:avLst/>
          </a:prstGeom>
          <a:noFill/>
        </p:spPr>
        <p:txBody>
          <a:bodyPr wrap="square" lIns="45720" rIns="45720">
            <a:spAutoFit/>
          </a:bodyPr>
          <a:lstStyle/>
          <a:p>
            <a:pPr>
              <a:spcAft>
                <a:spcPts val="300"/>
              </a:spcAft>
            </a:pPr>
            <a:r>
              <a:rPr sz="1100" b="0">
                <a:solidFill>
                  <a:srgbClr val="222B38"/>
                </a:solidFill>
                <a:latin typeface="Calibri"/>
              </a:rPr>
              <a:t>•  No PII redaction in traces; no auth on /chat</a:t>
            </a:r>
          </a:p>
          <a:p>
            <a:pPr>
              <a:spcAft>
                <a:spcPts val="300"/>
              </a:spcAft>
            </a:pPr>
            <a:r>
              <a:rPr sz="1100" b="0">
                <a:solidFill>
                  <a:srgbClr val="222B38"/>
                </a:solidFill>
                <a:latin typeface="Calibri"/>
              </a:rPr>
              <a:t>•  Injection regex can be evaded</a:t>
            </a:r>
          </a:p>
          <a:p>
            <a:pPr>
              <a:spcAft>
                <a:spcPts val="300"/>
              </a:spcAft>
            </a:pPr>
            <a:r>
              <a:rPr sz="1100" b="0">
                <a:solidFill>
                  <a:srgbClr val="222B38"/>
                </a:solidFill>
                <a:latin typeface="Calibri"/>
              </a:rPr>
              <a:t>•  Small corpus: retrieval numbers optimistic</a:t>
            </a:r>
          </a:p>
          <a:p>
            <a:pPr>
              <a:spcAft>
                <a:spcPts val="300"/>
              </a:spcAft>
            </a:pPr>
            <a:r>
              <a:rPr sz="1100" b="0">
                <a:solidFill>
                  <a:srgbClr val="222B38"/>
                </a:solidFill>
                <a:latin typeface="Calibri"/>
              </a:rPr>
              <a:t>•  Supervisor has a menu, not the lab's free star</a:t>
            </a:r>
          </a:p>
          <a:p>
            <a:pPr>
              <a:spcAft>
                <a:spcPts val="300"/>
              </a:spcAft>
            </a:pPr>
            <a:r>
              <a:rPr sz="1100" b="0">
                <a:solidFill>
                  <a:srgbClr val="222B38"/>
                </a:solidFill>
                <a:latin typeface="Calibri"/>
              </a:rPr>
              <a:t>•  Docker not exercised</a:t>
            </a:r>
          </a:p>
        </p:txBody>
      </p:sp>
      <p:graphicFrame>
        <p:nvGraphicFramePr>
          <p:cNvPr id="12" name="Table 11"/>
          <p:cNvGraphicFramePr>
            <a:graphicFrameLocks noGrp="1"/>
          </p:cNvGraphicFramePr>
          <p:nvPr/>
        </p:nvGraphicFramePr>
        <p:xfrm>
          <a:off x="548640" y="3977639"/>
          <a:ext cx="11109960" cy="1371600"/>
        </p:xfrm>
        <a:graphic>
          <a:graphicData uri="http://schemas.openxmlformats.org/drawingml/2006/table">
            <a:tbl>
              <a:tblPr firstRow="1" bandRow="1">
                <a:tableStyleId>{5C22544A-7EE6-4342-B048-85BDC9FD1C3A}</a:tableStyleId>
              </a:tblPr>
              <a:tblGrid>
                <a:gridCol w="1645920"/>
                <a:gridCol w="5120640"/>
                <a:gridCol w="4343400"/>
              </a:tblGrid>
              <a:tr h="274320">
                <a:tc>
                  <a:txBody>
                    <a:bodyPr wrap="square"/>
                    <a:lstStyle/>
                    <a:p>
                      <a:pPr>
                        <a:spcAft>
                          <a:spcPts val="0"/>
                        </a:spcAft>
                      </a:pPr>
                      <a:r>
                        <a:rPr sz="1050" b="1">
                          <a:solidFill>
                            <a:srgbClr val="FFFFFF"/>
                          </a:solidFill>
                          <a:latin typeface="Calibri"/>
                        </a:rPr>
                        <a:t>Demo step</a:t>
                      </a:r>
                    </a:p>
                  </a:txBody>
                  <a:tcPr marT="36576" marB="36576">
                    <a:solidFill>
                      <a:srgbClr val="142B4D"/>
                    </a:solidFill>
                  </a:tcPr>
                </a:tc>
                <a:tc>
                  <a:txBody>
                    <a:bodyPr wrap="square"/>
                    <a:lstStyle/>
                    <a:p>
                      <a:pPr>
                        <a:spcAft>
                          <a:spcPts val="0"/>
                        </a:spcAft>
                      </a:pPr>
                      <a:r>
                        <a:rPr sz="1050" b="1">
                          <a:solidFill>
                            <a:srgbClr val="FFFFFF"/>
                          </a:solidFill>
                          <a:latin typeface="Calibri"/>
                        </a:rPr>
                        <a:t>Command</a:t>
                      </a:r>
                    </a:p>
                  </a:txBody>
                  <a:tcPr marT="36576" marB="36576">
                    <a:solidFill>
                      <a:srgbClr val="142B4D"/>
                    </a:solidFill>
                  </a:tcPr>
                </a:tc>
                <a:tc>
                  <a:txBody>
                    <a:bodyPr wrap="square"/>
                    <a:lstStyle/>
                    <a:p>
                      <a:pPr>
                        <a:spcAft>
                          <a:spcPts val="0"/>
                        </a:spcAft>
                      </a:pPr>
                      <a:r>
                        <a:rPr sz="1050" b="1">
                          <a:solidFill>
                            <a:srgbClr val="FFFFFF"/>
                          </a:solidFill>
                          <a:latin typeface="Calibri"/>
                        </a:rPr>
                        <a:t>What the audience sees</a:t>
                      </a:r>
                    </a:p>
                  </a:txBody>
                  <a:tcPr marT="36576" marB="36576">
                    <a:solidFill>
                      <a:srgbClr val="142B4D"/>
                    </a:solidFill>
                  </a:tcPr>
                </a:tc>
              </a:tr>
              <a:tr h="274320">
                <a:tc>
                  <a:txBody>
                    <a:bodyPr wrap="square"/>
                    <a:lstStyle/>
                    <a:p>
                      <a:pPr>
                        <a:spcAft>
                          <a:spcPts val="0"/>
                        </a:spcAft>
                      </a:pPr>
                      <a:r>
                        <a:rPr sz="1050" b="0">
                          <a:solidFill>
                            <a:srgbClr val="222B38"/>
                          </a:solidFill>
                          <a:latin typeface="Calibri"/>
                        </a:rPr>
                        <a:t>1  Tests</a:t>
                      </a:r>
                    </a:p>
                  </a:txBody>
                  <a:tcPr marT="36576" marB="36576">
                    <a:solidFill>
                      <a:srgbClr val="EEF3F8"/>
                    </a:solidFill>
                  </a:tcPr>
                </a:tc>
                <a:tc>
                  <a:txBody>
                    <a:bodyPr wrap="square"/>
                    <a:lstStyle/>
                    <a:p>
                      <a:pPr>
                        <a:spcAft>
                          <a:spcPts val="0"/>
                        </a:spcAft>
                      </a:pPr>
                      <a:r>
                        <a:rPr sz="105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050" b="0">
                          <a:solidFill>
                            <a:srgbClr val="222B38"/>
                          </a:solidFill>
                          <a:latin typeface="Calibri"/>
                        </a:rPr>
                        <a:t>87 passed</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2  Milestones</a:t>
                      </a:r>
                    </a:p>
                  </a:txBody>
                  <a:tcPr marT="36576" marB="36576">
                    <a:solidFill>
                      <a:srgbClr val="FFFFFF"/>
                    </a:solidFill>
                  </a:tcPr>
                </a:tc>
                <a:tc>
                  <a:txBody>
                    <a:bodyPr wrap="square"/>
                    <a:lstStyle/>
                    <a:p>
                      <a:pPr>
                        <a:spcAft>
                          <a:spcPts val="0"/>
                        </a:spcAft>
                      </a:pPr>
                      <a:r>
                        <a:rPr sz="105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050" b="0">
                          <a:solidFill>
                            <a:srgbClr val="222B38"/>
                          </a:solidFill>
                          <a:latin typeface="Calibri"/>
                        </a:rPr>
                        <a:t>M1 to M8 on live LLM, Qdrant Cloud, LangFuse</a:t>
                      </a:r>
                    </a:p>
                  </a:txBody>
                  <a:tcPr marT="36576" marB="36576">
                    <a:solidFill>
                      <a:srgbClr val="FFFFFF"/>
                    </a:solidFill>
                  </a:tcPr>
                </a:tc>
              </a:tr>
              <a:tr h="274320">
                <a:tc>
                  <a:txBody>
                    <a:bodyPr wrap="square"/>
                    <a:lstStyle/>
                    <a:p>
                      <a:pPr>
                        <a:spcAft>
                          <a:spcPts val="0"/>
                        </a:spcAft>
                      </a:pPr>
                      <a:r>
                        <a:rPr sz="1050" b="0">
                          <a:solidFill>
                            <a:srgbClr val="222B38"/>
                          </a:solidFill>
                          <a:latin typeface="Calibri"/>
                        </a:rPr>
                        <a:t>3  Golden eval</a:t>
                      </a:r>
                    </a:p>
                  </a:txBody>
                  <a:tcPr marT="36576" marB="36576">
                    <a:solidFill>
                      <a:srgbClr val="EEF3F8"/>
                    </a:solidFill>
                  </a:tcPr>
                </a:tc>
                <a:tc>
                  <a:txBody>
                    <a:bodyPr wrap="square"/>
                    <a:lstStyle/>
                    <a:p>
                      <a:pPr>
                        <a:spcAft>
                          <a:spcPts val="0"/>
                        </a:spcAft>
                      </a:pPr>
                      <a:r>
                        <a:rPr sz="105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050" b="0">
                          <a:solidFill>
                            <a:srgbClr val="222B38"/>
                          </a:solidFill>
                          <a:latin typeface="Calibri"/>
                        </a:rPr>
                        <a:t>20 of 20 with guardrail codes</a:t>
                      </a:r>
                    </a:p>
                  </a:txBody>
                  <a:tcPr marT="36576" marB="36576">
                    <a:solidFill>
                      <a:srgbClr val="EEF3F8"/>
                    </a:solidFill>
                  </a:tcPr>
                </a:tc>
              </a:tr>
              <a:tr h="274320">
                <a:tc>
                  <a:txBody>
                    <a:bodyPr wrap="square"/>
                    <a:lstStyle/>
                    <a:p>
                      <a:pPr>
                        <a:spcAft>
                          <a:spcPts val="0"/>
                        </a:spcAft>
                      </a:pPr>
                      <a:r>
                        <a:rPr sz="1050" b="0">
                          <a:solidFill>
                            <a:srgbClr val="222B38"/>
                          </a:solidFill>
                          <a:latin typeface="Calibri"/>
                        </a:rPr>
                        <a:t>4  API</a:t>
                      </a:r>
                    </a:p>
                  </a:txBody>
                  <a:tcPr marT="36576" marB="36576">
                    <a:solidFill>
                      <a:srgbClr val="FFFFFF"/>
                    </a:solidFill>
                  </a:tcPr>
                </a:tc>
                <a:tc>
                  <a:txBody>
                    <a:bodyPr wrap="square"/>
                    <a:lstStyle/>
                    <a:p>
                      <a:pPr>
                        <a:spcAft>
                          <a:spcPts val="0"/>
                        </a:spcAft>
                      </a:pPr>
                      <a:r>
                        <a:rPr sz="105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050" b="0">
                          <a:solidFill>
                            <a:srgbClr val="222B38"/>
                          </a:solidFill>
                          <a:latin typeface="Calibri"/>
                        </a:rPr>
                        <a:t>/chat decisions for 7 cases</a:t>
                      </a:r>
                    </a:p>
                  </a:txBody>
                  <a:tcPr marT="36576" marB="36576">
                    <a:solidFill>
                      <a:srgbClr val="FFFFFF"/>
                    </a:solidFill>
                  </a:tcPr>
                </a:tc>
              </a:tr>
            </a:tbl>
          </a:graphicData>
        </a:graphic>
      </p:graphicFrame>
      <p:sp>
        <p:nvSpPr>
          <p:cNvPr id="13" name="Rounded Rectangle 12"/>
          <p:cNvSpPr/>
          <p:nvPr/>
        </p:nvSpPr>
        <p:spPr>
          <a:xfrm>
            <a:off x="548640" y="5486400"/>
            <a:ext cx="11109960" cy="8686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13832"/>
            <a:ext cx="10789920" cy="822960"/>
          </a:xfrm>
          <a:prstGeom prst="rect">
            <a:avLst/>
          </a:prstGeom>
          <a:noFill/>
        </p:spPr>
        <p:txBody>
          <a:bodyPr wrap="square" lIns="45720" rIns="45720">
            <a:spAutoFit/>
          </a:bodyPr>
          <a:lstStyle/>
          <a:p>
            <a:pPr>
              <a:spcAft>
                <a:spcPts val="300"/>
              </a:spcAft>
            </a:pPr>
            <a:r>
              <a:rPr sz="1400" b="1">
                <a:solidFill>
                  <a:srgbClr val="FFFFFF"/>
                </a:solidFill>
                <a:latin typeface="Calibri"/>
              </a:rPr>
              <a:t>Let the model read, let code decide. A fooled model still cannot move money.</a:t>
            </a:r>
          </a:p>
          <a:p>
            <a:pPr>
              <a:spcAft>
                <a:spcPts val="300"/>
              </a:spcAft>
            </a:pPr>
            <a:r>
              <a:rPr sz="1200" b="1">
                <a:solidFill>
                  <a:srgbClr val="FFFFFF"/>
                </a:solidFill>
                <a:latin typeface="Calibri"/>
              </a:rPr>
              <a:t>Measure, then fix. Every claim is runnable: 87 tests, 20 golden cases.   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