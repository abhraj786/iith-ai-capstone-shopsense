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chevron strip under it is the build order, M1 to M8; the last four wrap everything: LangGraph pause and resume, the supervised team, tracing, and the API with evaluation.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the tests for confidence, then the golden eval. If asked for the API, start uvicorn capstone.api:app and run the Postman collection (tickets A, B, C; empty text gives 422). Keep the .env file beside you; it is not in git. Backup: demo_milestones.py --offline runs with no network.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Oval 1"/>
          <p:cNvSpPr/>
          <p:nvPr/>
        </p:nvSpPr>
        <p:spPr>
          <a:xfrm>
            <a:off x="8778240" y="-1463040"/>
            <a:ext cx="4754880" cy="4754880"/>
          </a:xfrm>
          <a:prstGeom prst="ellipse">
            <a:avLst/>
          </a:prstGeom>
          <a:solidFill>
            <a:srgbClr val="1A6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41280" y="4206240"/>
            <a:ext cx="4023360" cy="4023360"/>
          </a:xfrm>
          <a:prstGeom prst="ellipse">
            <a:avLst/>
          </a:prstGeom>
          <a:solidFill>
            <a:srgbClr val="084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822960"/>
            <a:ext cx="822960" cy="6400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60120"/>
            <a:ext cx="6949440" cy="731520"/>
          </a:xfrm>
          <a:prstGeom prst="rect">
            <a:avLst/>
          </a:prstGeom>
          <a:noFill/>
        </p:spPr>
        <p:txBody>
          <a:bodyPr wrap="square" lIns="45720" rIns="45720">
            <a:spAutoFit/>
          </a:bodyPr>
          <a:lstStyle/>
          <a:p>
            <a:pPr>
              <a:spcAft>
                <a:spcPts val="0"/>
              </a:spcAft>
            </a:pPr>
            <a:r>
              <a:rPr sz="1300" b="1">
                <a:solidFill>
                  <a:srgbClr val="90D0FE"/>
                </a:solidFill>
                <a:latin typeface="Calibri"/>
              </a:rPr>
              <a:t>APPLIED AI PROFESSIONAL</a:t>
            </a:r>
          </a:p>
          <a:p>
            <a:pPr>
              <a:spcAft>
                <a:spcPts val="0"/>
              </a:spcAft>
            </a:pPr>
            <a:r>
              <a:rPr sz="1300" b="1">
                <a:solidFill>
                  <a:srgbClr val="90D0FE"/>
                </a:solidFill>
                <a:latin typeface="Calibri"/>
              </a:rPr>
              <a:t>CERTIFICATION PROGRAM  |  CAPSTONE PROJECT</a:t>
            </a:r>
          </a:p>
        </p:txBody>
      </p:sp>
      <p:sp>
        <p:nvSpPr>
          <p:cNvPr id="6" name="TextBox 5"/>
          <p:cNvSpPr txBox="1"/>
          <p:nvPr/>
        </p:nvSpPr>
        <p:spPr>
          <a:xfrm>
            <a:off x="777240" y="1783080"/>
            <a:ext cx="6949440" cy="1097280"/>
          </a:xfrm>
          <a:prstGeom prst="rect">
            <a:avLst/>
          </a:prstGeom>
          <a:noFill/>
        </p:spPr>
        <p:txBody>
          <a:bodyPr wrap="square" lIns="45720" rIns="45720">
            <a:spAutoFit/>
          </a:bodyPr>
          <a:lstStyle/>
          <a:p>
            <a:pPr>
              <a:spcAft>
                <a:spcPts val="600"/>
              </a:spcAft>
            </a:pPr>
            <a:r>
              <a:rPr sz="6600" b="1">
                <a:solidFill>
                  <a:srgbClr val="FFFFFF"/>
                </a:solidFill>
                <a:latin typeface="Calibri"/>
              </a:rPr>
              <a:t>ShopSense</a:t>
            </a:r>
          </a:p>
        </p:txBody>
      </p:sp>
      <p:sp>
        <p:nvSpPr>
          <p:cNvPr id="7" name="TextBox 6"/>
          <p:cNvSpPr txBox="1"/>
          <p:nvPr/>
        </p:nvSpPr>
        <p:spPr>
          <a:xfrm>
            <a:off x="777240" y="2926080"/>
            <a:ext cx="6766560" cy="109728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8" name="Rectangle 7"/>
          <p:cNvSpPr/>
          <p:nvPr/>
        </p:nvSpPr>
        <p:spPr>
          <a:xfrm>
            <a:off x="822960" y="4160520"/>
            <a:ext cx="6400800" cy="1828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297680"/>
            <a:ext cx="694944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10" name="TextBox 9"/>
          <p:cNvSpPr txBox="1"/>
          <p:nvPr/>
        </p:nvSpPr>
        <p:spPr>
          <a:xfrm>
            <a:off x="777240" y="4800600"/>
            <a:ext cx="6949440" cy="365760"/>
          </a:xfrm>
          <a:prstGeom prst="rect">
            <a:avLst/>
          </a:prstGeom>
          <a:noFill/>
        </p:spPr>
        <p:txBody>
          <a:bodyPr wrap="square" lIns="45720" rIns="45720">
            <a:spAutoFit/>
          </a:bodyPr>
          <a:lstStyle/>
          <a:p>
            <a:pPr>
              <a:spcAft>
                <a:spcPts val="600"/>
              </a:spcAft>
            </a:pPr>
            <a:r>
              <a:rPr sz="1700" b="0">
                <a:solidFill>
                  <a:srgbClr val="B8C7DA"/>
                </a:solidFill>
                <a:latin typeface="Calibri"/>
              </a:rPr>
              <a:t>Lead Member of Technical Staff, Salesforce</a:t>
            </a:r>
          </a:p>
        </p:txBody>
      </p:sp>
      <p:sp>
        <p:nvSpPr>
          <p:cNvPr id="11" name="Rounded Rectangle 10"/>
          <p:cNvSpPr/>
          <p:nvPr/>
        </p:nvSpPr>
        <p:spPr>
          <a:xfrm>
            <a:off x="822960" y="5349240"/>
            <a:ext cx="4846320" cy="384048"/>
          </a:xfrm>
          <a:prstGeom prst="roundRect">
            <a:avLst>
              <a:gd name="adj" fmla="val 50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394960"/>
            <a:ext cx="4846320" cy="329184"/>
          </a:xfrm>
          <a:prstGeom prst="rect">
            <a:avLst/>
          </a:prstGeom>
          <a:noFill/>
        </p:spPr>
        <p:txBody>
          <a:bodyPr wrap="square" lIns="45720" rIns="45720">
            <a:spAutoFit/>
          </a:bodyPr>
          <a:lstStyle/>
          <a:p>
            <a:pPr algn="ctr">
              <a:spcAft>
                <a:spcPts val="0"/>
              </a:spcAft>
            </a:pPr>
            <a:r>
              <a:rPr sz="1200" b="1">
                <a:solidFill>
                  <a:srgbClr val="032D60"/>
                </a:solidFill>
                <a:latin typeface="Calibri"/>
                <a:hlinkClick r:id="rId2"/>
              </a:rPr>
              <a:t>Github Link: github.com/abhraj786/iith-ai-capstone-shopsense</a:t>
            </a:r>
          </a:p>
        </p:txBody>
      </p:sp>
      <p:sp>
        <p:nvSpPr>
          <p:cNvPr id="13" name="TextBox 12"/>
          <p:cNvSpPr txBox="1"/>
          <p:nvPr/>
        </p:nvSpPr>
        <p:spPr>
          <a:xfrm>
            <a:off x="777240" y="6080760"/>
            <a:ext cx="7498079" cy="365760"/>
          </a:xfrm>
          <a:prstGeom prst="rect">
            <a:avLst/>
          </a:prstGeom>
          <a:noFill/>
        </p:spPr>
        <p:txBody>
          <a:bodyPr wrap="square" lIns="45720" rIns="45720">
            <a:spAutoFit/>
          </a:bodyPr>
          <a:lstStyle/>
          <a:p>
            <a:pPr>
              <a:spcAft>
                <a:spcPts val="600"/>
              </a:spcAft>
            </a:pPr>
            <a:r>
              <a:rPr sz="1200" b="0">
                <a:solidFill>
                  <a:srgbClr val="B8C7DA"/>
                </a:solidFill>
                <a:latin typeface="Calibri"/>
              </a:rPr>
              <a:t>Department of Computer Science &amp; Engineering, Indian Institute of Technology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EIGHT MILESTONES, BUILT IN ORDER  (M1 to M4 are the pipeline above; M5 to M8 wrap around it)</a:t>
            </a:r>
          </a:p>
        </p:txBody>
      </p:sp>
      <p:sp>
        <p:nvSpPr>
          <p:cNvPr id="22" name="Pentagon 21"/>
          <p:cNvSpPr/>
          <p:nvPr/>
        </p:nvSpPr>
        <p:spPr>
          <a:xfrm>
            <a:off x="457200" y="3456432"/>
            <a:ext cx="1463040" cy="457200"/>
          </a:xfrm>
          <a:prstGeom prst="homePlate">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M1  Intake</a:t>
            </a:r>
          </a:p>
        </p:txBody>
      </p:sp>
      <p:sp>
        <p:nvSpPr>
          <p:cNvPr id="23" name="TextBox 22"/>
          <p:cNvSpPr txBox="1"/>
          <p:nvPr/>
        </p:nvSpPr>
        <p:spPr>
          <a:xfrm>
            <a:off x="548640"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parse the ticket</a:t>
            </a:r>
          </a:p>
        </p:txBody>
      </p:sp>
      <p:sp>
        <p:nvSpPr>
          <p:cNvPr id="24" name="Chevron 23"/>
          <p:cNvSpPr/>
          <p:nvPr/>
        </p:nvSpPr>
        <p:spPr>
          <a:xfrm>
            <a:off x="1869948"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M2  Actions</a:t>
            </a:r>
          </a:p>
        </p:txBody>
      </p:sp>
      <p:sp>
        <p:nvSpPr>
          <p:cNvPr id="25" name="TextBox 24"/>
          <p:cNvSpPr txBox="1"/>
          <p:nvPr/>
        </p:nvSpPr>
        <p:spPr>
          <a:xfrm>
            <a:off x="196138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tools via gateway</a:t>
            </a:r>
          </a:p>
        </p:txBody>
      </p:sp>
      <p:sp>
        <p:nvSpPr>
          <p:cNvPr id="26" name="Chevron 25"/>
          <p:cNvSpPr/>
          <p:nvPr/>
        </p:nvSpPr>
        <p:spPr>
          <a:xfrm>
            <a:off x="3282696"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M3  Memory</a:t>
            </a:r>
          </a:p>
        </p:txBody>
      </p:sp>
      <p:sp>
        <p:nvSpPr>
          <p:cNvPr id="27" name="TextBox 26"/>
          <p:cNvSpPr txBox="1"/>
          <p:nvPr/>
        </p:nvSpPr>
        <p:spPr>
          <a:xfrm>
            <a:off x="337413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history, repeats</a:t>
            </a:r>
          </a:p>
        </p:txBody>
      </p:sp>
      <p:sp>
        <p:nvSpPr>
          <p:cNvPr id="28" name="Chevron 27"/>
          <p:cNvSpPr/>
          <p:nvPr/>
        </p:nvSpPr>
        <p:spPr>
          <a:xfrm>
            <a:off x="4695444"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M4  Policy RAG</a:t>
            </a:r>
          </a:p>
        </p:txBody>
      </p:sp>
      <p:sp>
        <p:nvSpPr>
          <p:cNvPr id="29" name="TextBox 28"/>
          <p:cNvSpPr txBox="1"/>
          <p:nvPr/>
        </p:nvSpPr>
        <p:spPr>
          <a:xfrm>
            <a:off x="4786883"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grounded policy</a:t>
            </a:r>
          </a:p>
        </p:txBody>
      </p:sp>
      <p:sp>
        <p:nvSpPr>
          <p:cNvPr id="30" name="Chevron 29"/>
          <p:cNvSpPr/>
          <p:nvPr/>
        </p:nvSpPr>
        <p:spPr>
          <a:xfrm>
            <a:off x="6108192"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M5  Workflow</a:t>
            </a:r>
          </a:p>
        </p:txBody>
      </p:sp>
      <p:sp>
        <p:nvSpPr>
          <p:cNvPr id="31" name="TextBox 30"/>
          <p:cNvSpPr txBox="1"/>
          <p:nvPr/>
        </p:nvSpPr>
        <p:spPr>
          <a:xfrm>
            <a:off x="6199631"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pause and resume</a:t>
            </a:r>
          </a:p>
        </p:txBody>
      </p:sp>
      <p:sp>
        <p:nvSpPr>
          <p:cNvPr id="32" name="Chevron 31"/>
          <p:cNvSpPr/>
          <p:nvPr/>
        </p:nvSpPr>
        <p:spPr>
          <a:xfrm>
            <a:off x="7520940"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M6  Team</a:t>
            </a:r>
          </a:p>
        </p:txBody>
      </p:sp>
      <p:sp>
        <p:nvSpPr>
          <p:cNvPr id="33" name="TextBox 32"/>
          <p:cNvSpPr txBox="1"/>
          <p:nvPr/>
        </p:nvSpPr>
        <p:spPr>
          <a:xfrm>
            <a:off x="7612379"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route, review</a:t>
            </a:r>
          </a:p>
        </p:txBody>
      </p:sp>
      <p:sp>
        <p:nvSpPr>
          <p:cNvPr id="34" name="Chevron 33"/>
          <p:cNvSpPr/>
          <p:nvPr/>
        </p:nvSpPr>
        <p:spPr>
          <a:xfrm>
            <a:off x="8933688"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M7  Reliability</a:t>
            </a:r>
          </a:p>
        </p:txBody>
      </p:sp>
      <p:sp>
        <p:nvSpPr>
          <p:cNvPr id="35" name="TextBox 34"/>
          <p:cNvSpPr txBox="1"/>
          <p:nvPr/>
        </p:nvSpPr>
        <p:spPr>
          <a:xfrm>
            <a:off x="902512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trace, retry, breaker</a:t>
            </a:r>
          </a:p>
        </p:txBody>
      </p:sp>
      <p:sp>
        <p:nvSpPr>
          <p:cNvPr id="36" name="Chevron 35"/>
          <p:cNvSpPr/>
          <p:nvPr/>
        </p:nvSpPr>
        <p:spPr>
          <a:xfrm>
            <a:off x="10346436"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M8  API + eval</a:t>
            </a:r>
          </a:p>
        </p:txBody>
      </p:sp>
      <p:sp>
        <p:nvSpPr>
          <p:cNvPr id="37" name="TextBox 36"/>
          <p:cNvSpPr txBox="1"/>
          <p:nvPr/>
        </p:nvSpPr>
        <p:spPr>
          <a:xfrm>
            <a:off x="1043787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guardrails, judge</a:t>
            </a:r>
          </a:p>
        </p:txBody>
      </p:sp>
      <p:sp>
        <p:nvSpPr>
          <p:cNvPr id="38" name="TextBox 37"/>
          <p:cNvSpPr txBox="1"/>
          <p:nvPr/>
        </p:nvSpPr>
        <p:spPr>
          <a:xfrm>
            <a:off x="457200" y="425196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TICKETS WE FOLLOW, SAME CODE FOR ALL  (bar colour = where the ticket ends up)</a:t>
            </a:r>
          </a:p>
        </p:txBody>
      </p:sp>
      <p:graphicFrame>
        <p:nvGraphicFramePr>
          <p:cNvPr id="39" name="Table 38"/>
          <p:cNvGraphicFramePr>
            <a:graphicFrameLocks noGrp="1"/>
          </p:cNvGraphicFramePr>
          <p:nvPr/>
        </p:nvGraphicFramePr>
        <p:xfrm>
          <a:off x="548640" y="4553712"/>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Ticket</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40" name="Rectangle 39"/>
          <p:cNvSpPr/>
          <p:nvPr/>
        </p:nvSpPr>
        <p:spPr>
          <a:xfrm>
            <a:off x="457200" y="4901184"/>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5230368"/>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5595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TICKETS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ticket,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Ticket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TICKETS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Ticket,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tickets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TICKETS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ticket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Ticket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TICKET: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ticket)</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Ticket B (tracking) needs no policy, so M6 skips it; ticket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Tickets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TICKET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Ticket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Tickets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TICKETS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TICKETS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ticket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sp>
        <p:nvSpPr>
          <p:cNvPr id="6" name="Rounded Rectangle 5"/>
          <p:cNvSpPr/>
          <p:nvPr/>
        </p:nvSpPr>
        <p:spPr>
          <a:xfrm>
            <a:off x="54864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98</a:t>
            </a:r>
          </a:p>
        </p:txBody>
      </p:sp>
      <p:sp>
        <p:nvSpPr>
          <p:cNvPr id="9" name="TextBox 8"/>
          <p:cNvSpPr txBox="1"/>
          <p:nvPr/>
        </p:nvSpPr>
        <p:spPr>
          <a:xfrm>
            <a:off x="59436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unit tests passed (fresh clone)</a:t>
            </a:r>
          </a:p>
        </p:txBody>
      </p:sp>
      <p:sp>
        <p:nvSpPr>
          <p:cNvPr id="10" name="Rounded Rectangle 9"/>
          <p:cNvSpPr/>
          <p:nvPr/>
        </p:nvSpPr>
        <p:spPr>
          <a:xfrm>
            <a:off x="278892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20 / 20</a:t>
            </a:r>
          </a:p>
        </p:txBody>
      </p:sp>
      <p:sp>
        <p:nvSpPr>
          <p:cNvPr id="13" name="TextBox 12"/>
          <p:cNvSpPr txBox="1"/>
          <p:nvPr/>
        </p:nvSpPr>
        <p:spPr>
          <a:xfrm>
            <a:off x="283464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golden tickets, stored and live</a:t>
            </a:r>
          </a:p>
        </p:txBody>
      </p:sp>
      <p:sp>
        <p:nvSpPr>
          <p:cNvPr id="14" name="Rounded Rectangle 13"/>
          <p:cNvSpPr/>
          <p:nvPr/>
        </p:nvSpPr>
        <p:spPr>
          <a:xfrm>
            <a:off x="502920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17" name="TextBox 16"/>
          <p:cNvSpPr txBox="1"/>
          <p:nvPr/>
        </p:nvSpPr>
        <p:spPr>
          <a:xfrm>
            <a:off x="507492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4 components, 5 items each</a:t>
            </a:r>
          </a:p>
        </p:txBody>
      </p:sp>
      <p:sp>
        <p:nvSpPr>
          <p:cNvPr id="18" name="Rounded Rectangle 17"/>
          <p:cNvSpPr/>
          <p:nvPr/>
        </p:nvSpPr>
        <p:spPr>
          <a:xfrm>
            <a:off x="726948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948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21" name="TextBox 20"/>
          <p:cNvSpPr txBox="1"/>
          <p:nvPr/>
        </p:nvSpPr>
        <p:spPr>
          <a:xfrm>
            <a:off x="731520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answer faithfulness (judge)</a:t>
            </a:r>
          </a:p>
        </p:txBody>
      </p:sp>
      <p:sp>
        <p:nvSpPr>
          <p:cNvPr id="22" name="Rounded Rectangle 21"/>
          <p:cNvSpPr/>
          <p:nvPr/>
        </p:nvSpPr>
        <p:spPr>
          <a:xfrm>
            <a:off x="950976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1.000</a:t>
            </a:r>
          </a:p>
        </p:txBody>
      </p:sp>
      <p:sp>
        <p:nvSpPr>
          <p:cNvPr id="25" name="TextBox 24"/>
          <p:cNvSpPr txBox="1"/>
          <p:nvPr/>
        </p:nvSpPr>
        <p:spPr>
          <a:xfrm>
            <a:off x="955548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M4 recall@3, hybrid retrieval</a:t>
            </a:r>
          </a:p>
        </p:txBody>
      </p:sp>
      <p:sp>
        <p:nvSpPr>
          <p:cNvPr id="26" name="TextBox 25"/>
          <p:cNvSpPr txBox="1"/>
          <p:nvPr/>
        </p:nvSpPr>
        <p:spPr>
          <a:xfrm>
            <a:off x="548640" y="2468880"/>
            <a:ext cx="731520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27" name="Rounded Rectangle 26"/>
          <p:cNvSpPr/>
          <p:nvPr/>
        </p:nvSpPr>
        <p:spPr>
          <a:xfrm>
            <a:off x="548640"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01</a:t>
            </a:r>
          </a:p>
        </p:txBody>
      </p:sp>
      <p:sp>
        <p:nvSpPr>
          <p:cNvPr id="29" name="Rounded Rectangle 28"/>
          <p:cNvSpPr/>
          <p:nvPr/>
        </p:nvSpPr>
        <p:spPr>
          <a:xfrm>
            <a:off x="685800"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1" name="TextBox 30"/>
          <p:cNvSpPr txBox="1"/>
          <p:nvPr/>
        </p:nvSpPr>
        <p:spPr>
          <a:xfrm>
            <a:off x="640080"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Hinglish injection phrase slipped past the model</a:t>
            </a:r>
          </a:p>
        </p:txBody>
      </p:sp>
      <p:sp>
        <p:nvSpPr>
          <p:cNvPr id="32" name="Rounded Rectangle 31"/>
          <p:cNvSpPr/>
          <p:nvPr/>
        </p:nvSpPr>
        <p:spPr>
          <a:xfrm>
            <a:off x="685800"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34" name="TextBox 33"/>
          <p:cNvSpPr txBox="1"/>
          <p:nvPr/>
        </p:nvSpPr>
        <p:spPr>
          <a:xfrm>
            <a:off x="640080"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Regex screen in code</a:t>
            </a:r>
          </a:p>
        </p:txBody>
      </p:sp>
      <p:sp>
        <p:nvSpPr>
          <p:cNvPr id="35" name="Rounded Rectangle 34"/>
          <p:cNvSpPr/>
          <p:nvPr/>
        </p:nvSpPr>
        <p:spPr>
          <a:xfrm>
            <a:off x="3127248"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36976"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02</a:t>
            </a:r>
          </a:p>
        </p:txBody>
      </p:sp>
      <p:sp>
        <p:nvSpPr>
          <p:cNvPr id="37" name="Rounded Rectangle 36"/>
          <p:cNvSpPr/>
          <p:nvPr/>
        </p:nvSpPr>
        <p:spPr>
          <a:xfrm>
            <a:off x="3264408"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64408"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9" name="TextBox 38"/>
          <p:cNvSpPr txBox="1"/>
          <p:nvPr/>
        </p:nvSpPr>
        <p:spPr>
          <a:xfrm>
            <a:off x="3218688"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A refund could run before the reviewer looked</a:t>
            </a:r>
          </a:p>
        </p:txBody>
      </p:sp>
      <p:sp>
        <p:nvSpPr>
          <p:cNvPr id="40" name="Rounded Rectangle 39"/>
          <p:cNvSpPr/>
          <p:nvPr/>
        </p:nvSpPr>
        <p:spPr>
          <a:xfrm>
            <a:off x="3264408"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42" name="TextBox 41"/>
          <p:cNvSpPr txBox="1"/>
          <p:nvPr/>
        </p:nvSpPr>
        <p:spPr>
          <a:xfrm>
            <a:off x="3218688"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Reviewer now runs first</a:t>
            </a:r>
          </a:p>
        </p:txBody>
      </p:sp>
      <p:sp>
        <p:nvSpPr>
          <p:cNvPr id="43" name="Rounded Rectangle 42"/>
          <p:cNvSpPr/>
          <p:nvPr/>
        </p:nvSpPr>
        <p:spPr>
          <a:xfrm>
            <a:off x="5705856"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15584"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03</a:t>
            </a:r>
          </a:p>
        </p:txBody>
      </p:sp>
      <p:sp>
        <p:nvSpPr>
          <p:cNvPr id="45" name="Rounded Rectangle 44"/>
          <p:cNvSpPr/>
          <p:nvPr/>
        </p:nvSpPr>
        <p:spPr>
          <a:xfrm>
            <a:off x="5843016"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3016"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47" name="TextBox 46"/>
          <p:cNvSpPr txBox="1"/>
          <p:nvPr/>
        </p:nvSpPr>
        <p:spPr>
          <a:xfrm>
            <a:off x="5797296"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Wrong category's return window quoted</a:t>
            </a:r>
          </a:p>
        </p:txBody>
      </p:sp>
      <p:sp>
        <p:nvSpPr>
          <p:cNvPr id="48" name="Rounded Rectangle 47"/>
          <p:cNvSpPr/>
          <p:nvPr/>
        </p:nvSpPr>
        <p:spPr>
          <a:xfrm>
            <a:off x="5843016"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43016"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50" name="TextBox 49"/>
          <p:cNvSpPr txBox="1"/>
          <p:nvPr/>
        </p:nvSpPr>
        <p:spPr>
          <a:xfrm>
            <a:off x="5797296"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Category filter: 22 to 24 of 24</a:t>
            </a:r>
          </a:p>
        </p:txBody>
      </p:sp>
      <p:sp>
        <p:nvSpPr>
          <p:cNvPr id="51" name="Rounded Rectangle 50"/>
          <p:cNvSpPr/>
          <p:nvPr/>
        </p:nvSpPr>
        <p:spPr>
          <a:xfrm>
            <a:off x="8412480" y="2743200"/>
            <a:ext cx="3246120" cy="2286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0" y="2834640"/>
            <a:ext cx="2926080" cy="274320"/>
          </a:xfrm>
          <a:prstGeom prst="rect">
            <a:avLst/>
          </a:prstGeom>
          <a:noFill/>
        </p:spPr>
        <p:txBody>
          <a:bodyPr wrap="square" lIns="45720" rIns="45720">
            <a:spAutoFit/>
          </a:bodyPr>
          <a:lstStyle/>
          <a:p>
            <a:pPr>
              <a:spcAft>
                <a:spcPts val="600"/>
              </a:spcAft>
            </a:pPr>
            <a:r>
              <a:rPr sz="1000" b="1">
                <a:solidFill>
                  <a:srgbClr val="90D0FE"/>
                </a:solidFill>
                <a:latin typeface="Calibri"/>
              </a:rPr>
              <a:t>SAFETY BUILT IN</a:t>
            </a:r>
          </a:p>
        </p:txBody>
      </p:sp>
      <p:sp>
        <p:nvSpPr>
          <p:cNvPr id="53" name="TextBox 52"/>
          <p:cNvSpPr txBox="1"/>
          <p:nvPr/>
        </p:nvSpPr>
        <p:spPr>
          <a:xfrm>
            <a:off x="8595360" y="3154680"/>
            <a:ext cx="2926080" cy="1828800"/>
          </a:xfrm>
          <a:prstGeom prst="rect">
            <a:avLst/>
          </a:prstGeom>
          <a:noFill/>
        </p:spPr>
        <p:txBody>
          <a:bodyPr wrap="square" lIns="45720" rIns="45720">
            <a:spAutoFit/>
          </a:bodyPr>
          <a:lstStyle/>
          <a:p>
            <a:pPr>
              <a:spcAft>
                <a:spcPts val="600"/>
              </a:spcAft>
            </a:pPr>
            <a:r>
              <a:rPr sz="1200" b="0">
                <a:solidFill>
                  <a:srgbClr val="FFFFFF"/>
                </a:solidFill>
                <a:latin typeface="Calibri"/>
              </a:rPr>
              <a:t>•  Refunds over Rs 2,000 always go to a human</a:t>
            </a:r>
          </a:p>
          <a:p>
            <a:pPr>
              <a:spcAft>
                <a:spcPts val="600"/>
              </a:spcAft>
            </a:pPr>
            <a:r>
              <a:rPr sz="1200" b="0">
                <a:solidFill>
                  <a:srgbClr val="FFFFFF"/>
                </a:solidFill>
                <a:latin typeface="Calibri"/>
              </a:rPr>
              <a:t>•  Injection blocked in tickets and policy text</a:t>
            </a:r>
          </a:p>
          <a:p>
            <a:pPr>
              <a:spcAft>
                <a:spcPts val="600"/>
              </a:spcAft>
            </a:pPr>
            <a:r>
              <a:rPr sz="1200" b="0">
                <a:solidFill>
                  <a:srgbClr val="FFFFFF"/>
                </a:solidFill>
                <a:latin typeface="Calibri"/>
              </a:rPr>
              <a:t>•  Unsupported policy answers are blocked</a:t>
            </a:r>
          </a:p>
        </p:txBody>
      </p:sp>
      <p:graphicFrame>
        <p:nvGraphicFramePr>
          <p:cNvPr id="54" name="Table 53"/>
          <p:cNvGraphicFramePr>
            <a:graphicFrameLocks noGrp="1"/>
          </p:cNvGraphicFramePr>
          <p:nvPr/>
        </p:nvGraphicFramePr>
        <p:xfrm>
          <a:off x="548640" y="5303520"/>
          <a:ext cx="11109960" cy="822959"/>
        </p:xfrm>
        <a:graphic>
          <a:graphicData uri="http://schemas.openxmlformats.org/drawingml/2006/table">
            <a:tbl>
              <a:tblPr firstRow="1" bandRow="1">
                <a:tableStyleId>{5C22544A-7EE6-4342-B048-85BDC9FD1C3A}</a:tableStyleId>
              </a:tblPr>
              <a:tblGrid>
                <a:gridCol w="1645920"/>
                <a:gridCol w="5120640"/>
                <a:gridCol w="4343400"/>
              </a:tblGrid>
              <a:tr h="274319">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274319">
                <a:tc>
                  <a:txBody>
                    <a:bodyPr wrap="square"/>
                    <a:lstStyle/>
                    <a:p>
                      <a:pPr>
                        <a:spcAft>
                          <a:spcPts val="0"/>
                        </a:spcAft>
                      </a:pPr>
                      <a:r>
                        <a:rPr sz="1050" b="0">
                          <a:solidFill>
                            <a:srgbClr val="1C2A3E"/>
                          </a:solidFill>
                          <a:latin typeface="Calibri"/>
                        </a:rPr>
                        <a:t>1  Tests</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a:t>
                      </a:r>
                    </a:p>
                  </a:txBody>
                  <a:tcPr marT="36576" marB="36576">
                    <a:solidFill>
                      <a:srgbClr val="EAF5FE"/>
                    </a:solidFill>
                  </a:tcPr>
                </a:tc>
                <a:tc>
                  <a:txBody>
                    <a:bodyPr wrap="square"/>
                    <a:lstStyle/>
                    <a:p>
                      <a:pPr>
                        <a:spcAft>
                          <a:spcPts val="0"/>
                        </a:spcAft>
                      </a:pPr>
                      <a:r>
                        <a:rPr sz="1050" b="0">
                          <a:solidFill>
                            <a:srgbClr val="1C2A3E"/>
                          </a:solidFill>
                          <a:latin typeface="Calibri"/>
                        </a:rPr>
                        <a:t>98 passed</a:t>
                      </a:r>
                    </a:p>
                  </a:txBody>
                  <a:tcPr marT="36576" marB="36576">
                    <a:solidFill>
                      <a:srgbClr val="EAF5FE"/>
                    </a:solidFill>
                  </a:tcPr>
                </a:tc>
              </a:tr>
              <a:tr h="274321">
                <a:tc>
                  <a:txBody>
                    <a:bodyPr wrap="square"/>
                    <a:lstStyle/>
                    <a:p>
                      <a:pPr>
                        <a:spcAft>
                          <a:spcPts val="0"/>
                        </a:spcAft>
                      </a:pPr>
                      <a:r>
                        <a:rPr sz="1050" b="0">
                          <a:solidFill>
                            <a:srgbClr val="1C2A3E"/>
                          </a:solidFill>
                          <a:latin typeface="Calibri"/>
                        </a:rPr>
                        <a:t>2  Golden eval</a:t>
                      </a:r>
                    </a:p>
                  </a:txBody>
                  <a:tcPr marT="36576" marB="36576">
                    <a:solidFill>
                      <a:srgbClr val="FFFFFF"/>
                    </a:solidFill>
                  </a:tcPr>
                </a:tc>
                <a:tc>
                  <a:txBody>
                    <a:bodyPr wrap="square"/>
                    <a:lstStyle/>
                    <a:p>
                      <a:pPr>
                        <a:spcAft>
                          <a:spcPts val="0"/>
                        </a:spcAft>
                      </a:pPr>
                      <a:r>
                        <a:rPr sz="1050" b="0">
                          <a:solidFill>
                            <a:srgbClr val="1C2A3E"/>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1C2A3E"/>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