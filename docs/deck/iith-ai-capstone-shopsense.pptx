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a JSON file per customer for who they are and what happened before, Qdrant for what the rules are. Newest 5 tickets stay verbatim; older ones are condensed by the LLM into a summary merged with the previous one, and a live test plants a fact (back gate, peanut allergy) and checks it survives. Memory also counts earlier contacts on the same order and issue, so the repeat-contact flag (3 or more) works even if the customer does not say it; a re-sent message on the same day and channel is not counted twice. Dense alone has the best hit@1, but hybrid reaches recall@3 of 1.0. The bigger win was the category filter: answers went from 22 of 24 to 24 of 24 correct, because groceries, apparel and electronics have different return windows. The answer step is extractive: it quotes policy sentences and writes nothing new.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3 AND 4  |  MEMORY AND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and M4: remember the customer, answer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48640" y="1554480"/>
            <a:ext cx="393192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365760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index</a:t>
            </a:r>
          </a:p>
        </p:txBody>
      </p:sp>
      <p:sp>
        <p:nvSpPr>
          <p:cNvPr id="9" name="TextBox 8"/>
          <p:cNvSpPr txBox="1"/>
          <p:nvPr/>
        </p:nvSpPr>
        <p:spPr>
          <a:xfrm>
            <a:off x="548640" y="22402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3931920" cy="64008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1" name="TextBox 10"/>
          <p:cNvSpPr txBox="1"/>
          <p:nvPr/>
        </p:nvSpPr>
        <p:spPr>
          <a:xfrm>
            <a:off x="548640" y="31546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429000"/>
            <a:ext cx="3931920" cy="1280160"/>
          </a:xfrm>
          <a:prstGeom prst="rect">
            <a:avLst/>
          </a:prstGeom>
          <a:noFill/>
        </p:spPr>
        <p:txBody>
          <a:bodyPr wrap="square" lIns="45720" rIns="45720">
            <a:spAutoFit/>
          </a:bodyPr>
          <a:lstStyle/>
          <a:p>
            <a:pPr>
              <a:spcAft>
                <a:spcPts val="200"/>
              </a:spcAft>
            </a:pPr>
            <a:r>
              <a:rPr sz="1300" b="0">
                <a:solidFill>
                  <a:srgbClr val="222B38"/>
                </a:solidFill>
                <a:latin typeface="Calibri"/>
              </a:rPr>
              <a:t>•  JSON file per customer; newest 5 tickets verbatim, older condensed by the LLM</a:t>
            </a:r>
          </a:p>
          <a:p>
            <a:pPr>
              <a:spcAft>
                <a:spcPts val="200"/>
              </a:spcAft>
            </a:pPr>
            <a:r>
              <a:rPr sz="1300" b="0">
                <a:solidFill>
                  <a:srgbClr val="222B38"/>
                </a:solidFill>
                <a:latin typeface="Calibri"/>
              </a:rPr>
              <a:t>•  Counts earlier contacts for the 3+ repeat flag</a:t>
            </a:r>
          </a:p>
          <a:p>
            <a:pPr>
              <a:spcAft>
                <a:spcPts val="200"/>
              </a:spcAft>
            </a:pPr>
            <a:r>
              <a:rPr sz="1300" b="0">
                <a:solidFill>
                  <a:srgbClr val="222B38"/>
                </a:solidFill>
                <a:latin typeface="Calibri"/>
              </a:rPr>
              <a:t>•  Policy chunks in Qdrant, 768-dim Gemini vectors</a:t>
            </a:r>
          </a:p>
        </p:txBody>
      </p:sp>
      <p:sp>
        <p:nvSpPr>
          <p:cNvPr id="13" name="TextBox 12"/>
          <p:cNvSpPr txBox="1"/>
          <p:nvPr/>
        </p:nvSpPr>
        <p:spPr>
          <a:xfrm>
            <a:off x="548640" y="470916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983480"/>
            <a:ext cx="3931920" cy="457200"/>
          </a:xfrm>
          <a:prstGeom prst="rect">
            <a:avLst/>
          </a:prstGeom>
          <a:noFill/>
        </p:spPr>
        <p:txBody>
          <a:bodyPr wrap="square" lIns="45720" rIns="45720">
            <a:spAutoFit/>
          </a:bodyPr>
          <a:lstStyle/>
          <a:p>
            <a:pPr>
              <a:spcAft>
                <a:spcPts val="200"/>
              </a:spcAft>
            </a:pPr>
            <a:r>
              <a:rPr sz="1300" b="0">
                <a:solidFill>
                  <a:srgbClr val="222B38"/>
                </a:solidFill>
                <a:latin typeface="Calibri"/>
              </a:rPr>
              <a:t>•  Planted-fact recall check passes (live LLM); 6 tests</a:t>
            </a:r>
          </a:p>
        </p:txBody>
      </p:sp>
      <p:sp>
        <p:nvSpPr>
          <p:cNvPr id="15" name="Rounded Rectangle 14"/>
          <p:cNvSpPr/>
          <p:nvPr/>
        </p:nvSpPr>
        <p:spPr>
          <a:xfrm>
            <a:off x="4663440" y="1554480"/>
            <a:ext cx="694944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09344"/>
            <a:ext cx="6675120" cy="457200"/>
          </a:xfrm>
          <a:prstGeom prst="rect">
            <a:avLst/>
          </a:prstGeom>
          <a:noFill/>
        </p:spPr>
        <p:txBody>
          <a:bodyPr wrap="square" lIns="45720" rIns="45720">
            <a:spAutoFit/>
          </a:bodyPr>
          <a:lstStyle/>
          <a:p>
            <a:pPr>
              <a:spcAft>
                <a:spcPts val="600"/>
              </a:spcAft>
            </a:pPr>
            <a:r>
              <a:rPr sz="1700" b="1">
                <a:solidFill>
                  <a:srgbClr val="FFFFFF"/>
                </a:solidFill>
                <a:latin typeface="Calibri"/>
              </a:rPr>
              <a:t>M4  Grounded policy RAG  (24 questions)</a:t>
            </a:r>
          </a:p>
        </p:txBody>
      </p:sp>
      <p:graphicFrame>
        <p:nvGraphicFramePr>
          <p:cNvPr id="17" name="Table 16"/>
          <p:cNvGraphicFramePr>
            <a:graphicFrameLocks noGrp="1"/>
          </p:cNvGraphicFramePr>
          <p:nvPr/>
        </p:nvGraphicFramePr>
        <p:xfrm>
          <a:off x="4663440" y="2286000"/>
          <a:ext cx="6949440" cy="1920240"/>
        </p:xfrm>
        <a:graphic>
          <a:graphicData uri="http://schemas.openxmlformats.org/drawingml/2006/table">
            <a:tbl>
              <a:tblPr firstRow="1" bandRow="1">
                <a:tableStyleId>{5C22544A-7EE6-4342-B048-85BDC9FD1C3A}</a:tableStyleId>
              </a:tblPr>
              <a:tblGrid>
                <a:gridCol w="2834640"/>
                <a:gridCol w="1280160"/>
                <a:gridCol w="1463040"/>
                <a:gridCol w="1371600"/>
              </a:tblGrid>
              <a:tr h="384048">
                <a:tc>
                  <a:txBody>
                    <a:bodyPr wrap="square"/>
                    <a:lstStyle/>
                    <a:p>
                      <a:pPr>
                        <a:spcAft>
                          <a:spcPts val="0"/>
                        </a:spcAft>
                      </a:pPr>
                      <a:r>
                        <a:rPr sz="13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300" b="1">
                          <a:solidFill>
                            <a:srgbClr val="FFFFFF"/>
                          </a:solidFill>
                          <a:latin typeface="Calibri"/>
                        </a:rPr>
                        <a:t>hit@1</a:t>
                      </a:r>
                    </a:p>
                  </a:txBody>
                  <a:tcPr marT="36576" marB="36576">
                    <a:solidFill>
                      <a:srgbClr val="142B4D"/>
                    </a:solidFill>
                  </a:tcPr>
                </a:tc>
                <a:tc>
                  <a:txBody>
                    <a:bodyPr wrap="square"/>
                    <a:lstStyle/>
                    <a:p>
                      <a:pPr>
                        <a:spcAft>
                          <a:spcPts val="0"/>
                        </a:spcAft>
                      </a:pPr>
                      <a:r>
                        <a:rPr sz="1300" b="1">
                          <a:solidFill>
                            <a:srgbClr val="FFFFFF"/>
                          </a:solidFill>
                          <a:latin typeface="Calibri"/>
                        </a:rPr>
                        <a:t>recall@3</a:t>
                      </a:r>
                    </a:p>
                  </a:txBody>
                  <a:tcPr marT="36576" marB="36576">
                    <a:solidFill>
                      <a:srgbClr val="142B4D"/>
                    </a:solidFill>
                  </a:tcPr>
                </a:tc>
                <a:tc>
                  <a:txBody>
                    <a:bodyPr wrap="square"/>
                    <a:lstStyle/>
                    <a:p>
                      <a:pPr>
                        <a:spcAft>
                          <a:spcPts val="0"/>
                        </a:spcAft>
                      </a:pPr>
                      <a:r>
                        <a:rPr sz="1300" b="1">
                          <a:solidFill>
                            <a:srgbClr val="FFFFFF"/>
                          </a:solidFill>
                          <a:latin typeface="Calibri"/>
                        </a:rPr>
                        <a:t>MRR</a:t>
                      </a:r>
                    </a:p>
                  </a:txBody>
                  <a:tcPr marT="36576" marB="36576">
                    <a:solidFill>
                      <a:srgbClr val="142B4D"/>
                    </a:solidFill>
                  </a:tcPr>
                </a:tc>
              </a:tr>
              <a:tr h="384048">
                <a:tc>
                  <a:txBody>
                    <a:bodyPr wrap="square"/>
                    <a:lstStyle/>
                    <a:p>
                      <a:pPr>
                        <a:spcAft>
                          <a:spcPts val="0"/>
                        </a:spcAft>
                      </a:pPr>
                      <a:r>
                        <a:rPr sz="1300" b="0">
                          <a:solidFill>
                            <a:srgbClr val="222B38"/>
                          </a:solidFill>
                          <a:latin typeface="Calibri"/>
                        </a:rPr>
                        <a:t>Dense only</a:t>
                      </a:r>
                    </a:p>
                  </a:txBody>
                  <a:tcPr marT="36576" marB="36576">
                    <a:solidFill>
                      <a:srgbClr val="EEF3F8"/>
                    </a:solidFill>
                  </a:tcPr>
                </a:tc>
                <a:tc>
                  <a:txBody>
                    <a:bodyPr wrap="square"/>
                    <a:lstStyle/>
                    <a:p>
                      <a:pPr>
                        <a:spcAft>
                          <a:spcPts val="0"/>
                        </a:spcAft>
                      </a:pPr>
                      <a:r>
                        <a:rPr sz="1300" b="0">
                          <a:solidFill>
                            <a:srgbClr val="222B38"/>
                          </a:solidFill>
                          <a:latin typeface="Calibri"/>
                        </a:rPr>
                        <a:t>0.917</a:t>
                      </a:r>
                    </a:p>
                  </a:txBody>
                  <a:tcPr marT="36576" marB="36576">
                    <a:solidFill>
                      <a:srgbClr val="EEF3F8"/>
                    </a:solidFill>
                  </a:tcPr>
                </a:tc>
                <a:tc>
                  <a:txBody>
                    <a:bodyPr wrap="square"/>
                    <a:lstStyle/>
                    <a:p>
                      <a:pPr>
                        <a:spcAft>
                          <a:spcPts val="0"/>
                        </a:spcAft>
                      </a:pPr>
                      <a:r>
                        <a:rPr sz="1300" b="0">
                          <a:solidFill>
                            <a:srgbClr val="222B38"/>
                          </a:solidFill>
                          <a:latin typeface="Calibri"/>
                        </a:rPr>
                        <a:t>0.979</a:t>
                      </a:r>
                    </a:p>
                  </a:txBody>
                  <a:tcPr marT="36576" marB="36576">
                    <a:solidFill>
                      <a:srgbClr val="EEF3F8"/>
                    </a:solidFill>
                  </a:tcPr>
                </a:tc>
                <a:tc>
                  <a:txBody>
                    <a:bodyPr wrap="square"/>
                    <a:lstStyle/>
                    <a:p>
                      <a:pPr>
                        <a:spcAft>
                          <a:spcPts val="0"/>
                        </a:spcAft>
                      </a:pPr>
                      <a:r>
                        <a:rPr sz="1300" b="0">
                          <a:solidFill>
                            <a:srgbClr val="222B38"/>
                          </a:solidFill>
                          <a:latin typeface="Calibri"/>
                        </a:rPr>
                        <a:t>0.951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BM25 only</a:t>
                      </a:r>
                    </a:p>
                  </a:txBody>
                  <a:tcPr marT="36576" marB="36576">
                    <a:solidFill>
                      <a:srgbClr val="FFFFFF"/>
                    </a:solidFill>
                  </a:tcPr>
                </a:tc>
                <a:tc>
                  <a:txBody>
                    <a:bodyPr wrap="square"/>
                    <a:lstStyle/>
                    <a:p>
                      <a:pPr>
                        <a:spcAft>
                          <a:spcPts val="0"/>
                        </a:spcAft>
                      </a:pPr>
                      <a:r>
                        <a:rPr sz="1300" b="0">
                          <a:solidFill>
                            <a:srgbClr val="222B38"/>
                          </a:solidFill>
                          <a:latin typeface="Calibri"/>
                        </a:rPr>
                        <a:t>0.542</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r>
              <a:tr h="384048">
                <a:tc>
                  <a:txBody>
                    <a:bodyPr wrap="square"/>
                    <a:lstStyle/>
                    <a:p>
                      <a:pPr>
                        <a:spcAft>
                          <a:spcPts val="0"/>
                        </a:spcAft>
                      </a:pPr>
                      <a:r>
                        <a:rPr sz="1300" b="0">
                          <a:solidFill>
                            <a:srgbClr val="222B38"/>
                          </a:solidFill>
                          <a:latin typeface="Calibri"/>
                        </a:rPr>
                        <a:t>Hybrid fused</a:t>
                      </a:r>
                    </a:p>
                  </a:txBody>
                  <a:tcPr marT="36576" marB="36576">
                    <a:solidFill>
                      <a:srgbClr val="EEF3F8"/>
                    </a:solidFill>
                  </a:tcPr>
                </a:tc>
                <a:tc>
                  <a:txBody>
                    <a:bodyPr wrap="square"/>
                    <a:lstStyle/>
                    <a:p>
                      <a:pPr>
                        <a:spcAft>
                          <a:spcPts val="0"/>
                        </a:spcAft>
                      </a:pPr>
                      <a:r>
                        <a:rPr sz="1300" b="0">
                          <a:solidFill>
                            <a:srgbClr val="222B38"/>
                          </a:solidFill>
                          <a:latin typeface="Calibri"/>
                        </a:rPr>
                        <a:t>0.875</a:t>
                      </a:r>
                    </a:p>
                  </a:txBody>
                  <a:tcPr marT="36576" marB="36576">
                    <a:solidFill>
                      <a:srgbClr val="EEF3F8"/>
                    </a:solidFill>
                  </a:tcPr>
                </a:tc>
                <a:tc>
                  <a:txBody>
                    <a:bodyPr wrap="square"/>
                    <a:lstStyle/>
                    <a:p>
                      <a:pPr>
                        <a:spcAft>
                          <a:spcPts val="0"/>
                        </a:spcAft>
                      </a:pPr>
                      <a:r>
                        <a:rPr sz="1300" b="0">
                          <a:solidFill>
                            <a:srgbClr val="222B38"/>
                          </a:solidFill>
                          <a:latin typeface="Calibri"/>
                        </a:rPr>
                        <a:t>1.000</a:t>
                      </a:r>
                    </a:p>
                  </a:txBody>
                  <a:tcPr marT="36576" marB="36576">
                    <a:solidFill>
                      <a:srgbClr val="EEF3F8"/>
                    </a:solidFill>
                  </a:tcPr>
                </a:tc>
                <a:tc>
                  <a:txBody>
                    <a:bodyPr wrap="square"/>
                    <a:lstStyle/>
                    <a:p>
                      <a:pPr>
                        <a:spcAft>
                          <a:spcPts val="0"/>
                        </a:spcAft>
                      </a:pPr>
                      <a:r>
                        <a:rPr sz="1300" b="0">
                          <a:solidFill>
                            <a:srgbClr val="222B38"/>
                          </a:solidFill>
                          <a:latin typeface="Calibri"/>
                        </a:rPr>
                        <a:t>0.931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Hybrid + rerank</a:t>
                      </a:r>
                    </a:p>
                  </a:txBody>
                  <a:tcPr marT="36576" marB="36576">
                    <a:solidFill>
                      <a:srgbClr val="FFFFFF"/>
                    </a:solidFill>
                  </a:tcPr>
                </a:tc>
                <a:tc>
                  <a:txBody>
                    <a:bodyPr wrap="square"/>
                    <a:lstStyle/>
                    <a:p>
                      <a:pPr>
                        <a:spcAft>
                          <a:spcPts val="0"/>
                        </a:spcAft>
                      </a:pPr>
                      <a:r>
                        <a:rPr sz="1300" b="0">
                          <a:solidFill>
                            <a:srgbClr val="222B38"/>
                          </a:solidFill>
                          <a:latin typeface="Calibri"/>
                        </a:rPr>
                        <a:t>0.875</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c>
                  <a:txBody>
                    <a:bodyPr wrap="square"/>
                    <a:lstStyle/>
                    <a:p>
                      <a:pPr>
                        <a:spcAft>
                          <a:spcPts val="0"/>
                        </a:spcAft>
                      </a:pPr>
                      <a:r>
                        <a:rPr sz="1300" b="0">
                          <a:solidFill>
                            <a:srgbClr val="222B38"/>
                          </a:solidFill>
                          <a:latin typeface="Calibri"/>
                        </a:rPr>
                        <a:t>0.924</a:t>
                      </a:r>
                    </a:p>
                  </a:txBody>
                  <a:tcPr marT="36576" marB="36576">
                    <a:solidFill>
                      <a:srgbClr val="FFFFFF"/>
                    </a:solidFill>
                  </a:tcPr>
                </a:tc>
              </a:tr>
            </a:tbl>
          </a:graphicData>
        </a:graphic>
      </p:graphicFrame>
      <p:sp>
        <p:nvSpPr>
          <p:cNvPr id="18" name="TextBox 17"/>
          <p:cNvSpPr txBox="1"/>
          <p:nvPr/>
        </p:nvSpPr>
        <p:spPr>
          <a:xfrm>
            <a:off x="4663440" y="4343400"/>
            <a:ext cx="6949440" cy="1188720"/>
          </a:xfrm>
          <a:prstGeom prst="rect">
            <a:avLst/>
          </a:prstGeom>
          <a:noFill/>
        </p:spPr>
        <p:txBody>
          <a:bodyPr wrap="square" lIns="45720" rIns="45720">
            <a:spAutoFit/>
          </a:bodyPr>
          <a:lstStyle/>
          <a:p>
            <a:pPr>
              <a:spcAft>
                <a:spcPts val="300"/>
              </a:spcAft>
            </a:pPr>
            <a:r>
              <a:rPr sz="1300" b="0">
                <a:solidFill>
                  <a:srgbClr val="222B38"/>
                </a:solidFill>
                <a:latin typeface="Calibri"/>
              </a:rPr>
              <a:t>•  Answers with the order's category: 24 of 24 (22 without it)</a:t>
            </a:r>
          </a:p>
          <a:p>
            <a:pPr>
              <a:spcAft>
                <a:spcPts val="300"/>
              </a:spcAft>
            </a:pPr>
            <a:r>
              <a:rPr sz="1300" b="0">
                <a:solidFill>
                  <a:srgbClr val="222B38"/>
                </a:solidFill>
                <a:latin typeface="Calibri"/>
              </a:rPr>
              <a:t>•  The category excludes other categories' return windows</a:t>
            </a:r>
          </a:p>
          <a:p>
            <a:pPr>
              <a:spcAft>
                <a:spcPts val="300"/>
              </a:spcAft>
            </a:pPr>
            <a:r>
              <a:rPr sz="1300" b="0">
                <a:solidFill>
                  <a:srgbClr val="222B38"/>
                </a:solidFill>
                <a:latin typeface="Calibri"/>
              </a:rPr>
              <a:t>•  Extractive answers quote the policy text; nothing is invented</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tests/unit/test_memory.py tests/unit/test_policy_index.py     |     python scripts/run_retrieval_eval.py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