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Memory types: working is the live ticket plus the newest 5 (steps 1, 4, 5); episodic is the event written per ticket (2, 3, 6); semantic is the known facts and the condensed summary (6, 7, 8); procedural, meaning how to act, is not here, it is the M4 policy index and the M2 rules.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sample: order KW-O-000000 is a Home &amp; Kitchen product, damaged on delivery. The query is built from the M1 ticket and the category comes from the order, not from the LLM. Step 2 is the key one: the category addenda contradict each other (apparel 45 days, Home &amp; Kitchen 30), so other categories are excluded before searching. Without the category the same question returned apparel, furniture and groceries; with it, the answer says 30 days. Search is dense Gemini similarity with a small BM25 boost for exact policy terms; dense alone has the best hit@1 but hybrid reaches recall@3 of 1.0. The answer step uses no LLM: it quotes policy sentences, skips any that look like instructions (policy text is untrusted), drops fragments that repeat another sentence, and cites the chunk each sentence came from. A guardrail blocks any answer whose numbers are not in the evidence. Groundedness is also measured: every quoted sentence must appear word for word in a chunk the answer cites, 24 of 24, sentence groundedness 1.0, with a unit test showing the metric fails on an invented sentence. Honest limit: because the answer is extractive, the plain grounded flag passes almost by construction, which is why this stricter check exists; the real protection is that nothing is generated. Checks: pytest tests/unit/test_policy_agent.py tests/unit/test_policy_index.py and python scripts/run_retrieval_eval.py (24 questions; 24 of 24 with the category, 22 without). Full diagram: docs/diagrams/m4_policy_sequence.md.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 + facts</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Rounded Rectangle 30"/>
          <p:cNvSpPr/>
          <p:nvPr/>
        </p:nvSpPr>
        <p:spPr>
          <a:xfrm>
            <a:off x="5294376" y="19933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294376" y="19933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3" name="Rounded Rectangle 32"/>
          <p:cNvSpPr/>
          <p:nvPr/>
        </p:nvSpPr>
        <p:spPr>
          <a:xfrm>
            <a:off x="5294376" y="24505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294376" y="2450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5" name="Rounded Rectangle 34"/>
          <p:cNvSpPr/>
          <p:nvPr/>
        </p:nvSpPr>
        <p:spPr>
          <a:xfrm>
            <a:off x="5294376" y="2907792"/>
            <a:ext cx="914400"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294376" y="2907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EPISODIC</a:t>
            </a:r>
          </a:p>
        </p:txBody>
      </p:sp>
      <p:sp>
        <p:nvSpPr>
          <p:cNvPr id="37" name="Rounded Rectangle 36"/>
          <p:cNvSpPr/>
          <p:nvPr/>
        </p:nvSpPr>
        <p:spPr>
          <a:xfrm>
            <a:off x="5294376" y="3364992"/>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294376" y="33649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39" name="Rounded Rectangle 38"/>
          <p:cNvSpPr/>
          <p:nvPr/>
        </p:nvSpPr>
        <p:spPr>
          <a:xfrm>
            <a:off x="5294376" y="3822191"/>
            <a:ext cx="914400" cy="237744"/>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294376" y="3822191"/>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WORKING</a:t>
            </a:r>
          </a:p>
        </p:txBody>
      </p:sp>
      <p:sp>
        <p:nvSpPr>
          <p:cNvPr id="41" name="Rounded Rectangle 40"/>
          <p:cNvSpPr/>
          <p:nvPr/>
        </p:nvSpPr>
        <p:spPr>
          <a:xfrm>
            <a:off x="5257800" y="4279392"/>
            <a:ext cx="475488" cy="237744"/>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257800"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EPI</a:t>
            </a:r>
          </a:p>
        </p:txBody>
      </p:sp>
      <p:sp>
        <p:nvSpPr>
          <p:cNvPr id="43" name="Rounded Rectangle 42"/>
          <p:cNvSpPr/>
          <p:nvPr/>
        </p:nvSpPr>
        <p:spPr>
          <a:xfrm>
            <a:off x="5769864" y="4279392"/>
            <a:ext cx="475488"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769864" y="4279392"/>
            <a:ext cx="475488"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t>
            </a:r>
          </a:p>
        </p:txBody>
      </p:sp>
      <p:sp>
        <p:nvSpPr>
          <p:cNvPr id="45" name="Rounded Rectangle 44"/>
          <p:cNvSpPr/>
          <p:nvPr/>
        </p:nvSpPr>
        <p:spPr>
          <a:xfrm>
            <a:off x="5294376" y="47365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294376" y="47365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7" name="Rounded Rectangle 46"/>
          <p:cNvSpPr/>
          <p:nvPr/>
        </p:nvSpPr>
        <p:spPr>
          <a:xfrm>
            <a:off x="5294376" y="5193792"/>
            <a:ext cx="914400" cy="237744"/>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294376" y="5193792"/>
            <a:ext cx="914400" cy="237744"/>
          </a:xfrm>
          <a:prstGeom prst="rect">
            <a:avLst/>
          </a:prstGeom>
          <a:noFill/>
        </p:spPr>
        <p:txBody>
          <a:bodyPr wrap="square" lIns="45720" rIns="45720">
            <a:spAutoFit/>
          </a:bodyPr>
          <a:lstStyle/>
          <a:p>
            <a:pPr algn="ctr">
              <a:spcAft>
                <a:spcPts val="0"/>
              </a:spcAft>
            </a:pPr>
            <a:r>
              <a:rPr sz="800" b="1">
                <a:solidFill>
                  <a:srgbClr val="FFFFFF"/>
                </a:solidFill>
                <a:latin typeface="Calibri"/>
              </a:rPr>
              <a:t>SEMANTIC</a:t>
            </a:r>
          </a:p>
        </p:txBody>
      </p:sp>
      <p:sp>
        <p:nvSpPr>
          <p:cNvPr id="49" name="TextBox 48"/>
          <p:cNvSpPr txBox="1"/>
          <p:nvPr/>
        </p:nvSpPr>
        <p:spPr>
          <a:xfrm>
            <a:off x="548640" y="5541264"/>
            <a:ext cx="11064240" cy="228600"/>
          </a:xfrm>
          <a:prstGeom prst="rect">
            <a:avLst/>
          </a:prstGeom>
          <a:noFill/>
        </p:spPr>
        <p:txBody>
          <a:bodyPr wrap="square" lIns="45720" rIns="45720">
            <a:spAutoFit/>
          </a:bodyPr>
          <a:lstStyle/>
          <a:p>
            <a:pPr>
              <a:spcAft>
                <a:spcPts val="0"/>
              </a:spcAft>
            </a:pPr>
            <a:r>
              <a:rPr sz="950" b="0">
                <a:solidFill>
                  <a:srgbClr val="5F6B7A"/>
                </a:solidFill>
                <a:latin typeface="Calibri"/>
              </a:rPr>
              <a:t>Memory types:  WORKING = live ticket + newest 5   |   EPISODIC = what happened   |   SEMANTIC = known facts + summary   |   PROCEDURAL (policy index, M2 rules) lives outside this store</a:t>
            </a:r>
          </a:p>
        </p:txBody>
      </p:sp>
      <p:sp>
        <p:nvSpPr>
          <p:cNvPr id="50" name="TextBox 49"/>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51" name="Table 50"/>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52" name="Rounded Rectangle 51"/>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54" name="TextBox 53"/>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55" name="TextBox 54"/>
          <p:cNvSpPr txBox="1"/>
          <p:nvPr/>
        </p:nvSpPr>
        <p:spPr>
          <a:xfrm>
            <a:off x="548640" y="585216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4  |  GROUNDED POLICY RAG, SAME CUSTOMER AND ORDER</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M4: answers are quoted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Query</a:t>
            </a:r>
          </a:p>
        </p:txBody>
      </p:sp>
      <p:cxnSp>
        <p:nvCxnSpPr>
          <p:cNvPr id="8" name="Connector 7"/>
          <p:cNvCxnSpPr/>
          <p:nvPr/>
        </p:nvCxnSpPr>
        <p:spPr>
          <a:xfrm>
            <a:off x="10972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947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Policy index</a:t>
            </a:r>
          </a:p>
        </p:txBody>
      </p:sp>
      <p:cxnSp>
        <p:nvCxnSpPr>
          <p:cNvPr id="10" name="Connector 9"/>
          <p:cNvCxnSpPr/>
          <p:nvPr/>
        </p:nvCxnSpPr>
        <p:spPr>
          <a:xfrm>
            <a:off x="251460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364991"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Answer agent</a:t>
            </a:r>
          </a:p>
        </p:txBody>
      </p:sp>
      <p:cxnSp>
        <p:nvCxnSpPr>
          <p:cNvPr id="12" name="Connector 11"/>
          <p:cNvCxnSpPr/>
          <p:nvPr/>
        </p:nvCxnSpPr>
        <p:spPr>
          <a:xfrm>
            <a:off x="393192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64515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Guardrail</a:t>
            </a:r>
          </a:p>
        </p:txBody>
      </p:sp>
      <p:cxnSp>
        <p:nvCxnSpPr>
          <p:cNvPr id="14" name="Connector 13"/>
          <p:cNvCxnSpPr/>
          <p:nvPr/>
        </p:nvCxnSpPr>
        <p:spPr>
          <a:xfrm>
            <a:off x="5212080" y="1828800"/>
            <a:ext cx="0" cy="35204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380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Query + category</a:t>
            </a:r>
          </a:p>
        </p:txBody>
      </p:sp>
      <p:sp>
        <p:nvSpPr>
          <p:cNvPr id="17" name="Rounded Rectangle 16"/>
          <p:cNvSpPr/>
          <p:nvPr/>
        </p:nvSpPr>
        <p:spPr>
          <a:xfrm>
            <a:off x="1737360" y="2368296"/>
            <a:ext cx="155448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764792" y="2414016"/>
            <a:ext cx="1499616"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2 Other categories out</a:t>
            </a:r>
          </a:p>
        </p:txBody>
      </p:sp>
      <p:sp>
        <p:nvSpPr>
          <p:cNvPr id="19" name="Rounded Rectangle 18"/>
          <p:cNvSpPr/>
          <p:nvPr/>
        </p:nvSpPr>
        <p:spPr>
          <a:xfrm>
            <a:off x="1737360" y="2788920"/>
            <a:ext cx="155448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764792" y="2834640"/>
            <a:ext cx="149961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3 Dense + BM25 search</a:t>
            </a:r>
          </a:p>
        </p:txBody>
      </p:sp>
      <p:cxnSp>
        <p:nvCxnSpPr>
          <p:cNvPr id="21" name="Connector 20"/>
          <p:cNvCxnSpPr/>
          <p:nvPr/>
        </p:nvCxnSpPr>
        <p:spPr>
          <a:xfrm>
            <a:off x="2514600" y="3529584"/>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532888" y="3282696"/>
            <a:ext cx="1380743"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4 Top 5 chunks</a:t>
            </a:r>
          </a:p>
        </p:txBody>
      </p:sp>
      <p:sp>
        <p:nvSpPr>
          <p:cNvPr id="23" name="Rounded Rectangle 22"/>
          <p:cNvSpPr/>
          <p:nvPr/>
        </p:nvSpPr>
        <p:spPr>
          <a:xfrm>
            <a:off x="3017520" y="3630168"/>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44951" y="3675887"/>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5 Quote, skip injected</a:t>
            </a:r>
          </a:p>
        </p:txBody>
      </p:sp>
      <p:sp>
        <p:nvSpPr>
          <p:cNvPr id="25" name="Rounded Rectangle 24"/>
          <p:cNvSpPr/>
          <p:nvPr/>
        </p:nvSpPr>
        <p:spPr>
          <a:xfrm>
            <a:off x="3017520" y="4050792"/>
            <a:ext cx="1828800" cy="365760"/>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044951" y="4096512"/>
            <a:ext cx="1773936" cy="274320"/>
          </a:xfrm>
          <a:prstGeom prst="rect">
            <a:avLst/>
          </a:prstGeom>
          <a:noFill/>
        </p:spPr>
        <p:txBody>
          <a:bodyPr wrap="square" lIns="45720" rIns="45720">
            <a:spAutoFit/>
          </a:bodyPr>
          <a:lstStyle/>
          <a:p>
            <a:pPr algn="ctr">
              <a:spcAft>
                <a:spcPts val="0"/>
              </a:spcAft>
            </a:pPr>
            <a:r>
              <a:rPr sz="1000" b="1">
                <a:solidFill>
                  <a:srgbClr val="222B38"/>
                </a:solidFill>
                <a:latin typeface="Calibri"/>
              </a:rPr>
              <a:t>6 Cite, check numbers</a:t>
            </a:r>
          </a:p>
        </p:txBody>
      </p:sp>
      <p:cxnSp>
        <p:nvCxnSpPr>
          <p:cNvPr id="27" name="Connector 26"/>
          <p:cNvCxnSpPr/>
          <p:nvPr/>
        </p:nvCxnSpPr>
        <p:spPr>
          <a:xfrm>
            <a:off x="3931920" y="4791456"/>
            <a:ext cx="128016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950207" y="4544568"/>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Answer</a:t>
            </a:r>
          </a:p>
        </p:txBody>
      </p:sp>
      <p:cxnSp>
        <p:nvCxnSpPr>
          <p:cNvPr id="29" name="Connector 28"/>
          <p:cNvCxnSpPr/>
          <p:nvPr/>
        </p:nvCxnSpPr>
        <p:spPr>
          <a:xfrm flipH="1">
            <a:off x="1097280" y="5212080"/>
            <a:ext cx="411480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115568" y="4965192"/>
            <a:ext cx="407822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Allowed or blocked</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SAME SAMPLE, REAL OUTPUT</a:t>
            </a:r>
          </a:p>
        </p:txBody>
      </p:sp>
      <p:sp>
        <p:nvSpPr>
          <p:cNvPr id="32" name="Rounded Rectangle 31"/>
          <p:cNvSpPr/>
          <p:nvPr/>
        </p:nvSpPr>
        <p:spPr>
          <a:xfrm>
            <a:off x="6263640" y="1691640"/>
            <a:ext cx="5394960" cy="146304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1737360"/>
            <a:ext cx="5212080" cy="1371600"/>
          </a:xfrm>
          <a:prstGeom prst="rect">
            <a:avLst/>
          </a:prstGeom>
          <a:noFill/>
        </p:spPr>
        <p:txBody>
          <a:bodyPr wrap="square" lIns="45720" rIns="45720">
            <a:spAutoFit/>
          </a:bodyPr>
          <a:lstStyle/>
          <a:p>
            <a:pPr>
              <a:spcAft>
                <a:spcPts val="300"/>
              </a:spcAft>
            </a:pPr>
            <a:r>
              <a:rPr sz="1100" b="1">
                <a:solidFill>
                  <a:srgbClr val="222B38"/>
                </a:solidFill>
                <a:latin typeface="Calibri"/>
              </a:rPr>
              <a:t>Query: damaged_delivery Damaged order, demands refund.</a:t>
            </a:r>
          </a:p>
          <a:p>
            <a:pPr>
              <a:spcAft>
                <a:spcPts val="300"/>
              </a:spcAft>
            </a:pPr>
            <a:r>
              <a:rPr sz="1100" b="0">
                <a:solidFill>
                  <a:srgbClr val="222B38"/>
                </a:solidFill>
                <a:latin typeface="Calibri"/>
              </a:rPr>
              <a:t>Category: Home &amp; Kitchen (from the order's product)</a:t>
            </a:r>
          </a:p>
          <a:p>
            <a:pPr>
              <a:spcAft>
                <a:spcPts val="300"/>
              </a:spcAft>
            </a:pPr>
            <a:r>
              <a:rPr sz="1100" b="0">
                <a:solidFill>
                  <a:srgbClr val="222B38"/>
                </a:solidFill>
                <a:latin typeface="Calibri"/>
              </a:rPr>
              <a:t>Answer: damaged items must be reported within 30 days of delivery; later reports go to the manufacturer warranty.</a:t>
            </a:r>
          </a:p>
          <a:p>
            <a:pPr>
              <a:spcAft>
                <a:spcPts val="300"/>
              </a:spcAft>
            </a:pPr>
            <a:r>
              <a:rPr sz="1100" b="1">
                <a:solidFill>
                  <a:srgbClr val="2E7D32"/>
                </a:solidFill>
                <a:latin typeface="Calibri"/>
              </a:rPr>
              <a:t>Cited: category-home-kitchen chunk 1  |  grounded: true</a:t>
            </a:r>
          </a:p>
        </p:txBody>
      </p:sp>
      <p:graphicFrame>
        <p:nvGraphicFramePr>
          <p:cNvPr id="34" name="Table 33"/>
          <p:cNvGraphicFramePr>
            <a:graphicFrameLocks noGrp="1"/>
          </p:cNvGraphicFramePr>
          <p:nvPr/>
        </p:nvGraphicFramePr>
        <p:xfrm>
          <a:off x="6263640" y="3337560"/>
          <a:ext cx="5394960" cy="1755648"/>
        </p:xfrm>
        <a:graphic>
          <a:graphicData uri="http://schemas.openxmlformats.org/drawingml/2006/table">
            <a:tbl>
              <a:tblPr firstRow="1" bandRow="1">
                <a:tableStyleId>{5C22544A-7EE6-4342-B048-85BDC9FD1C3A}</a:tableStyleId>
              </a:tblPr>
              <a:tblGrid>
                <a:gridCol w="2286000"/>
                <a:gridCol w="914400"/>
                <a:gridCol w="1005840"/>
                <a:gridCol w="1188720"/>
              </a:tblGrid>
              <a:tr h="292608">
                <a:tc>
                  <a:txBody>
                    <a:bodyPr wrap="square"/>
                    <a:lstStyle/>
                    <a:p>
                      <a:pPr>
                        <a:spcAft>
                          <a:spcPts val="0"/>
                        </a:spcAft>
                      </a:pPr>
                      <a:r>
                        <a:rPr sz="1100" b="1">
                          <a:solidFill>
                            <a:srgbClr val="FFFFFF"/>
                          </a:solidFill>
                          <a:latin typeface="Calibri"/>
                        </a:rPr>
                        <a:t>24 questions</a:t>
                      </a:r>
                    </a:p>
                  </a:txBody>
                  <a:tcPr marT="36576" marB="36576">
                    <a:solidFill>
                      <a:srgbClr val="142B4D"/>
                    </a:solidFill>
                  </a:tcPr>
                </a:tc>
                <a:tc>
                  <a:txBody>
                    <a:bodyPr wrap="square"/>
                    <a:lstStyle/>
                    <a:p>
                      <a:pPr>
                        <a:spcAft>
                          <a:spcPts val="0"/>
                        </a:spcAft>
                      </a:pPr>
                      <a:r>
                        <a:rPr sz="1100" b="1">
                          <a:solidFill>
                            <a:srgbClr val="FFFFFF"/>
                          </a:solidFill>
                          <a:latin typeface="Calibri"/>
                        </a:rPr>
                        <a:t>hit@1</a:t>
                      </a:r>
                    </a:p>
                  </a:txBody>
                  <a:tcPr marT="36576" marB="36576">
                    <a:solidFill>
                      <a:srgbClr val="142B4D"/>
                    </a:solidFill>
                  </a:tcPr>
                </a:tc>
                <a:tc>
                  <a:txBody>
                    <a:bodyPr wrap="square"/>
                    <a:lstStyle/>
                    <a:p>
                      <a:pPr>
                        <a:spcAft>
                          <a:spcPts val="0"/>
                        </a:spcAft>
                      </a:pPr>
                      <a:r>
                        <a:rPr sz="1100" b="1">
                          <a:solidFill>
                            <a:srgbClr val="FFFFFF"/>
                          </a:solidFill>
                          <a:latin typeface="Calibri"/>
                        </a:rPr>
                        <a:t>recall@3</a:t>
                      </a:r>
                    </a:p>
                  </a:txBody>
                  <a:tcPr marT="36576" marB="36576">
                    <a:solidFill>
                      <a:srgbClr val="142B4D"/>
                    </a:solidFill>
                  </a:tcPr>
                </a:tc>
                <a:tc>
                  <a:txBody>
                    <a:bodyPr wrap="square"/>
                    <a:lstStyle/>
                    <a:p>
                      <a:pPr>
                        <a:spcAft>
                          <a:spcPts val="0"/>
                        </a:spcAft>
                      </a:pPr>
                      <a:r>
                        <a:rPr sz="1100" b="1">
                          <a:solidFill>
                            <a:srgbClr val="FFFFFF"/>
                          </a:solidFill>
                          <a:latin typeface="Calibri"/>
                        </a:rPr>
                        <a:t>Answers right</a:t>
                      </a:r>
                    </a:p>
                  </a:txBody>
                  <a:tcPr marT="36576" marB="36576">
                    <a:solidFill>
                      <a:srgbClr val="142B4D"/>
                    </a:solidFill>
                  </a:tcPr>
                </a:tc>
              </a:tr>
              <a:tr h="292608">
                <a:tc>
                  <a:txBody>
                    <a:bodyPr wrap="square"/>
                    <a:lstStyle/>
                    <a:p>
                      <a:pPr>
                        <a:spcAft>
                          <a:spcPts val="0"/>
                        </a:spcAft>
                      </a:pPr>
                      <a:r>
                        <a:rPr sz="1100" b="0">
                          <a:solidFill>
                            <a:srgbClr val="222B38"/>
                          </a:solidFill>
                          <a:latin typeface="Calibri"/>
                        </a:rPr>
                        <a:t>Dense only</a:t>
                      </a:r>
                    </a:p>
                  </a:txBody>
                  <a:tcPr marT="36576" marB="36576">
                    <a:solidFill>
                      <a:srgbClr val="EEF3F8"/>
                    </a:solidFill>
                  </a:tcPr>
                </a:tc>
                <a:tc>
                  <a:txBody>
                    <a:bodyPr wrap="square"/>
                    <a:lstStyle/>
                    <a:p>
                      <a:pPr>
                        <a:spcAft>
                          <a:spcPts val="0"/>
                        </a:spcAft>
                      </a:pPr>
                      <a:r>
                        <a:rPr sz="1100" b="0">
                          <a:solidFill>
                            <a:srgbClr val="222B38"/>
                          </a:solidFill>
                          <a:latin typeface="Calibri"/>
                        </a:rPr>
                        <a:t>0.917</a:t>
                      </a:r>
                    </a:p>
                  </a:txBody>
                  <a:tcPr marT="36576" marB="36576">
                    <a:solidFill>
                      <a:srgbClr val="EEF3F8"/>
                    </a:solidFill>
                  </a:tcPr>
                </a:tc>
                <a:tc>
                  <a:txBody>
                    <a:bodyPr wrap="square"/>
                    <a:lstStyle/>
                    <a:p>
                      <a:pPr>
                        <a:spcAft>
                          <a:spcPts val="0"/>
                        </a:spcAft>
                      </a:pPr>
                      <a:r>
                        <a:rPr sz="1100" b="0">
                          <a:solidFill>
                            <a:srgbClr val="222B38"/>
                          </a:solidFill>
                          <a:latin typeface="Calibri"/>
                        </a:rPr>
                        <a:t>0.979</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r>
              <a:tr h="292608">
                <a:tc>
                  <a:txBody>
                    <a:bodyPr wrap="square"/>
                    <a:lstStyle/>
                    <a:p>
                      <a:pPr>
                        <a:spcAft>
                          <a:spcPts val="0"/>
                        </a:spcAft>
                      </a:pPr>
                      <a:r>
                        <a:rPr sz="1100" b="0">
                          <a:solidFill>
                            <a:srgbClr val="222B38"/>
                          </a:solidFill>
                          <a:latin typeface="Calibri"/>
                        </a:rPr>
                        <a:t>Hybrid fused</a:t>
                      </a:r>
                    </a:p>
                  </a:txBody>
                  <a:tcPr marT="36576" marB="36576">
                    <a:solidFill>
                      <a:srgbClr val="FFFFFF"/>
                    </a:solidFill>
                  </a:tcPr>
                </a:tc>
                <a:tc>
                  <a:txBody>
                    <a:bodyPr wrap="square"/>
                    <a:lstStyle/>
                    <a:p>
                      <a:pPr>
                        <a:spcAft>
                          <a:spcPts val="0"/>
                        </a:spcAft>
                      </a:pPr>
                      <a:r>
                        <a:rPr sz="1100" b="0">
                          <a:solidFill>
                            <a:srgbClr val="222B38"/>
                          </a:solidFill>
                          <a:latin typeface="Calibri"/>
                        </a:rPr>
                        <a:t>0.875</a:t>
                      </a:r>
                    </a:p>
                  </a:txBody>
                  <a:tcPr marT="36576" marB="36576">
                    <a:solidFill>
                      <a:srgbClr val="FFFFFF"/>
                    </a:solidFill>
                  </a:tcPr>
                </a:tc>
                <a:tc>
                  <a:txBody>
                    <a:bodyPr wrap="square"/>
                    <a:lstStyle/>
                    <a:p>
                      <a:pPr>
                        <a:spcAft>
                          <a:spcPts val="0"/>
                        </a:spcAft>
                      </a:pPr>
                      <a:r>
                        <a:rPr sz="1100" b="0">
                          <a:solidFill>
                            <a:srgbClr val="222B38"/>
                          </a:solidFill>
                          <a:latin typeface="Calibri"/>
                        </a:rPr>
                        <a:t>1.000</a:t>
                      </a:r>
                    </a:p>
                  </a:txBody>
                  <a:tcPr marT="36576" marB="36576">
                    <a:solidFill>
                      <a:srgbClr val="FFFFFF"/>
                    </a:solidFill>
                  </a:tcPr>
                </a:tc>
                <a:tc>
                  <a:txBody>
                    <a:bodyPr wrap="square"/>
                    <a:lstStyle/>
                    <a:p>
                      <a:pPr>
                        <a:spcAft>
                          <a:spcPts val="0"/>
                        </a:spcAft>
                      </a:pPr>
                      <a:r>
                        <a:rPr sz="1100" b="0">
                          <a:solidFill>
                            <a:srgbClr val="222B38"/>
                          </a:solidFill>
                          <a:latin typeface="Calibri"/>
                        </a:rPr>
                        <a:t>-</a:t>
                      </a:r>
                    </a:p>
                  </a:txBody>
                  <a:tcPr marT="36576" marB="36576">
                    <a:solidFill>
                      <a:srgbClr val="FFFFFF"/>
                    </a:solidFill>
                  </a:tcPr>
                </a:tc>
              </a:tr>
              <a:tr h="292608">
                <a:tc>
                  <a:txBody>
                    <a:bodyPr wrap="square"/>
                    <a:lstStyle/>
                    <a:p>
                      <a:pPr>
                        <a:spcAft>
                          <a:spcPts val="0"/>
                        </a:spcAft>
                      </a:pPr>
                      <a:r>
                        <a:rPr sz="1100" b="0">
                          <a:solidFill>
                            <a:srgbClr val="222B38"/>
                          </a:solidFill>
                          <a:latin typeface="Calibri"/>
                        </a:rPr>
                        <a:t>Hybrid, no category</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c>
                  <a:txBody>
                    <a:bodyPr wrap="square"/>
                    <a:lstStyle/>
                    <a:p>
                      <a:pPr>
                        <a:spcAft>
                          <a:spcPts val="0"/>
                        </a:spcAft>
                      </a:pPr>
                      <a:r>
                        <a:rPr sz="1100" b="0">
                          <a:solidFill>
                            <a:srgbClr val="222B38"/>
                          </a:solidFill>
                          <a:latin typeface="Calibri"/>
                        </a:rPr>
                        <a:t>22 / 24</a:t>
                      </a:r>
                    </a:p>
                  </a:txBody>
                  <a:tcPr marT="36576" marB="36576">
                    <a:solidFill>
                      <a:srgbClr val="EEF3F8"/>
                    </a:solidFill>
                  </a:tcPr>
                </a:tc>
              </a:tr>
              <a:tr h="292608">
                <a:tc>
                  <a:txBody>
                    <a:bodyPr wrap="square"/>
                    <a:lstStyle/>
                    <a:p>
                      <a:pPr>
                        <a:spcAft>
                          <a:spcPts val="0"/>
                        </a:spcAft>
                      </a:pPr>
                      <a:r>
                        <a:rPr sz="1100" b="0">
                          <a:solidFill>
                            <a:srgbClr val="222B38"/>
                          </a:solidFill>
                          <a:latin typeface="Calibri"/>
                        </a:rPr>
                        <a:t>Hybrid + order category</a:t>
                      </a:r>
                    </a:p>
                  </a:txBody>
                  <a:tcPr marT="36576" marB="36576">
                    <a:solidFill>
                      <a:srgbClr val="FFFFFF"/>
                    </a:solidFill>
                  </a:tcPr>
                </a:tc>
                <a:tc>
                  <a:txBody>
                    <a:bodyPr wrap="square"/>
                    <a:lstStyle/>
                    <a:p>
                      <a:pPr>
                        <a:spcAft>
                          <a:spcPts val="0"/>
                        </a:spcAft>
                      </a:pPr>
                      <a:r>
                        <a:rPr sz="1100" b="0">
                          <a:solidFill>
                            <a:srgbClr val="222B38"/>
                          </a:solidFill>
                          <a:latin typeface="Calibri"/>
                        </a:rPr>
                        <a:t>-</a:t>
                      </a:r>
                    </a:p>
                  </a:txBody>
                  <a:tcPr marT="36576" marB="36576">
                    <a:solidFill>
                      <a:srgbClr val="FFFFFF"/>
                    </a:solidFill>
                  </a:tcPr>
                </a:tc>
                <a:tc>
                  <a:txBody>
                    <a:bodyPr wrap="square"/>
                    <a:lstStyle/>
                    <a:p>
                      <a:pPr>
                        <a:spcAft>
                          <a:spcPts val="0"/>
                        </a:spcAft>
                      </a:pPr>
                      <a:r>
                        <a:rPr sz="1100" b="0">
                          <a:solidFill>
                            <a:srgbClr val="222B38"/>
                          </a:solidFill>
                          <a:latin typeface="Calibri"/>
                        </a:rPr>
                        <a:t>-</a:t>
                      </a:r>
                    </a:p>
                  </a:txBody>
                  <a:tcPr marT="36576" marB="36576">
                    <a:solidFill>
                      <a:srgbClr val="FFFFFF"/>
                    </a:solidFill>
                  </a:tcPr>
                </a:tc>
                <a:tc>
                  <a:txBody>
                    <a:bodyPr wrap="square"/>
                    <a:lstStyle/>
                    <a:p>
                      <a:pPr>
                        <a:spcAft>
                          <a:spcPts val="0"/>
                        </a:spcAft>
                      </a:pPr>
                      <a:r>
                        <a:rPr sz="1100" b="0">
                          <a:solidFill>
                            <a:srgbClr val="222B38"/>
                          </a:solidFill>
                          <a:latin typeface="Calibri"/>
                        </a:rPr>
                        <a:t>24 / 24</a:t>
                      </a:r>
                    </a:p>
                  </a:txBody>
                  <a:tcPr marT="36576" marB="36576">
                    <a:solidFill>
                      <a:srgbClr val="FFFFFF"/>
                    </a:solidFill>
                  </a:tcPr>
                </a:tc>
              </a:tr>
              <a:tr h="292608">
                <a:tc>
                  <a:txBody>
                    <a:bodyPr wrap="square"/>
                    <a:lstStyle/>
                    <a:p>
                      <a:pPr>
                        <a:spcAft>
                          <a:spcPts val="0"/>
                        </a:spcAft>
                      </a:pPr>
                      <a:r>
                        <a:rPr sz="1100" b="0">
                          <a:solidFill>
                            <a:srgbClr val="222B38"/>
                          </a:solidFill>
                          <a:latin typeface="Calibri"/>
                        </a:rPr>
                        <a:t>Groundedness (quoted = cited)</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c>
                  <a:txBody>
                    <a:bodyPr wrap="square"/>
                    <a:lstStyle/>
                    <a:p>
                      <a:pPr>
                        <a:spcAft>
                          <a:spcPts val="0"/>
                        </a:spcAft>
                      </a:pPr>
                      <a:r>
                        <a:rPr sz="1100" b="0">
                          <a:solidFill>
                            <a:srgbClr val="222B38"/>
                          </a:solidFill>
                          <a:latin typeface="Calibri"/>
                        </a:rPr>
                        <a:t>-</a:t>
                      </a:r>
                    </a:p>
                  </a:txBody>
                  <a:tcPr marT="36576" marB="36576">
                    <a:solidFill>
                      <a:srgbClr val="EEF3F8"/>
                    </a:solidFill>
                  </a:tcPr>
                </a:tc>
                <a:tc>
                  <a:txBody>
                    <a:bodyPr wrap="square"/>
                    <a:lstStyle/>
                    <a:p>
                      <a:pPr>
                        <a:spcAft>
                          <a:spcPts val="0"/>
                        </a:spcAft>
                      </a:pPr>
                      <a:r>
                        <a:rPr sz="1100" b="0">
                          <a:solidFill>
                            <a:srgbClr val="222B38"/>
                          </a:solidFill>
                          <a:latin typeface="Calibri"/>
                        </a:rPr>
                        <a:t>24 / 24</a:t>
                      </a:r>
                    </a:p>
                  </a:txBody>
                  <a:tcPr marT="36576" marB="36576">
                    <a:solidFill>
                      <a:srgbClr val="EEF3F8"/>
                    </a:solidFill>
                  </a:tcPr>
                </a:tc>
              </a:tr>
            </a:tbl>
          </a:graphicData>
        </a:graphic>
      </p:graphicFrame>
      <p:sp>
        <p:nvSpPr>
          <p:cNvPr id="35" name="TextBox 34"/>
          <p:cNvSpPr txBox="1"/>
          <p:nvPr/>
        </p:nvSpPr>
        <p:spPr>
          <a:xfrm>
            <a:off x="548640" y="5440680"/>
            <a:ext cx="11064240" cy="365760"/>
          </a:xfrm>
          <a:prstGeom prst="rect">
            <a:avLst/>
          </a:prstGeom>
          <a:noFill/>
        </p:spPr>
        <p:txBody>
          <a:bodyPr wrap="square" lIns="45720" rIns="45720">
            <a:spAutoFit/>
          </a:bodyPr>
          <a:lstStyle/>
          <a:p>
            <a:pPr>
              <a:spcAft>
                <a:spcPts val="600"/>
              </a:spcAft>
            </a:pPr>
            <a:r>
              <a:rPr sz="1200" b="1">
                <a:solidFill>
                  <a:srgbClr val="142B4D"/>
                </a:solidFill>
                <a:latin typeface="Calibri"/>
              </a:rPr>
              <a:t>No LLM writes the answer, so a window or amount cannot be invented. Without the category: the 45-day apparel window.</a:t>
            </a:r>
          </a:p>
        </p:txBody>
      </p:sp>
      <p:sp>
        <p:nvSpPr>
          <p:cNvPr id="36" name="Rounded Rectangle 35"/>
          <p:cNvSpPr/>
          <p:nvPr/>
        </p:nvSpPr>
        <p:spPr>
          <a:xfrm>
            <a:off x="548640" y="589788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595274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tests/unit/test_policy_agent.py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69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69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69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