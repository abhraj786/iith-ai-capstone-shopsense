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9df14812b34fe2" /><Relationship Type="http://schemas.openxmlformats.org/officeDocument/2006/relationships/extended-properties" Target="/docProps/app.xml" Id="R4ef5f420fbed4c5d" /><Relationship Type="http://schemas.openxmlformats.org/officeDocument/2006/relationships/officeDocument" Target="/ppt/presentation.xml" Id="Rb51ba69ed3fe4b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7dd0ddd18430d"/>
  </p:sldMasterIdLst>
  <p:notesMasterIdLst>
    <p:notesMasterId xmlns:r="http://schemas.openxmlformats.org/officeDocument/2006/relationships" r:id="R095ecc0d1d9e48f2"/>
  </p:notesMasterIdLst>
  <p:sldIdLst>
    <p:sldId xmlns:r="http://schemas.openxmlformats.org/officeDocument/2006/relationships" id="256" r:id="R641f766bd76d4188"/>
    <p:sldId xmlns:r="http://schemas.openxmlformats.org/officeDocument/2006/relationships" id="257" r:id="R7d2a31607ea449b3"/>
    <p:sldId xmlns:r="http://schemas.openxmlformats.org/officeDocument/2006/relationships" id="258" r:id="Rf979047294d44934"/>
    <p:sldId xmlns:r="http://schemas.openxmlformats.org/officeDocument/2006/relationships" id="259" r:id="R96654ff4baed4f1e"/>
    <p:sldId xmlns:r="http://schemas.openxmlformats.org/officeDocument/2006/relationships" id="260" r:id="R084e453ca4b44a99"/>
    <p:sldId xmlns:r="http://schemas.openxmlformats.org/officeDocument/2006/relationships" id="261" r:id="R5d43eaa6ceff4f94"/>
    <p:sldId xmlns:r="http://schemas.openxmlformats.org/officeDocument/2006/relationships" id="262" r:id="Re879791cc9bf422b"/>
    <p:sldId xmlns:r="http://schemas.openxmlformats.org/officeDocument/2006/relationships" id="263" r:id="R5feec2a2340e4cc5"/>
    <p:sldId xmlns:r="http://schemas.openxmlformats.org/officeDocument/2006/relationships" id="264" r:id="R847ef316644d49c5"/>
    <p:sldId xmlns:r="http://schemas.openxmlformats.org/officeDocument/2006/relationships" id="265" r:id="R52b670ae72ed42a5"/>
    <p:sldId xmlns:r="http://schemas.openxmlformats.org/officeDocument/2006/relationships" id="266" r:id="R51ad6bc7dbc54069"/>
    <p:sldId xmlns:r="http://schemas.openxmlformats.org/officeDocument/2006/relationships" id="267" r:id="R2ec3ad0af1ba4e90"/>
    <p:sldId xmlns:r="http://schemas.openxmlformats.org/officeDocument/2006/relationships" id="268" r:id="R3e4e72a0114c4839"/>
    <p:sldId xmlns:r="http://schemas.openxmlformats.org/officeDocument/2006/relationships" id="269" r:id="R65d8981933974ac1"/>
    <p:sldId xmlns:r="http://schemas.openxmlformats.org/officeDocument/2006/relationships" id="270" r:id="R4fb7600ece24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b46bec0bb44323" /><Relationship Type="http://schemas.openxmlformats.org/officeDocument/2006/relationships/slideMaster" Target="/ppt/slideMasters/slideMaster1.xml" Id="R4b87dd0ddd18430d" /><Relationship Type="http://schemas.openxmlformats.org/officeDocument/2006/relationships/notesMaster" Target="/ppt/notesMasters/notesMaster1.xml" Id="R095ecc0d1d9e48f2" /><Relationship Type="http://schemas.openxmlformats.org/officeDocument/2006/relationships/presProps" Target="/ppt/presProps.xml" Id="R830e75827ca34593" /><Relationship Type="http://schemas.openxmlformats.org/officeDocument/2006/relationships/tableStyles" Target="/ppt/tableStyles.xml" Id="Rb93296ff14984be6" /><Relationship Type="http://schemas.openxmlformats.org/officeDocument/2006/relationships/slide" Target="/ppt/slides/slide1.xml" Id="R641f766bd76d4188" /><Relationship Type="http://schemas.openxmlformats.org/officeDocument/2006/relationships/slide" Target="/ppt/slides/slide2.xml" Id="R7d2a31607ea449b3" /><Relationship Type="http://schemas.openxmlformats.org/officeDocument/2006/relationships/slide" Target="/ppt/slides/slide3.xml" Id="Rf979047294d44934" /><Relationship Type="http://schemas.openxmlformats.org/officeDocument/2006/relationships/slide" Target="/ppt/slides/slide4.xml" Id="R96654ff4baed4f1e" /><Relationship Type="http://schemas.openxmlformats.org/officeDocument/2006/relationships/slide" Target="/ppt/slides/slide5.xml" Id="R084e453ca4b44a99" /><Relationship Type="http://schemas.openxmlformats.org/officeDocument/2006/relationships/slide" Target="/ppt/slides/slide6.xml" Id="R5d43eaa6ceff4f94" /><Relationship Type="http://schemas.openxmlformats.org/officeDocument/2006/relationships/slide" Target="/ppt/slides/slide7.xml" Id="Re879791cc9bf422b" /><Relationship Type="http://schemas.openxmlformats.org/officeDocument/2006/relationships/slide" Target="/ppt/slides/slide8.xml" Id="R5feec2a2340e4cc5" /><Relationship Type="http://schemas.openxmlformats.org/officeDocument/2006/relationships/slide" Target="/ppt/slides/slide9.xml" Id="R847ef316644d49c5" /><Relationship Type="http://schemas.openxmlformats.org/officeDocument/2006/relationships/slide" Target="/ppt/slides/slide10.xml" Id="R52b670ae72ed42a5" /><Relationship Type="http://schemas.openxmlformats.org/officeDocument/2006/relationships/slide" Target="/ppt/slides/slide11.xml" Id="R51ad6bc7dbc54069" /><Relationship Type="http://schemas.openxmlformats.org/officeDocument/2006/relationships/slide" Target="/ppt/slides/slide12.xml" Id="R2ec3ad0af1ba4e90" /><Relationship Type="http://schemas.openxmlformats.org/officeDocument/2006/relationships/slide" Target="/ppt/slides/slide13.xml" Id="R3e4e72a0114c4839" /><Relationship Type="http://schemas.openxmlformats.org/officeDocument/2006/relationships/slide" Target="/ppt/slides/slide14.xml" Id="R65d8981933974ac1" /><Relationship Type="http://schemas.openxmlformats.org/officeDocument/2006/relationships/slide" Target="/ppt/slides/slide15.xml" Id="R4fb7600ece24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5935a7ec2d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7f43424b3459d" /><Relationship Type="http://schemas.openxmlformats.org/officeDocument/2006/relationships/notesMaster" Target="/ppt/notesMasters/notesMaster1.xml" Id="R561679ae22044e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926125dda48dd" /><Relationship Type="http://schemas.openxmlformats.org/officeDocument/2006/relationships/notesMaster" Target="/ppt/notesMasters/notesMaster1.xml" Id="R74e49f10c6b7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f4ecb091a04b83" /><Relationship Type="http://schemas.openxmlformats.org/officeDocument/2006/relationships/notesMaster" Target="/ppt/notesMasters/notesMaster1.xml" Id="Raebef3d8f15947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2a52224ee46b0" /><Relationship Type="http://schemas.openxmlformats.org/officeDocument/2006/relationships/notesMaster" Target="/ppt/notesMasters/notesMaster1.xml" Id="R6f60a394199e4f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0b39f1225d4c49" /><Relationship Type="http://schemas.openxmlformats.org/officeDocument/2006/relationships/notesMaster" Target="/ppt/notesMasters/notesMaster1.xml" Id="R467d26b23375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480ad254964e99" /><Relationship Type="http://schemas.openxmlformats.org/officeDocument/2006/relationships/notesMaster" Target="/ppt/notesMasters/notesMaster1.xml" Id="Rf2c688c964d14a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e54d10f30946e6" /><Relationship Type="http://schemas.openxmlformats.org/officeDocument/2006/relationships/notesMaster" Target="/ppt/notesMasters/notesMaster1.xml" Id="R9f930b45ac0749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87cee16d9049bf" /><Relationship Type="http://schemas.openxmlformats.org/officeDocument/2006/relationships/notesMaster" Target="/ppt/notesMasters/notesMaster1.xml" Id="Redb1c153376549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06e13e9a194641" /><Relationship Type="http://schemas.openxmlformats.org/officeDocument/2006/relationships/notesMaster" Target="/ppt/notesMasters/notesMaster1.xml" Id="R6f1fdae22a1b47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cd16b598f04856" /><Relationship Type="http://schemas.openxmlformats.org/officeDocument/2006/relationships/notesMaster" Target="/ppt/notesMasters/notesMaster1.xml" Id="R52d87b3da86a45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d3263f4f774172" /><Relationship Type="http://schemas.openxmlformats.org/officeDocument/2006/relationships/notesMaster" Target="/ppt/notesMasters/notesMaster1.xml" Id="R633dd083e10641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c77a9e1fdd4dc0" /><Relationship Type="http://schemas.openxmlformats.org/officeDocument/2006/relationships/notesMaster" Target="/ppt/notesMasters/notesMaster1.xml" Id="R0d3e63b7e3744a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f2348ff55f4989" /><Relationship Type="http://schemas.openxmlformats.org/officeDocument/2006/relationships/notesMaster" Target="/ppt/notesMasters/notesMaster1.xml" Id="Rf8a7bd2fbd8a45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9dbb7d707e465a" /><Relationship Type="http://schemas.openxmlformats.org/officeDocument/2006/relationships/notesMaster" Target="/ppt/notesMasters/notesMaster1.xml" Id="Rf11a242c828846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4db7e5f92a4903" /><Relationship Type="http://schemas.openxmlformats.org/officeDocument/2006/relationships/notesMaster" Target="/ppt/notesMasters/notesMaster1.xml" Id="Re61c778c509c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3c30246a147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506383d6a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2465e70f041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1bf8e498145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202a8e99d49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40ac9ab0644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5EE088-3DC4-4AB4-9265-034C3885B8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30FBB1-CEEC-43D9-8ACC-40ACE0B45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7BA4CB-058A-4F09-BD95-8E2639788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C40A26-39C2-49DD-A59B-8FDF0D6E8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10C05B-355C-49BE-B31E-57D4273D2E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AED2F6-0882-4334-8A79-4E2AE285B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EA5CE6-BBC9-4A76-8659-8C9482CDE5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46390C-3DC2-4064-AB9A-EFC6359D90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0CF5A9-3531-49E5-8C87-F47295C76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2BE5AF-6CB6-4CC8-808B-9EA3FA9E4B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35702e24654fc0" /><Relationship Type="http://schemas.openxmlformats.org/officeDocument/2006/relationships/slideLayout" Target="/ppt/slideLayouts/slideLayout1.xml" Id="R31bee3c67cb84aec" /><Relationship Type="http://schemas.openxmlformats.org/officeDocument/2006/relationships/slideLayout" Target="/ppt/slideLayouts/slideLayout2.xml" Id="R8e6ba839366c41a4" /><Relationship Type="http://schemas.openxmlformats.org/officeDocument/2006/relationships/slideLayout" Target="/ppt/slideLayouts/slideLayout3.xml" Id="R663d948e4ba84ccf" /><Relationship Type="http://schemas.openxmlformats.org/officeDocument/2006/relationships/slideLayout" Target="/ppt/slideLayouts/slideLayout4.xml" Id="R13c8cdc2abac4eb3" /><Relationship Type="http://schemas.openxmlformats.org/officeDocument/2006/relationships/slideLayout" Target="/ppt/slideLayouts/slideLayout5.xml" Id="Rd8f0c256c4774925" /><Relationship Type="http://schemas.openxmlformats.org/officeDocument/2006/relationships/slideLayout" Target="/ppt/slideLayouts/slideLayout6.xml" Id="Rcb16ca1c8eb04b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bee3c67cb84aec"/>
    <p:sldLayoutId xmlns:r="http://schemas.openxmlformats.org/officeDocument/2006/relationships" id="2147483650" r:id="R8e6ba839366c41a4"/>
    <p:sldLayoutId xmlns:r="http://schemas.openxmlformats.org/officeDocument/2006/relationships" id="2147483651" r:id="R663d948e4ba84ccf"/>
    <p:sldLayoutId xmlns:r="http://schemas.openxmlformats.org/officeDocument/2006/relationships" id="2147483652" r:id="R13c8cdc2abac4eb3"/>
    <p:sldLayoutId xmlns:r="http://schemas.openxmlformats.org/officeDocument/2006/relationships" id="2147483653" r:id="Rd8f0c256c4774925"/>
    <p:sldLayoutId xmlns:r="http://schemas.openxmlformats.org/officeDocument/2006/relationships" id="2147483654" r:id="Rcb16ca1c8eb04b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9080d92eb4e2c" /><Relationship Type="http://schemas.openxmlformats.org/officeDocument/2006/relationships/notesSlide" Target="/ppt/notesSlides/notesSlide1.xml" Id="R19a7a6796957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1b72dca3f45ea" /><Relationship Type="http://schemas.openxmlformats.org/officeDocument/2006/relationships/notesSlide" Target="/ppt/notesSlides/notesSlide2.xml" Id="Rfa5af8a58fee4b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c16422d284c36" /><Relationship Type="http://schemas.openxmlformats.org/officeDocument/2006/relationships/notesSlide" Target="/ppt/notesSlides/notesSlide3.xml" Id="R3123ac7fac1547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9b3cd28294f43" /><Relationship Type="http://schemas.openxmlformats.org/officeDocument/2006/relationships/notesSlide" Target="/ppt/notesSlides/notesSlide4.xml" Id="Rc3d83fbcd2db4c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0f5c73c0647e5" /><Relationship Type="http://schemas.openxmlformats.org/officeDocument/2006/relationships/notesSlide" Target="/ppt/notesSlides/notesSlide5.xml" Id="R8ce72a43726348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6d194bab84253" /><Relationship Type="http://schemas.openxmlformats.org/officeDocument/2006/relationships/notesSlide" Target="/ppt/notesSlides/notesSlide6.xml" Id="Reb8d54a7478848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0ab158c9b4553" /><Relationship Type="http://schemas.openxmlformats.org/officeDocument/2006/relationships/notesSlide" Target="/ppt/notesSlides/notesSlide7.xml" Id="R5b28ada6be374b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842446219448a" /><Relationship Type="http://schemas.openxmlformats.org/officeDocument/2006/relationships/notesSlide" Target="/ppt/notesSlides/notesSlide8.xml" Id="R990359b8c43b4b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0dd55854c4ad1" /><Relationship Type="http://schemas.openxmlformats.org/officeDocument/2006/relationships/notesSlide" Target="/ppt/notesSlides/notesSlide9.xml" Id="Racf24625102344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1d8a3d54f4631" /><Relationship Type="http://schemas.openxmlformats.org/officeDocument/2006/relationships/notesSlide" Target="/ppt/notesSlides/notesSlide10.xml" Id="Rbf0645863e484d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2836a08a14a8d" /><Relationship Type="http://schemas.openxmlformats.org/officeDocument/2006/relationships/notesSlide" Target="/ppt/notesSlides/notesSlide11.xml" Id="Rc428253b250e40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f7eb2379442a8" /><Relationship Type="http://schemas.openxmlformats.org/officeDocument/2006/relationships/notesSlide" Target="/ppt/notesSlides/notesSlide12.xml" Id="Rc747151848c643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4049605c54946" /><Relationship Type="http://schemas.openxmlformats.org/officeDocument/2006/relationships/notesSlide" Target="/ppt/notesSlides/notesSlide13.xml" Id="Rbbc42115a13e49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7ba7f34a74786" /><Relationship Type="http://schemas.openxmlformats.org/officeDocument/2006/relationships/notesSlide" Target="/ppt/notesSlides/notesSlide14.xml" Id="R84e81b50f8004f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f10596c10417f" /><Relationship Type="http://schemas.openxmlformats.org/officeDocument/2006/relationships/notesSlide" Target="/ppt/notesSlides/notesSlide15.xml" Id="R496e97d6c4244e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B1299-741E-4EF8-BBED-048C5885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IITH AI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2C719-8553-4345-9CBB-EE8DCE18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02A43"/>
                </a:solidFill>
              </a:defRPr>
            </a:pPr>
            <a:r>
              <a:rPr sz="4350" b="1">
                <a:solidFill>
                  <a:srgbClr val="102A43"/>
                </a:solidFill>
              </a:rPr>
              <a:t>ShopSense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46EB1-AEDC-4751-872E-DBB18FA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Customer care and order operations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6ED4F-58BD-4448-BCE4-C45AB8B4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6670"/>
                </a:solidFill>
              </a:defRPr>
            </a:pPr>
            <a:r>
              <a:rPr sz="1200" b="0">
                <a:solidFill>
                  <a:srgbClr val="5C6670"/>
                </a:solidFill>
              </a:rPr>
              <a:t>Modules completed: M1 to M5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D231C-94AA-4641-A9D7-443F2B47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680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DD8F0-0F6A-40B2-8EE3-0F60CBE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43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Current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09AEF-4445-497E-82E0-C0BF2D26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621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2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D4ED8"/>
                </a:solidFill>
              </a:defRPr>
            </a:pPr>
            <a:r>
              <a:rPr sz="4200" b="1">
                <a:solidFill>
                  <a:srgbClr val="1D4ED8"/>
                </a:solidFill>
              </a:rPr>
              <a:t>M5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100A-947D-4865-8644-CD87EC3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LangGraph workflow with checkpointing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F8D6B-CAFE-40B1-A954-9FFDBB5C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00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GitHub repo includes code, tests, reports, corpus and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1FFFF-3A35-4E8B-B05B-2F6AFCC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01</a:t>
            </a:r>
          </a:p>
        </p:txBody>
      </p:sp>
    </p:spTree>
    <p:extLst>
      <p:ext uri="{BB962C8B-B14F-4D97-AF65-F5344CB8AC3E}">
        <p14:creationId xmlns:p14="http://schemas.microsoft.com/office/powerpoint/2010/main" val="164847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224DE1-7186-42B8-A087-31B09829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7B117-8F28-44E6-AEBB-279C2D2F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Problem and milestone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FB9A4-C4A3-4BF1-9E40-3A02E38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C2B37-C8E7-437E-9396-E5FD8A24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8E574-50B7-4504-B00F-89F7EF06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73AA9-9DBF-4F4C-8817-AAC6DFFB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2E1C0-D915-4206-905C-9B0D029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Retail support receives refund, shipping, warranty and escalation tickets with messy customer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24F04-BCD0-4CF9-8DF6-EFDC3963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2298D-0EB1-49F6-989A-C2B47929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D5C15-FE3D-4984-8236-DB0D9880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System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085B7-CDD5-4DF1-8BBC-8AFB9C98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Parse tickets, choose safe actions, remember customer context and answer policy questions from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DFCC-0AB9-4A0D-A27C-6634124A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Milestone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32198-F699-4712-8EBD-BDCBC7FD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4423C-F22D-4B48-B415-52DD308E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8F7E1-8F92-4D18-9755-C2C0360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M1 intake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6A635-5ABB-4C8C-8AD0-858A2D44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Raw message to validated `SupportTicket`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7FC11-B140-426D-8A09-AFD87BEF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74CCD-8E97-4B02-98ED-127D4BFC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B12DD-0B74-47E2-B366-59147323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M2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B9E3B-C13D-432F-AEC8-88EC638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194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Tool-backed safe action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77088-E1EA-4A15-A4F3-C9B10CC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AD9E2-210D-493F-9A51-BDFA2E8F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9E728-2C44-4AAF-A07B-1CA2B57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M3 memory and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963CC-015D-4557-B320-3A20A603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Customer history plus Qdrant policy retrieval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49B43-20A4-4469-AD48-3A27CA82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B24F2-F1F6-41C7-924A-A8F7062E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B5CEA-31D8-4DCB-B4A5-F6B90BFA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M4 grounded RAG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B91CF-3FA2-4560-A959-AB3676C8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Hybrid retrieval, citations and groundedness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D814A-1F1A-4C1D-BE56-E757D9F3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02</a:t>
            </a:r>
          </a:p>
        </p:txBody>
      </p:sp>
    </p:spTree>
    <p:extLst>
      <p:ext uri="{BB962C8B-B14F-4D97-AF65-F5344CB8AC3E}">
        <p14:creationId xmlns:p14="http://schemas.microsoft.com/office/powerpoint/2010/main" val="734027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92119-034C-4D23-83AE-E49B96CC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6A2B9-197E-442C-8654-A3CF7562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End-to-end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46FD5-4E67-4D17-A86E-9C2E1A05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5F58F-C3E8-46A2-A6BE-E7000A7C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4B57B-F259-455F-AAF6-A99C7460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E65E9-0E5F-4252-9E17-8A175922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Customer ticket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21DB9-444A-4F76-987F-A19F676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KW-O-000950 arrived 4 days late. The customer demands a 6,499 INR refund and mentions the National Consumer Helpline.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B1988-EEE7-4550-85EE-730F0B5E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F7FCA-5444-4C4A-9E3D-49ED9CA0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EAEF2-306C-4CB8-806F-60463DE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M1 parses the message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233AD-511A-4AF1-8C54-6C69BCF1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Extracts refund request, order ID, angry sentiment, amount and escalation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DF7B8-C615-4467-B273-D3AB05C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AB5FE-4E81-4209-B725-2CB03026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D19F0-82F3-47E9-8ACB-3846C2F8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7190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M2 chooses the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13B9F-790B-461D-B61C-E8CBDB17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Routes to human review using `legal_or_regulatory`; no automatic refund.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C382A-6853-49F4-86E8-1DE80A6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8CBCC-F2F3-47DF-9922-AB26C82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029B7-C054-4055-8BAB-54250622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M3 adds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E0C57-194E-4DC3-970E-27C69EF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3395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Stores the customer interaction and retrieves related refund and escalation policy chunks.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73F8D-77EA-47E2-901B-057C3A61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F8BED-7976-4229-86EB-55F4402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DEECB-F71E-44D0-B3F0-7C0103DD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8640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M4 explains the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2A73C-4439-4CC9-96ED-6CAA6D1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91200"/>
            <a:ext cx="849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Answers from evidence and cites the relevant policy documents.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45B50-B52E-4536-B839-5B1831B3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03</a:t>
            </a:r>
          </a:p>
        </p:txBody>
      </p:sp>
    </p:spTree>
    <p:extLst>
      <p:ext uri="{BB962C8B-B14F-4D97-AF65-F5344CB8AC3E}">
        <p14:creationId xmlns:p14="http://schemas.microsoft.com/office/powerpoint/2010/main" val="417651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31464-93A1-498D-BD6C-4E954BE2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259C4-824F-4D57-B1C4-0F0DADB7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M1 intake parsing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3DB34-A897-4739-978E-99D476C4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0A2A3-7460-48FF-AEB4-38361326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40BF6-EBBF-4CD5-8E5E-8AE61DEF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2175A-FB7C-42E3-AC39-0E018171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M1 solves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81CA5-F510-4384-90F8-E9187877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343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Turns raw customer text into a validated Pydantic `SupportTicket` object.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20940-3FD5-490A-BB1B-91BB5DEC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1AAD0-700D-4718-BCA6-7A8203C8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4CAE8-2DF3-4379-A440-E3998A52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LLM involvement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CDBD0-8697-4582-82FC-76DDBD21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4343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The LLM handles language understanding only. Python validates and repairs policy-sensitive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2DD31-713E-4725-BAC4-8792B42B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37147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4C7E2-EFFF-4075-B2E4-21C9A46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66900"/>
            <a:ext cx="3371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issue_type: refund_request,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order_ref: KW-O-000950,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sentiment: angry,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claimed_amount_inr: 6499,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escalation_signals: [...]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0522A-8581-4409-B5D3-8C7E0254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3714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11D85-1FAC-4084-9493-CC98583C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4F07C-A3BB-4B22-BC4E-D3A34C3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Validation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2B0D5-1973-4239-A327-C89E333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329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IDs must appear in the text. Refund-cap and repeat-contact signals are recomputed in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EE3F2-59AB-4CFE-B9FD-75332B2F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04</a:t>
            </a:r>
          </a:p>
        </p:txBody>
      </p:sp>
    </p:spTree>
    <p:extLst>
      <p:ext uri="{BB962C8B-B14F-4D97-AF65-F5344CB8AC3E}">
        <p14:creationId xmlns:p14="http://schemas.microsoft.com/office/powerpoint/2010/main" val="1171535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A1AA0-077F-4CEF-9B31-CC6C9AD4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7D4EF-567D-4441-B380-8EC8106D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M1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5BEFB-06FA-4F75-AB3E-DC27E1E7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DC05F-8944-4DEA-8304-7DAB143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60/60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068F0-B471-4CFA-87B8-CA6F68A4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Parsed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FB2F1-BE68-4EC1-8269-BBAC3518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No parse failures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26309-8FF6-4694-8703-CCF12F46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0.717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4B765-A33B-402F-8AA6-95ABD0F1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Intent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1DBCB-1F30-471D-B4A4-C793B491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Main tuning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22B4E-BA13-47CA-BE18-6C613D76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0.783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F22E2-BE4D-475D-8D66-01C20717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Sentiment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A2F84-9AFE-4B44-A232-130B78B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Useful but imperfect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FB86D-FB51-4CA6-9206-ACB98B47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5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0.896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A106C-75C7-405F-902B-5D6A95A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Escalation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B380F-8241-4CDD-B22C-EDBA86A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Strong signal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DF4C9-E6CC-402F-A6A3-FC9B9D9B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876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3CF02-8FBF-4AFE-92C5-76261F0E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69E51-47C7-40A7-9D68-300DB7AE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834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Acceptance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FA973-CF81-4142-B4AB-68647F30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434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M1 is functional and measured. The report is committed as `evaluation/reports/m1_holdout_n60_v4.json`.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03145-BE04-42BC-8B5E-EA77B697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05</a:t>
            </a:r>
          </a:p>
        </p:txBody>
      </p:sp>
    </p:spTree>
    <p:extLst>
      <p:ext uri="{BB962C8B-B14F-4D97-AF65-F5344CB8AC3E}">
        <p14:creationId xmlns:p14="http://schemas.microsoft.com/office/powerpoint/2010/main" val="650446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843DC-DEB0-4CD3-B2A5-918E5F74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D6970-55C5-413A-820D-F871FB92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M2 action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EDC51-11F0-4948-9E58-92FE1E74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4075A-7E7E-470D-BA1D-A61013DE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96247-0933-4277-935D-00107CB5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81076-B0D9-4D2A-9258-16B22A72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M2 solves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84A04-C601-44D8-ACE3-153DD593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Converts the M1 ticket into a safe operational decision using local tools and policy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4B778-5224-42CC-BC25-E9ED078D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CB952-4CC8-4A84-B76E-23C0790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FD2A0-4222-44FD-BDF6-D594F564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5D459-3EEE-405E-B957-42693AC5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lookup, shipment tracking, refund amount calculation, refund API, replacement API and human queue.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AA041-FB16-4160-BB20-593CAAC5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AD601-F52D-44DF-990B-8BA0481E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CD81A-B79B-49C3-8D47-E841D2CC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46676-7696-494A-9018-9811927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Mutable actions are proposal-only unless `execute=True`. High-value refunds and legal issues route to humans.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D0912-8F2B-450E-995B-10A78BA3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4762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80169-87C9-4D69-B113-35A54A26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4FFFD-3CCB-4316-9DBD-D30397AB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Legal priority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3BF2F-7546-44FA-83EC-0AF4EB9E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When multiple signals appear, `legal_or_regulatory` wins over angry tone and over-cap refund.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F5A47-F70E-4242-8782-7F285AA2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06</a:t>
            </a:r>
          </a:p>
        </p:txBody>
      </p:sp>
    </p:spTree>
    <p:extLst>
      <p:ext uri="{BB962C8B-B14F-4D97-AF65-F5344CB8AC3E}">
        <p14:creationId xmlns:p14="http://schemas.microsoft.com/office/powerpoint/2010/main" val="1873507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E37AA-20DC-409B-B27A-AAC93757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2BCC3-9357-44FD-8783-A908E5B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M2 decision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B66A-D06B-4649-AA33-BFEBD34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789C0-ECA5-42C9-BE0A-BCF51CD8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44767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6A2D3-74D6-485E-9149-12D83642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41338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recommended_action: human_review,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requires_human: true,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tool_name: flag_for_human,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tool_args: 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trigger: legal_or_regulatory,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order_ref: KW-O-000950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},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executed: false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3A059-E75B-43AE-BCDD-02FD51F6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Why this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6E941-E374-4CD5-B8A9-1801F89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E9CC9-E768-43DC-A8DF-FE77191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AF7E4-949F-4D82-92E5-C1F0DA8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No data leak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63005-351E-41E4-A981-82FF27DA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Order lookup is scoped to the customer 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0B16A-6D9E-477E-89F0-C228E9A7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59481-532E-4EBB-9C91-477FECC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EB3A6-C8CC-40A2-B946-C1D3E53E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No unsafe refund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A780B-C3A1-4B6E-9003-CF6DAEDA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6,499 INR exceeds the automated cap.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30AB5-6C12-4037-936E-1C6D97B9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CD382-04BB-4698-97D9-F6088E8D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D99E8-EB18-4F90-9E11-E844DC79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Human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BFC31-E3DD-4CDA-B1A4-25BEF1AE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Legal language sends the case to legal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09718-91CC-4158-8C27-9B09B9AE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07</a:t>
            </a:r>
          </a:p>
        </p:txBody>
      </p:sp>
    </p:spTree>
    <p:extLst>
      <p:ext uri="{BB962C8B-B14F-4D97-AF65-F5344CB8AC3E}">
        <p14:creationId xmlns:p14="http://schemas.microsoft.com/office/powerpoint/2010/main" val="513666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57DC8-3896-4AAC-B68C-4CA88A98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15E07-FC7D-4AE9-8AED-A82AA169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M3 customer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12546-185D-4D20-ACD7-CE133FDA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BA2E1-46AB-4E86-988C-57C94057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2EACD-1A82-4C95-A93C-098CC6F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2331B-E46F-467C-A087-6C68E592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M3 stores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9D6CE-C502-42B0-B0D2-EC5B00B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343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One JSON file per customer: preferences, recent tickets, sentiment, escalation signals and recommended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89CCD-0471-406D-8CC2-121B9849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A6E2D-90F4-4133-9A23-73D1262C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E47D9-AC51-4462-93BE-8BE04868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Where it lives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1DF18-644F-4A67-BDE2-9DFF583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343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`runtime/memory/customers/`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Runtime state is local and can be reset without changing seed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00882-DFBA-4BFF-A840-E8A170AD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3714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17A0D-D226-4986-860D-25E218E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33718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customer_ref: KW-C-00285,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ticket_count: 1,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recent_tickets: [{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issue_type: refund_request,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  recommended_action: human_review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  }]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62141-E3CA-405B-95D8-56FDE23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Later milestones can use this memory for repeat-contact context and customer preferences.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00837-C0B3-4723-8DAD-D61094D8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08</a:t>
            </a:r>
          </a:p>
        </p:txBody>
      </p:sp>
    </p:spTree>
    <p:extLst>
      <p:ext uri="{BB962C8B-B14F-4D97-AF65-F5344CB8AC3E}">
        <p14:creationId xmlns:p14="http://schemas.microsoft.com/office/powerpoint/2010/main" val="992648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1E5C2-CB96-41B7-9233-99E6635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9C033-921F-476F-82BD-8242AEA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M3 policy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E007A-EE00-47FC-BD23-2633846A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261D3-2739-48A9-9104-546DC836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953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E038E-4E60-43EC-8010-10CEE937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88B89-55D0-4A76-A4D3-47FC649D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716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Policy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478BC-AA14-45E7-A8F0-479804D1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4533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Returns, refund authority, shipping, warranty, escalation, fraud and category addenda are committed under `data/shopsense/corpus/`.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57CD2-A9BC-4BBA-8DC5-B567C1AE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953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5996B-62B6-4353-B64A-C241852A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6304D-7073-43AD-8A35-EDB7FE4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Local Qdrant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D28FD-1C23-4CE7-A7CE-14EAA6A1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4533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`scripts/build_policy_index.py` creates a local vector index under `runtime/qdrant/`. No Qdrant Cloud is 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12E52-A888-4C08-A4F1-600A6BC6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095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4A5EB-F0CB-4AC4-B8C6-E8E46933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959AA-3EEF-448A-A3AE-89C4B957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Retrieval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E7A01-B84E-42C3-8FF2-E1188E68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3676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M3 returns policy chunks. It does not yet produce the final policy answer.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D9008-A751-48F6-87BE-B01C834F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095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68DA3-53BD-4016-9D61-00D044B4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8B701-B1CD-4B35-81F9-07A263F2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Test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9A71F-C699-4143-9FD5-C4FA3C4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3676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Memory persistence, Qdrant build and policy retrieval are covered by unit tests.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7DF47-375C-4706-81AF-249E9BBF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09</a:t>
            </a:r>
          </a:p>
        </p:txBody>
      </p:sp>
    </p:spTree>
    <p:extLst>
      <p:ext uri="{BB962C8B-B14F-4D97-AF65-F5344CB8AC3E}">
        <p14:creationId xmlns:p14="http://schemas.microsoft.com/office/powerpoint/2010/main" val="964855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A43F2-BFD4-4C63-B436-00B2E5AD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E1811-280E-4751-B988-C1856BFE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M4 grounded policy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9C473-3186-46B8-9F3C-86A7778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B09DF-77A8-4A56-B517-8E36CA46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EFBF1-E9CD-40C7-B430-0B3C95D9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78EB1-D3AC-493D-B081-7DF639F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M4 solves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C3943-C9E0-4E5E-B928-8716BA16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Turns retrieved policy chunks into a grounded answer with citations and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91A6-258B-4A86-AA91-2E936FE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BA556-D45A-453F-93C1-C9D48819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4D585-BD11-4F2B-9A32-C6E72F9C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Hybrid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D9B0D-2477-4BA4-A125-2667DC47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Combines Qdrant vector hits with deterministic keyword search and reranking.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7D35F-E175-4392-9BD0-A668F23F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D3008-EF57-4F17-87B5-CCF323E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8CFC3-A758-4BA8-8DB3-682CBC8D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335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Groundedness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3047B-AF41-400D-8D3A-08860EDE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383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Numeric claims in the answer must appear in retrieved evidence. Unsupported numbers are flagged.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B5FDD-A4D5-436C-B97D-DFECB4E9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5336D-275B-425C-A809-984D656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038A2-A604-414E-81FD-EA2A9DB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2BD3A-46B8-4F7C-BC35-BCEF7B0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Five golden policy cases check return windows, refund cap, groceries and legal routing.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3DB05-0E8E-4C42-BE9B-669D796E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10</a:t>
            </a:r>
          </a:p>
        </p:txBody>
      </p:sp>
    </p:spTree>
    <p:extLst>
      <p:ext uri="{BB962C8B-B14F-4D97-AF65-F5344CB8AC3E}">
        <p14:creationId xmlns:p14="http://schemas.microsoft.com/office/powerpoint/2010/main" val="1942211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F4139-8B38-4854-BA2E-6BF437D7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DB0BB-5787-4CF5-A2BA-D25A279A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M4 answer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8381F-630B-4472-A803-A8AF4B68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9EC6C-9532-4BF0-AA28-6BEB4E1F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70749-F2A7-426D-9A58-0408F3F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3946B-C66A-4184-B87A-ED9C3F0C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996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05752-2214-47D6-A98C-337E5C4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996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Can a customer return an opened Beauty item after 11 days?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9DB3F-CE4C-4CC1-82AB-1A13B788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8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1F675-F6A2-455F-8B6C-EE1F2BE7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30FC5-5B35-4C8D-BA5D-ECB798FE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996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Grounded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B4821-2F3C-4A15-B7BB-0C29B62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No. Beauty has a 10-day return window, and opened Beauty items cannot be returned for change of mind.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A0587-A204-4722-9747-0E355A42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CEFBF-A140-40BE-9DD5-6091DC2A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5183B-ECD8-4E75-92F4-BEAB9A7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517A8-1A46-45CD-8F21-8553CAEC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Category Policy Addendum: Beauty, sections on return window and opened-item restrictions.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76CFF-1F88-46BB-939F-90C343AE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58D0B-A05E-4137-9FF5-60658BF1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D6C4C-C398-4BD8-83AD-06199DA9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Blocked hallucination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2511D-79F8-4717-80C6-728CDF4F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The answer must not invent a 30-day or 45-day Beauty return window.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7F3A2-CAD3-46F5-BF3B-AFB9B667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11</a:t>
            </a:r>
          </a:p>
        </p:txBody>
      </p:sp>
    </p:spTree>
    <p:extLst>
      <p:ext uri="{BB962C8B-B14F-4D97-AF65-F5344CB8AC3E}">
        <p14:creationId xmlns:p14="http://schemas.microsoft.com/office/powerpoint/2010/main" val="890397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5A148-74BA-4601-AF15-47C828DA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267F8-13D4-46EF-8A64-787724C5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Verification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95F09-4B3F-4CE9-BFD8-095CF4A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60BBA-7807-4D0F-85D5-576FD404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BFF33-52A0-4042-8FD6-7AC950DE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Unit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76435-B8FE-4537-A822-D9864F5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All unit tests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02C7A-06B9-4CB7-B221-6B2DFA25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5/5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ECFCE-9D0A-4419-A14C-503F33F0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M4 eval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5B98A-2119-4001-AB9C-2B58D96D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Grounded policy eval passes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0A43A-5CD5-44C1-BE25-71ABED41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30C21-2737-4927-8C0D-CAD40FD4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M1 holdout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C98C7-75A5-4E77-B031-42C12B87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Parsed tickets in latest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FDF27-C840-44C8-A3A5-343CD950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14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5B21B6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5B21B6"/>
                </a:solidFill>
              </a:defRPr>
            </a:pPr>
            <a:r>
              <a:rPr sz="2550" b="1">
                <a:solidFill>
                  <a:srgbClr val="5B21B6"/>
                </a:solidFill>
              </a:rPr>
              <a:t>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4C5B6-6A09-48D4-907C-30CA5E8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Policy chunks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5EA45-320D-40DA-8C67-498DC72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C6670"/>
                </a:solidFill>
              </a:defRPr>
            </a:pPr>
            <a:r>
              <a:rPr sz="900" b="0">
                <a:solidFill>
                  <a:srgbClr val="5C6670"/>
                </a:solidFill>
              </a:rPr>
              <a:t>Indexed into Qdrant Cloud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15422-0F5F-4DED-BAA1-0EA47C56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8191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56772-07C9-49AA-BE56-FF8D64D1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DA7F0-E616-41D2-9EE3-A9E13D3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9100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Run commands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FE88B-315D-462A-B46C-E0EE4B6C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95800"/>
            <a:ext cx="7772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-m pytest tests/unit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scripts/build_policy_index.py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scripts/run_policy_eval.py</a:t>
            </a:r>
          </a:p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python -m capstone.workbench.app --port 8765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E1088-99A9-4A3F-B3B9-DCCBF1FC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12</a:t>
            </a:r>
          </a:p>
        </p:txBody>
      </p:sp>
    </p:spTree>
    <p:extLst>
      <p:ext uri="{BB962C8B-B14F-4D97-AF65-F5344CB8AC3E}">
        <p14:creationId xmlns:p14="http://schemas.microsoft.com/office/powerpoint/2010/main" val="15891384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A60CC5-55A6-422A-A9F5-5EA3F9A4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47770-2DF4-47C9-884F-762588A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Repository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6EC82-EC3E-4653-8734-AAEBD94F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8553D-C220-4E7C-9A85-FB0278A1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3D9A-302A-4EF0-A766-059B379B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04149-0DD2-40C4-BECE-FEAFCF2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71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7F7E2-35A7-48EC-9263-5C30B8B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`intake_agent.py`, `action_agent.py`, `policy_agent.py`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63CD9-B10E-4E01-B4F6-ECABCF21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54420-58C2-4822-8425-061EDAE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6EAA5-FAEA-460C-AB59-4183AD3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Tools and schemas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36871-BCF0-4A59-99E5-33A3A2C3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Deterministic order/refund/shipping tools plus Pydantic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053F8-54FB-4EEE-842D-2611F0F7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E838D-63BD-4A23-B767-DC952B56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717FC-E30D-48D2-895E-E0F07A2F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Memory and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8752B-754B-4282-A893-4C3601E8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`memory/store.py`, `rag/policy_index.py`, `rag/hybrid.py`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2B269-022A-4B5B-9192-B875046A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D875B-17B5-4E25-9296-3B9BA01E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3EA51-2517-4D46-B09F-67D1D43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71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3EEF4-B309-4B90-B534-7590B526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Committed corpus, M1 report, M4 report, workflow checkpoints and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FFC5D-A143-4A00-9E77-D4CF1A8B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97EC5-501A-4633-B7DB-0C7DCEEA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2702B-4AB7-47FF-A9D5-E22F073E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337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Workbench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BFA3B-A0ED-4B6D-B7C8-7C445275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Browser UI displays M1, M2, M3 and M4 outputs; M5 workflow has tests and checkpoints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71D47F-E385-4108-BA21-F11DCE9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D217A-9EA0-45A5-A860-1DB58093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D550B-A15D-4207-BC9D-73F6F141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957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F8EDC9-E3E0-4519-AAD7-F651B242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github.com/abhraj786/iith-ai-capstone-shopsense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EE296-9FD6-4978-A5FD-1B88BDD4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13</a:t>
            </a:r>
          </a:p>
        </p:txBody>
      </p:sp>
    </p:spTree>
    <p:extLst>
      <p:ext uri="{BB962C8B-B14F-4D97-AF65-F5344CB8AC3E}">
        <p14:creationId xmlns:p14="http://schemas.microsoft.com/office/powerpoint/2010/main" val="2599963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77C30-CA69-4CC4-8F03-F5285A61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0EFA0-6991-44B0-9016-3B05358D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M5 LangGraph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53611-020A-4832-8AFB-ED387C5C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564C-5800-44F3-AB51-5B5F4DD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74045-DBDC-41CE-B73B-2B604E2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03FD2-1EF9-4F21-BF38-7F60C354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335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Workflow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F7571-DFFB-4403-BC5D-987AD97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triage -&gt; memory -&gt; policy-check -&gt; action-plan -&gt; conditional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8A1DA-8E5E-47E3-8FD5-5CFDC5CD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8E619-80E6-4FC1-8939-E9C3E5DE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5159C-2FCB-4C31-93F2-54D33E46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Checkpointing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2717B-444E-457F-B8DC-40C2FD5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Each node writes JSON state under `runtime/workflow_checkpoints/&lt;run_id&gt;/` for inspection and resume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CD81F-2CD4-4204-9341-2824B97D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8DED7-6483-4FE6-BCFA-01B601B2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28111-3CD7-4077-BF05-795CFF6B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Auto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DBE5F-E0CF-4BBF-9AD2-8DC88089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Low-risk cases can execute deterministic tools when `execute_actions=True`.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EFC29-F32E-4E0C-82B6-AEC26BFC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4095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4747D-9509-4963-92A5-80A98DCC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792D0-65F8-4477-9218-02EFA478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Human 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706BF-43DA-4199-B991-89CFE2B0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3676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Angry, distressed, critical, legal, safety or over-cap cases stop for human approval.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187FA-76DA-47B2-A324-61FEFBFD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685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3D542-7C3A-4063-85F3-58B0A93F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33950"/>
            <a:ext cx="651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status: human_approval_required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route: human_interrupt</a:t>
            </a:r>
          </a:p>
          <a:p xmlns:a="http://schemas.openxmlformats.org/drawingml/2006/main">
            <a:pPr algn="l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trigger: legal_or_regulatory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89072-F000-4D20-8CBD-B96CAF1D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14</a:t>
            </a:r>
          </a:p>
        </p:txBody>
      </p:sp>
    </p:spTree>
    <p:extLst>
      <p:ext uri="{BB962C8B-B14F-4D97-AF65-F5344CB8AC3E}">
        <p14:creationId xmlns:p14="http://schemas.microsoft.com/office/powerpoint/2010/main" val="2250743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C0C59-A361-4408-BB7E-1DB4DC06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SHOPSENSE M1-M5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B4429-0353-4421-A5CB-5A3FA9E4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Next milestone: M6 multi-agent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0F89E-683E-4D57-B27B-3511A8D0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5B759-BB35-444C-A7F0-EE867AE7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2786F-6A2E-42A2-A05B-71FD27D4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BEE4A-81CB-4E96-ABE9-DBF720B4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Expected M6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78DE1-FC78-4DB5-ABDC-6851FE2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Split the workflow into Triage, Policy RAG, Order-Actions and Escalation Reviewer agents.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6C41D-9420-4C48-B853-2B7429FE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B0FB7-645A-4AFD-899D-715D84AA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0B50C-8B2C-4562-A116-7B65892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MCP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1967E-5000-4739-90FC-5ACE185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C6670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6670"/>
                </a:solidFill>
              </a:defRPr>
            </a:pPr>
            <a:r>
              <a:rPr sz="1050" b="0">
                <a:solidFill>
                  <a:srgbClr val="5C6670"/>
                </a:solidFill>
              </a:rPr>
              <a:t>Expose order/refund/shipping mock APIs through MCP so the same tools can serve chat and email channels.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1AC6E-385F-4D2D-B8E8-E57A67EC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M5 gives us the orchestration spine. M6 turns the nodes into a team with shared tools and clearer ownership.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8577A-182B-4F69-86D2-FE111B9D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The current M2 tools are already clean boundaries for MCP packaging.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7156D-79B7-41B4-87A5-5E2BEACD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IITH AI Capstone · ShopSense · 15</a:t>
            </a:r>
          </a:p>
        </p:txBody>
      </p:sp>
    </p:spTree>
    <p:extLst>
      <p:ext uri="{BB962C8B-B14F-4D97-AF65-F5344CB8AC3E}">
        <p14:creationId xmlns:p14="http://schemas.microsoft.com/office/powerpoint/2010/main" val="296521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2026-10-11T12:11:00.3010000Z</dcterms:created>
  <dcterms:modified xsi:type="dcterms:W3CDTF">2026-10-11T12:11:00.3010000Z</dcterms:modified>
</coreProperties>
</file>