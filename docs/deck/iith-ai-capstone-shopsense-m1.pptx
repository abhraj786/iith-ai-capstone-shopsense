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7126738eee48e0" /><Relationship Type="http://schemas.openxmlformats.org/officeDocument/2006/relationships/extended-properties" Target="/docProps/app.xml" Id="Rf10ada4c39ab48b4" /><Relationship Type="http://schemas.openxmlformats.org/officeDocument/2006/relationships/officeDocument" Target="/ppt/presentation.xml" Id="R8d347ab0a6074b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78bb45521c4602"/>
  </p:sldMasterIdLst>
  <p:notesMasterIdLst>
    <p:notesMasterId xmlns:r="http://schemas.openxmlformats.org/officeDocument/2006/relationships" r:id="R04952f4b5ff44366"/>
  </p:notesMasterIdLst>
  <p:sldIdLst>
    <p:sldId xmlns:r="http://schemas.openxmlformats.org/officeDocument/2006/relationships" id="256" r:id="R5c000b21ae674443"/>
    <p:sldId xmlns:r="http://schemas.openxmlformats.org/officeDocument/2006/relationships" id="257" r:id="R29bf26a0c1664df0"/>
    <p:sldId xmlns:r="http://schemas.openxmlformats.org/officeDocument/2006/relationships" id="258" r:id="Rd8966051c32b4f8c"/>
    <p:sldId xmlns:r="http://schemas.openxmlformats.org/officeDocument/2006/relationships" id="259" r:id="R27de05445b904308"/>
    <p:sldId xmlns:r="http://schemas.openxmlformats.org/officeDocument/2006/relationships" id="260" r:id="R354ec2df32be4ccc"/>
    <p:sldId xmlns:r="http://schemas.openxmlformats.org/officeDocument/2006/relationships" id="261" r:id="Rfa5ac4925daa4471"/>
    <p:sldId xmlns:r="http://schemas.openxmlformats.org/officeDocument/2006/relationships" id="262" r:id="Re4bbae363e8a4497"/>
    <p:sldId xmlns:r="http://schemas.openxmlformats.org/officeDocument/2006/relationships" id="263" r:id="R953a52b411ca420d"/>
    <p:sldId xmlns:r="http://schemas.openxmlformats.org/officeDocument/2006/relationships" id="264" r:id="R30b66a984d824ecb"/>
    <p:sldId xmlns:r="http://schemas.openxmlformats.org/officeDocument/2006/relationships" id="265" r:id="R4e41080f8a324efa"/>
    <p:sldId xmlns:r="http://schemas.openxmlformats.org/officeDocument/2006/relationships" id="266" r:id="Raccea9e998ba47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eb0ed0bcde4e31" /><Relationship Type="http://schemas.openxmlformats.org/officeDocument/2006/relationships/slideMaster" Target="/ppt/slideMasters/slideMaster1.xml" Id="Re178bb45521c4602" /><Relationship Type="http://schemas.openxmlformats.org/officeDocument/2006/relationships/notesMaster" Target="/ppt/notesMasters/notesMaster1.xml" Id="R04952f4b5ff44366" /><Relationship Type="http://schemas.openxmlformats.org/officeDocument/2006/relationships/presProps" Target="/ppt/presProps.xml" Id="R1f6665e98a894f74" /><Relationship Type="http://schemas.openxmlformats.org/officeDocument/2006/relationships/tableStyles" Target="/ppt/tableStyles.xml" Id="R37e56fb9fb9548d8" /><Relationship Type="http://schemas.openxmlformats.org/officeDocument/2006/relationships/slide" Target="/ppt/slides/slide1.xml" Id="R5c000b21ae674443" /><Relationship Type="http://schemas.openxmlformats.org/officeDocument/2006/relationships/slide" Target="/ppt/slides/slide2.xml" Id="R29bf26a0c1664df0" /><Relationship Type="http://schemas.openxmlformats.org/officeDocument/2006/relationships/slide" Target="/ppt/slides/slide3.xml" Id="Rd8966051c32b4f8c" /><Relationship Type="http://schemas.openxmlformats.org/officeDocument/2006/relationships/slide" Target="/ppt/slides/slide4.xml" Id="R27de05445b904308" /><Relationship Type="http://schemas.openxmlformats.org/officeDocument/2006/relationships/slide" Target="/ppt/slides/slide5.xml" Id="R354ec2df32be4ccc" /><Relationship Type="http://schemas.openxmlformats.org/officeDocument/2006/relationships/slide" Target="/ppt/slides/slide6.xml" Id="Rfa5ac4925daa4471" /><Relationship Type="http://schemas.openxmlformats.org/officeDocument/2006/relationships/slide" Target="/ppt/slides/slide7.xml" Id="Re4bbae363e8a4497" /><Relationship Type="http://schemas.openxmlformats.org/officeDocument/2006/relationships/slide" Target="/ppt/slides/slide8.xml" Id="R953a52b411ca420d" /><Relationship Type="http://schemas.openxmlformats.org/officeDocument/2006/relationships/slide" Target="/ppt/slides/slide9.xml" Id="R30b66a984d824ecb" /><Relationship Type="http://schemas.openxmlformats.org/officeDocument/2006/relationships/slide" Target="/ppt/slides/slide10.xml" Id="R4e41080f8a324efa" /><Relationship Type="http://schemas.openxmlformats.org/officeDocument/2006/relationships/slide" Target="/ppt/slides/slide11.xml" Id="Raccea9e998ba47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9f23d316b644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ea3a7b29d54385" /><Relationship Type="http://schemas.openxmlformats.org/officeDocument/2006/relationships/notesMaster" Target="/ppt/notesMasters/notesMaster1.xml" Id="R93fd831df66645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6728c4fe6c4857" /><Relationship Type="http://schemas.openxmlformats.org/officeDocument/2006/relationships/notesMaster" Target="/ppt/notesMasters/notesMaster1.xml" Id="R4c856ad7b8b947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c6e5e456134ff8" /><Relationship Type="http://schemas.openxmlformats.org/officeDocument/2006/relationships/notesMaster" Target="/ppt/notesMasters/notesMaster1.xml" Id="R73d2cc9433d84a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4f453966584832" /><Relationship Type="http://schemas.openxmlformats.org/officeDocument/2006/relationships/notesMaster" Target="/ppt/notesMasters/notesMaster1.xml" Id="R72db763b7ba74b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1f72f75d6e4341" /><Relationship Type="http://schemas.openxmlformats.org/officeDocument/2006/relationships/notesMaster" Target="/ppt/notesMasters/notesMaster1.xml" Id="R6201b9ff757843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05bbb6e0f94fef" /><Relationship Type="http://schemas.openxmlformats.org/officeDocument/2006/relationships/notesMaster" Target="/ppt/notesMasters/notesMaster1.xml" Id="R9b1fa1da50374f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ec26d12eb4b93" /><Relationship Type="http://schemas.openxmlformats.org/officeDocument/2006/relationships/notesMaster" Target="/ppt/notesMasters/notesMaster1.xml" Id="R9d68ab713e0f43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37321753d946a0" /><Relationship Type="http://schemas.openxmlformats.org/officeDocument/2006/relationships/notesMaster" Target="/ppt/notesMasters/notesMaster1.xml" Id="R4063e1c4b50f4c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cdb62ba2cf4494" /><Relationship Type="http://schemas.openxmlformats.org/officeDocument/2006/relationships/notesMaster" Target="/ppt/notesMasters/notesMaster1.xml" Id="R119c5bfb92b74f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faa5798b2a4ae4" /><Relationship Type="http://schemas.openxmlformats.org/officeDocument/2006/relationships/notesMaster" Target="/ppt/notesMasters/notesMaster1.xml" Id="R10274874e6ca42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427c83d67643f5" /><Relationship Type="http://schemas.openxmlformats.org/officeDocument/2006/relationships/notesMaster" Target="/ppt/notesMasters/notesMaster1.xml" Id="R296a777545b741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769915e2a43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01a23aa234a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f8065b97846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d7867e85e45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c8631bf7e44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2c1884ed84f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E24B70-BFE0-48EE-93A8-2718950D97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0D5C12-FDAC-4B80-8E9F-6F73611193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8F54A2-E346-4883-8AFC-3A0FC7E110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D3C2BF-3285-4116-9317-B1061170E0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8C1E58-0195-4EC0-AA4F-9568BAE0BB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21C325-CC79-4FF0-ACE2-F726D402F6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699F67-1E93-49AD-8B65-B7F7F36630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119099-A56D-48E0-A820-83E0E3B2DD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DD74FD-83AE-4D8C-B868-224D5E16A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616248-C606-48A3-8360-8E85A9867E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8a0632741f4bdf" /><Relationship Type="http://schemas.openxmlformats.org/officeDocument/2006/relationships/slideLayout" Target="/ppt/slideLayouts/slideLayout1.xml" Id="Rbd91107b35e64f04" /><Relationship Type="http://schemas.openxmlformats.org/officeDocument/2006/relationships/slideLayout" Target="/ppt/slideLayouts/slideLayout2.xml" Id="Rd4fa0a2285ce4680" /><Relationship Type="http://schemas.openxmlformats.org/officeDocument/2006/relationships/slideLayout" Target="/ppt/slideLayouts/slideLayout3.xml" Id="R169ce3dbf85b431c" /><Relationship Type="http://schemas.openxmlformats.org/officeDocument/2006/relationships/slideLayout" Target="/ppt/slideLayouts/slideLayout4.xml" Id="R95b0876e2ee840c2" /><Relationship Type="http://schemas.openxmlformats.org/officeDocument/2006/relationships/slideLayout" Target="/ppt/slideLayouts/slideLayout5.xml" Id="Rcd2560527fd44794" /><Relationship Type="http://schemas.openxmlformats.org/officeDocument/2006/relationships/slideLayout" Target="/ppt/slideLayouts/slideLayout6.xml" Id="R4c65d95a826d4d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91107b35e64f04"/>
    <p:sldLayoutId xmlns:r="http://schemas.openxmlformats.org/officeDocument/2006/relationships" id="2147483650" r:id="Rd4fa0a2285ce4680"/>
    <p:sldLayoutId xmlns:r="http://schemas.openxmlformats.org/officeDocument/2006/relationships" id="2147483651" r:id="R169ce3dbf85b431c"/>
    <p:sldLayoutId xmlns:r="http://schemas.openxmlformats.org/officeDocument/2006/relationships" id="2147483652" r:id="R95b0876e2ee840c2"/>
    <p:sldLayoutId xmlns:r="http://schemas.openxmlformats.org/officeDocument/2006/relationships" id="2147483653" r:id="Rcd2560527fd44794"/>
    <p:sldLayoutId xmlns:r="http://schemas.openxmlformats.org/officeDocument/2006/relationships" id="2147483654" r:id="R4c65d95a826d4d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8627fe99a424f" /><Relationship Type="http://schemas.openxmlformats.org/officeDocument/2006/relationships/notesSlide" Target="/ppt/notesSlides/notesSlide1.xml" Id="Rce6099c6e2b246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5706cb36e4c92" /><Relationship Type="http://schemas.openxmlformats.org/officeDocument/2006/relationships/notesSlide" Target="/ppt/notesSlides/notesSlide2.xml" Id="R3de82876870f4a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5007aa253496a" /><Relationship Type="http://schemas.openxmlformats.org/officeDocument/2006/relationships/notesSlide" Target="/ppt/notesSlides/notesSlide3.xml" Id="Rff82829b58374d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5c5b561594e79" /><Relationship Type="http://schemas.openxmlformats.org/officeDocument/2006/relationships/notesSlide" Target="/ppt/notesSlides/notesSlide4.xml" Id="R04df1959ef9c40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404164869470d" /><Relationship Type="http://schemas.openxmlformats.org/officeDocument/2006/relationships/notesSlide" Target="/ppt/notesSlides/notesSlide5.xml" Id="R0cd8d12c214141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9ae077a434221" /><Relationship Type="http://schemas.openxmlformats.org/officeDocument/2006/relationships/notesSlide" Target="/ppt/notesSlides/notesSlide6.xml" Id="R6dda11c23a9d40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540092ac046e7" /><Relationship Type="http://schemas.openxmlformats.org/officeDocument/2006/relationships/notesSlide" Target="/ppt/notesSlides/notesSlide7.xml" Id="R10f962cff21a4e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e66d9b8efb4c9e" /><Relationship Type="http://schemas.openxmlformats.org/officeDocument/2006/relationships/notesSlide" Target="/ppt/notesSlides/notesSlide8.xml" Id="R56af4390015a45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5a0c66824c433b" /><Relationship Type="http://schemas.openxmlformats.org/officeDocument/2006/relationships/notesSlide" Target="/ppt/notesSlides/notesSlide9.xml" Id="R839ffcf0310544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b027a845545c4" /><Relationship Type="http://schemas.openxmlformats.org/officeDocument/2006/relationships/notesSlide" Target="/ppt/notesSlides/notesSlide10.xml" Id="R8a98d1147d0543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9057ab013642db" /><Relationship Type="http://schemas.openxmlformats.org/officeDocument/2006/relationships/notesSlide" Target="/ppt/notesSlides/notesSlide11.xml" Id="Rb56b22ac82654f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04202-D50A-4E0F-A337-DAC93130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IITH AI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4E6B9-F635-43CD-9A44-C5660F2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02A43"/>
                </a:solidFill>
              </a:defRPr>
            </a:pPr>
            <a:r>
              <a:rPr sz="4350" b="1">
                <a:solidFill>
                  <a:srgbClr val="102A43"/>
                </a:solidFill>
              </a:rPr>
              <a:t>ShopSense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D3CD5-14F0-4E68-9547-21CC9B2C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M1 intake parsing for customer care and order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08F72-1CBD-43AA-89BD-FFCE669B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670"/>
                </a:solidFill>
              </a:defRPr>
            </a:pPr>
            <a:r>
              <a:rPr sz="1200" b="0">
                <a:solidFill>
                  <a:srgbClr val="5C6670"/>
                </a:solidFill>
              </a:rPr>
              <a:t>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D5622-D19D-47BA-B82D-F8D4F76E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47750"/>
            <a:ext cx="2952750" cy="3714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D8633-22F1-48DE-BD70-F3EEFE8E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Current milestone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E3F21-E5CA-453A-9A10-6DF9615C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05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D4ED8"/>
                </a:solidFill>
              </a:defRPr>
            </a:pPr>
            <a:r>
              <a:rPr sz="4050" b="1">
                <a:solidFill>
                  <a:srgbClr val="1D4ED8"/>
                </a:solidFill>
              </a:rPr>
              <a:t>M1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088F6-0583-4830-99E3-B7501271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14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Raw message to validated support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8F596-C7A1-479E-971D-2EC91DDA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Code, data, tests and report are committed in GitHub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C791E-3D2F-42D2-B270-8254BCCB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01</a:t>
            </a:r>
          </a:p>
        </p:txBody>
      </p:sp>
    </p:spTree>
    <p:extLst>
      <p:ext uri="{BB962C8B-B14F-4D97-AF65-F5344CB8AC3E}">
        <p14:creationId xmlns:p14="http://schemas.microsoft.com/office/powerpoint/2010/main" val="767706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95FC3-24CE-499D-BEF3-D06A17C0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194C8-F1E4-42C0-82EC-88643803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ShopSense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778B4-0FA9-4E97-9289-CFAEFB14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D580F-A64D-4F6C-9035-4628B8EF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38338-323E-41AC-8EB8-3D3F7FB2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91E6D-8FCC-4298-801B-3CE6036F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Customer messages are messy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E3E5B-7E36-4DC1-B421-EFECFB6C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Customers mix order status, refunds, anger, legal threats and prompt-injection text in one message.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E6235-4580-41C5-AE5E-722983A3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C3F3B-6723-40B9-901C-81972B29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E13D0-6C48-44F0-BAE3-2277D1B3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Operations need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38A99-4F21-4E5D-938F-3B2D82CA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Downstream tools need intent, order reference, amount, sentiment and escalation signals in a predictable schema.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9EB6B-9EB5-4B3E-BD28-CA675B06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C09B4-9702-4B7C-AEF1-A0F8F7AB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FB432-4481-477B-B417-0E776D73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Rules must stay 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76395-3AE0-4A3C-B3B2-9535E5B0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Policy thresholds such as refund cap and repeat contact should be calculated in Python, not guessed by the model.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9550C-1133-4D7C-BC19-82EC14B1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923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M1 solves the first gate: understand the message and return a validated support ticket.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BC37B-CF82-4F9B-8AC6-3CD17E29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02</a:t>
            </a:r>
          </a:p>
        </p:txBody>
      </p:sp>
    </p:spTree>
    <p:extLst>
      <p:ext uri="{BB962C8B-B14F-4D97-AF65-F5344CB8AC3E}">
        <p14:creationId xmlns:p14="http://schemas.microsoft.com/office/powerpoint/2010/main" val="5871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A6D60A-2758-4C5E-A6F6-5AE3B62B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A7127-45CC-4A10-B6D2-6B5398CD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M1 intake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35176-AA68-468C-901E-83044690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44F7F-94E7-4806-AE67-3928B417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59669"/>
                </a:solidFill>
              </a:defRPr>
            </a:pPr>
            <a:r>
              <a:rPr sz="1650" b="1">
                <a:solidFill>
                  <a:srgbClr val="059669"/>
                </a:solidFill>
              </a:rPr>
              <a:t>In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21644-7C93-4A9B-8690-4572D5DB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B45309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45309"/>
                </a:solidFill>
              </a:defRPr>
            </a:pPr>
            <a:r>
              <a:rPr sz="1650" b="1">
                <a:solidFill>
                  <a:srgbClr val="B45309"/>
                </a:solidFill>
              </a:rPr>
              <a:t>Out of scope for M1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2A9DD-9F00-4A50-A98C-F0F6A77F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138A4-0ADF-4CDA-9F3B-C6947180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BF72C-8534-4FA3-94B7-22B6A527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5742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Structured JSON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571A0-150B-45C6-9414-11B4B9C2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Map raw customer text to a typed support ticket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DCCB7-2102-4B72-B98D-7543340B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909C3-8BB8-4770-8993-3C85BE4F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E68CA-3242-430E-833B-8AA158C1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1467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Prompt-injection flag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F209E-BBDB-4927-92C2-58C2D9DA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Treat customer instructions as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3789A-9103-4D02-A99C-42A1072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A1D66-0DFD-4405-A864-A9201EE8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3FE75-D4A0-48B0-AF7D-D60E6AE4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7192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Order reference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59C63-1B59-4A54-A140-85AFABD0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Accept only IDs present in the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D82BE-BA5F-4EBD-B1A2-54F10718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192A0-5554-4DA5-90A0-51DC7703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87BE8-0F73-4FA8-94C8-4D4284F6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2917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Escalation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A1646-64A9-4EFB-8503-6E3455D2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Apply policy thresholds in Python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CC9F9F-213F-4F83-8F60-E9B0D593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31FBF-D7FE-4E84-A83B-9AC1B6DD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95F688-E937-49F8-8773-922B08DD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5742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No final refund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125668-C7E6-4692-9CFF-3BDEA7B1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336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M1 does not approve or reject money movement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35337-2B9A-4A21-A101-FB76E103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621F2-2A36-492D-9217-8E94A36E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C49B7-B012-4276-8A5B-C916BDF4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1467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No live order mutation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5DC55-0DAC-4D80-A382-66953D99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9090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Runtime action tools come later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FFA6E4-2354-4D62-A587-D9759460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B40884-55DE-4F63-93A2-8E96BA16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38A486-26B5-4D13-9453-F5F057EC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7192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No RAG answer generation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4051EE-4233-435B-B6A6-FDE0812C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481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Document-grounded answers are later milestones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A898D8-0A5C-4516-973A-7ED9C372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41F2A4-2182-41EA-A024-0D244085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947080-F16B-41E9-A4DB-D8945F73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2917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No UI or deployment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A761A8-4C24-452A-9C19-6ACC86AC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0540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API packaging comes after core behavior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08FA46-1B46-4D5F-ACBD-AF91D7A4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03</a:t>
            </a:r>
          </a:p>
        </p:txBody>
      </p:sp>
    </p:spTree>
    <p:extLst>
      <p:ext uri="{BB962C8B-B14F-4D97-AF65-F5344CB8AC3E}">
        <p14:creationId xmlns:p14="http://schemas.microsoft.com/office/powerpoint/2010/main" val="507462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D8C05C-BF42-4B40-9549-BC8EBA9C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AF2FD-DD33-4E66-8FFC-9F437388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Data and evaluation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F18E8-50F6-4EF0-983D-91C402F6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F144A-1D63-47D0-9D2E-20408AD5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Source files committed for evaluator runs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328E8-8248-4CDF-9AE9-8407E76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953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154B8-4B74-47C6-A67F-F98DDA6D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31EE4-207F-4E6B-8EAD-E1CA95FF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Intake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0B674-7FD1-4A09-B96A-AE9CEAD9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`data/shopsense/intake/records.jsonl`</a:t>
            </a:r>
          </a:p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Raw text plus ground-truth labels used only for scoring.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A95E9-B00E-49AF-B040-97E84A1C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953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F6E02-DDAE-46D2-9551-B5F77A51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B5590-41C3-48D6-8929-64C1025E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Mock policy tables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8FC51-713B-487A-AF23-B2D02CB8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`data/shopsense/mock_api/`</a:t>
            </a:r>
          </a:p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Policy limits, triggers, customers, orders and shipment tables.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1BE7E-703C-447C-9DA3-21946B0E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0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Evaluation principle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138E1-670F-45A3-8379-2BE3C65B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71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79BC3-A6C6-4238-B640-33EA40FA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288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7C491-583B-4943-A018-024FDBC8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7170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Send only raw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32935-CE7E-47A0-93E0-7458D6E1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76500"/>
            <a:ext cx="3638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The LLM receives customer message and channel, not ground truth.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B4149F-9299-46B7-A66D-1B9D8D2D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BA5A3-89A1-40D4-98E4-870AAC87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DBF21-2F56-45B2-86F4-D7490ABC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Validate locally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DE333-73BF-45A0-B148-5F4FCF3D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48050"/>
            <a:ext cx="3638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Pydantic and deterministic checks repair or reject unsafe fields.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CA4CB-F7CA-466C-9986-92C06ED9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1D2201-C753-4069-8F82-6CF369C9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92CE6-9A32-42CF-B521-02F1AE27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1480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Score after parsing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43F47-07DD-4A37-9264-EDBBA1CB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19600"/>
            <a:ext cx="3638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The evaluator compares parsed ticket fields with ground truth.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E89C8-E4F5-4884-B9CB-EEC9F2E0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04</a:t>
            </a:r>
          </a:p>
        </p:txBody>
      </p:sp>
    </p:spTree>
    <p:extLst>
      <p:ext uri="{BB962C8B-B14F-4D97-AF65-F5344CB8AC3E}">
        <p14:creationId xmlns:p14="http://schemas.microsoft.com/office/powerpoint/2010/main" val="1257249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B7D940-DB6D-475F-92B5-A6A3C27F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4796C-D04F-4D50-99B5-7F63D04F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M1 processing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45745-D82F-45F7-8CF9-36F48600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2D711-C675-439D-84A5-4FF2002A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2EE86-A8A1-4585-9E43-1FDC6B00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323AE-4DB4-4139-89B0-9895B949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954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Customer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D2357-4F7C-4D45-912D-AD5AC0DF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Raw support message and channel enter the parser.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295FF-0AEA-4EF9-BCAB-3FCAEADD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CBB43-ED74-4EA1-B7A9-D1931E1A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0C9F4-5A2D-495A-B97E-343E2AD6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336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Prompt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C34CE-D6DD-41FB-9A39-5E654E57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`prompts/intake.md` instructs the model to return schema-valid JSON.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6F902-C105-4549-B2D3-540027B6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03C6D-5F86-4749-A6D1-774DF4D6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C530-F33A-4C93-8956-29BC4AAE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718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Structured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947A2-915D-4F5F-A5EF-1EFB859C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LiteLLM returns JSON and Pydantic validates it as `SupportTicket`.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2A072-8B23-4273-8AA8-994D8F6C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39937-120E-42C1-BA55-463920AF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FE24E-9B30-49F9-A899-04F7D9A0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100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Policy cleanup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721B5-0090-4A98-AFB1-BADE5A03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Python removes threshold signals and recomputes them from policy values.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0FFE6-7376-4CD8-AAD0-3F704BA6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F73E2-2119-4B3C-BA84-A695030E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A46F3F-3DF3-4854-AE2F-0603E171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482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Evaluation 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D24C2-E653-4B61-986E-D81F25DB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530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The script records metrics, parsed outputs and all disagreements.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53DF41-E31B-49E0-A9E2-A970E65B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24F7A-CE09-44A8-9DEF-D0A3781A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09F2C-4FCC-4B10-99E8-5D3AF5C6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193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Design rule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EB54A-6EA3-4BF5-8462-CE6E63C8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3009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The model reads language. Python enforces exact policy decisions.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8F94FE-50A9-42BE-AE5A-2FDBD3D3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005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This avoids trusting the model for arithmetic thresholds such as refund cap and repeat-contact count.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6B267-6C51-4683-A74D-7C31EF83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05</a:t>
            </a:r>
          </a:p>
        </p:txBody>
      </p:sp>
    </p:spTree>
    <p:extLst>
      <p:ext uri="{BB962C8B-B14F-4D97-AF65-F5344CB8AC3E}">
        <p14:creationId xmlns:p14="http://schemas.microsoft.com/office/powerpoint/2010/main" val="1351735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11FF2-F705-4027-BB5D-DA6DC1DE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B405F-F04E-4FB9-BE35-805F6048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Prompt and schema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C0FFC-EFEC-425A-BD76-D026CCE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F0E18-0C5E-43C9-8A33-4AA908CC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4762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C99EA-CC56-4157-B3F9-8F638A5E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66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72957-40D2-419F-A807-39D37685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Prompt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E7DD1-FB3D-4059-83D4-28AA8D02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4343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The message appears inside `&lt;ticket&gt;` tags and remains untrusted data. Fake system instructions trigger `prompt_injection_suspected`.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5E7F1-E918-4768-9ADC-A55E7AA2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762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4EC43-DFDE-43F1-BFDB-C13DA5F1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66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513D0-3BDF-4B9A-95A1-B9160C16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Schema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764A3-78F0-4C7E-82CA-7DC54442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4343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`SupportTicket` constrains issue type, sentiment, urgency, amount, contact number, signals, missing fields and summary.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3263F-8DB1-409F-81E2-5D185BC7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Key output 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D4E7B-8F31-4023-A401-D04FE5A7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issue_type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B3B6D-E890-40E0-B795-71E70286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59669"/>
                </a:solidFill>
              </a:defRPr>
            </a:pPr>
            <a:r>
              <a:rPr sz="1275" b="1">
                <a:solidFill>
                  <a:srgbClr val="059669"/>
                </a:solidFill>
              </a:rPr>
              <a:t>order_ref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FB1B4-C812-4011-99D7-1B9B14FC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sentiment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BD614-94B6-4C70-A228-11BF2C71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1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59669"/>
                </a:solidFill>
              </a:defRPr>
            </a:pPr>
            <a:r>
              <a:rPr sz="1275" b="1">
                <a:solidFill>
                  <a:srgbClr val="059669"/>
                </a:solidFill>
              </a:rPr>
              <a:t>urgency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FA77F-2249-4E77-9796-B4D74F0C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claimed_amount_inr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1A580-AD6B-418D-9542-0B87623A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71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59669"/>
                </a:solidFill>
              </a:defRPr>
            </a:pPr>
            <a:r>
              <a:rPr sz="1275" b="1">
                <a:solidFill>
                  <a:srgbClr val="059669"/>
                </a:solidFill>
              </a:rPr>
              <a:t>contact_number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35EC1-C288-4BBA-AE2E-0A4AB3D7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escalation_signals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9CD42-73E2-4288-86B3-C809406E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62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59669"/>
                </a:solidFill>
              </a:defRPr>
            </a:pPr>
            <a:r>
              <a:rPr sz="1275" b="1">
                <a:solidFill>
                  <a:srgbClr val="059669"/>
                </a:solidFill>
              </a:rPr>
              <a:t>prompt_injection_suspected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F635B-BEC9-44AA-99D4-8532EA0B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06</a:t>
            </a:r>
          </a:p>
        </p:txBody>
      </p:sp>
    </p:spTree>
    <p:extLst>
      <p:ext uri="{BB962C8B-B14F-4D97-AF65-F5344CB8AC3E}">
        <p14:creationId xmlns:p14="http://schemas.microsoft.com/office/powerpoint/2010/main" val="719830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CB4D5-62B6-47B4-88A8-41472184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401CC-23F0-4BCE-85B3-362267FB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Deterministic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0EC2B-F727-4470-B3A3-51EF1CE6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28C0E-AC79-4052-9653-C6519C55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The parser distrusts model output where exact rules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3785A-75C1-4EC1-9943-BDD0F92E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6003E-8E1A-47AB-8F77-94305FE6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78B01-52C8-43D9-B505-1A657947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Order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508AC-D8BD-4019-9185-A5C3EFEE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If the model invents an order ID, Python drops it. If exactly one ID appears in text and the model misses it, Python recovers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6811A-9CAC-439E-9AC8-75B3C751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97FD6-919A-46E6-B1FD-E47253B1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4ABFF-7D07-4D31-AC4E-FE4B172F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Refund 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D5A1F-58B1-4820-822E-C6F94723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`refund_above_auto_cap` is removed from model output and added back only when `claimed_amount_inr` exceeds the policy cap.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D6D3F-ABC2-4646-9A57-DC03E2A6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5C7A6-B624-4A94-9588-A9ABBC60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BBA31-BA7D-47C3-A9E9-06087D97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Repeat contact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7C244-6CF3-4A34-9958-3F7F2E81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`repeat_contact` is removed from model output and added back only when `contact_number` reaches the configured threshold.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A24F7-1901-4B91-BEBD-74143D65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83EB4-9C95-4DF5-88B6-46B2A629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97217-CB44-4E8B-B7EA-EB4325C9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Missing fields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4E6E0-8E18-4546-88C2-06368D8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9580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If an actionable issue lacks an order reference, Python adds `order_ref` to `missing_fields`.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9ABA17-214B-4264-BADB-0CC35742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07</a:t>
            </a:r>
          </a:p>
        </p:txBody>
      </p:sp>
    </p:spTree>
    <p:extLst>
      <p:ext uri="{BB962C8B-B14F-4D97-AF65-F5344CB8AC3E}">
        <p14:creationId xmlns:p14="http://schemas.microsoft.com/office/powerpoint/2010/main" val="1060847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78262-2086-4CCE-BF8D-305D0B8E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AFE1C-E3EC-4DEB-81F3-A2480A8F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M1 evaluation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F10FA-A072-404B-96E5-532EA2C9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D577B-BCC9-4A07-860D-7B08B3DE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60/60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60F97-F13E-4055-8626-E3CBED2A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Parsed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51170-27B1-4153-9C35-93C83B72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No parse failures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4096C-D31E-457C-A539-A72AA04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95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B4530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B45309"/>
                </a:solidFill>
              </a:defRPr>
            </a:pPr>
            <a:r>
              <a:rPr sz="2550" b="1">
                <a:solidFill>
                  <a:srgbClr val="B45309"/>
                </a:solidFill>
              </a:rPr>
              <a:t>0.717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24C02-C104-4584-B405-6E5A47C4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5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8DFB0-C3F4-4BB9-A665-D1F81D38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Moderate; needs more tuning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6FCC3-6963-4EE1-8F15-B2934BD3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0.896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2E25F-B164-4938-A82A-4302C578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Escalation precision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7928A-D2B2-4B5C-B5D5-7086DE03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Fewer false escalations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ADD0A-9DFC-44F8-8F0F-E6AA3ECB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0.822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9E923-30C4-4316-932B-48A4EBE7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Escalation recall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E64CF-AB3B-47E9-9C9E-7DCC57E7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Improved detection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383A2-E356-40BA-8764-CCD02BE8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Before and after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78574-C574-4609-A95A-D55DABCA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Escalation precision improved from 0.781 to 0.896.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Escalation recall improved from 0.685 to 0.822.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Intent accuracy remains the main tuning area.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053AF-53AF-4473-B7AB-5F47274E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9DBA4-002E-47F0-9BD9-9A7D513D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53421-275F-4276-BCEC-9EB04C88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576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Acceptance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04034-42AC-425B-901A-B4DB2F43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M1 is functional, tested and evaluated. Further prompt tuning should target ambiguous intent labels before final demo.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678AF-1759-43A5-99EB-97F40B92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08</a:t>
            </a:r>
          </a:p>
        </p:txBody>
      </p:sp>
    </p:spTree>
    <p:extLst>
      <p:ext uri="{BB962C8B-B14F-4D97-AF65-F5344CB8AC3E}">
        <p14:creationId xmlns:p14="http://schemas.microsoft.com/office/powerpoint/2010/main" val="1198806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46BC0-FEA7-4998-99BE-35B26BF5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0A8E7-25CC-4437-B1A0-F47392BE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Current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C50CC-056A-486E-B801-ADF939EC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C2106-39CB-484F-9422-DADA5EED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67D1E-C83C-4D1F-B6C7-A5542554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F1FBB-A7E8-4A9D-BCFF-A5F2B47F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812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Intent ambiguity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77602-2CA0-474E-9448-58C446F5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4152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The hardest labels are refund request versus damaged delivery, warranty claim and delivery delay.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23794-027E-4143-8504-963F6BE4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10B17-BE25-44B7-8BDB-F143353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7114B-530A-48CD-939D-77B405B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Dataset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1D51C-ED2D-4D50-8EE8-C81B1DF5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4152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Some ground-truth labels infer refund amount from product price even when the wording is indirect.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E4D91-E3A1-47C0-9FA1-8E263D7A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4AB1E-091B-4ACC-B679-816C5C3C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1A6DE-F104-453D-B6F5-6CDCE1CA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Sentiment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F5D8B-4AA2-4FF5-9655-BEE07C48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05050"/>
            <a:ext cx="4152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Short phrases such as 'bhai kya chal raha hai' can be frustrated or angry depending on dataset labeling.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4D857-B877-444D-9C73-C95DEBFD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8718C-99BB-419E-8186-66E45EEF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D229D-D826-43A7-90A7-3ECE7286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2905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Next improvement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E703B-74FA-4F21-BC61-31E640F6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52900"/>
            <a:ext cx="4152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Use disagreement patterns to add targeted examples without overfitting prompt rules.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1D60B-4C3C-4DA5-8406-1B93A6FA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09</a:t>
            </a:r>
          </a:p>
        </p:txBody>
      </p:sp>
    </p:spTree>
    <p:extLst>
      <p:ext uri="{BB962C8B-B14F-4D97-AF65-F5344CB8AC3E}">
        <p14:creationId xmlns:p14="http://schemas.microsoft.com/office/powerpoint/2010/main" val="4243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40DC4-8CAD-4361-BB4E-21910BAF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221C7-47BC-48BC-B608-685F34D4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Repository and run commands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5033F-2463-4A77-AC78-5BB474D9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83376-E05E-4EE4-8910-E08A213C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95872-E0A5-4398-930C-C8821070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D4ED8"/>
                </a:solidFill>
              </a:defRPr>
            </a:pPr>
            <a:r>
              <a:rPr sz="1650" b="0">
                <a:solidFill>
                  <a:srgbClr val="1D4ED8"/>
                </a:solidFill>
              </a:rPr>
              <a:t>github.com/abhraj786/iith-ai-capstone-shopsense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3B731-6EEC-49E7-B3D8-A53DA4B0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14EFE-B94B-495A-AEB3-BE12C078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D7E3F-3D36-4D06-A841-2BE1FF51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1E9C1-A2C1-4958-A46E-01774272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python -m venv .venv</a:t>
            </a:r>
          </a:p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source .venv/bin/activate</a:t>
            </a:r>
          </a:p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python -m pip install -e ".[dev]"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58ABC-4DD0-4DA7-B795-DAD33D08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3810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0EAA4-7FF6-4C75-B004-121D5836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EDD53-0D99-42E1-A26E-039D37CA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9C431-2066-4254-B60F-C02D2C0B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95650"/>
            <a:ext cx="339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python -m pytest tests/unit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Current result: 25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362B2-D858-4625-AAA0-5F90AB64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933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2FD5D-76FF-4426-997C-1BEC6716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00EBF-CB36-4678-9135-2165B8D0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72025"/>
            <a:ext cx="891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894AF-EDF1-4D46-AA86-C7ECDAAA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482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C6670"/>
                </a:solidFill>
              </a:defRPr>
            </a:pPr>
            <a:r>
              <a:rPr sz="975" b="0">
                <a:solidFill>
                  <a:srgbClr val="5C6670"/>
                </a:solidFill>
              </a:rPr>
              <a:t>python scripts/run_intake_eval.py --n 60 --offset 60 --out evaluation/reports/m1_holdout_n60_v4.json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E0C5B-3F48-4018-AABE-7F78E78B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10</a:t>
            </a:r>
          </a:p>
        </p:txBody>
      </p:sp>
    </p:spTree>
    <p:extLst>
      <p:ext uri="{BB962C8B-B14F-4D97-AF65-F5344CB8AC3E}">
        <p14:creationId xmlns:p14="http://schemas.microsoft.com/office/powerpoint/2010/main" val="196868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0B0AD-DD7A-4C07-9EA4-5F3836F8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3686F-07CD-4538-89C7-DFF23C54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Next module: M2 tools and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F03A7-33E2-4D79-9B70-231228C1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AA2F6-AC57-4DC1-B223-02E4AA43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Module-by-module repository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FE3B0-FF8F-4F89-AF72-83F17396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6B90D-AF4A-406E-9F87-0DBD71A9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440AA-2A1F-4E4C-A341-116D4A19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14550"/>
            <a:ext cx="830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M1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6DBE3-BC17-48E9-9177-10138D40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19350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Complete. Keep improving intent accuracy with measured prompt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BD477-5EEE-4A33-BC17-022440D9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D934B-5600-413B-B512-22D847CF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23BC7-4183-4A86-AB6B-E2C11069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830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M2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D4A20-275B-43BA-B620-84D89FB2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Use deterministic ShopSense lookups, eligibility checks and guarded 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ABAB9-F8D7-4D8D-8186-FB55AFB4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4A2A1-8E70-47D0-9273-09CCE59D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2E2A4-9991-43FA-B5A4-0A3DF8F0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43350"/>
            <a:ext cx="830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M3 memory and retrieval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8E32D-5DE1-466F-B49A-866A1187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Add customer/session memory and document-grounded policy retrieval.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5E52E-71D9-4C37-9EEB-6859C991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6303F-DC4E-4D0C-B4F6-CC4C98CC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AF6FE-EC16-47C8-8B13-5E50FFCF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57750"/>
            <a:ext cx="830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M4 onward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81A80-1C5A-45AA-A98E-2EBE4950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62550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Add answer quality, approval flow, observability, API packaging and demo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B0FA2-DC53-4330-80F0-BDE4DE56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11</a:t>
            </a:r>
          </a:p>
        </p:txBody>
      </p:sp>
    </p:spTree>
    <p:extLst>
      <p:ext uri="{BB962C8B-B14F-4D97-AF65-F5344CB8AC3E}">
        <p14:creationId xmlns:p14="http://schemas.microsoft.com/office/powerpoint/2010/main" val="2138971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2026-10-11T08:00:21.8030000Z</dcterms:created>
  <dcterms:modified xsi:type="dcterms:W3CDTF">2026-10-11T08:00:21.8030000Z</dcterms:modified>
</coreProperties>
</file>